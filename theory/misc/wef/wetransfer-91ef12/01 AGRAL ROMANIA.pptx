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3078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828794" y="960882"/>
            <a:ext cx="2045969" cy="204215"/>
          </a:xfrm>
          <a:custGeom>
            <a:avLst/>
            <a:gdLst/>
            <a:ahLst/>
            <a:cxnLst/>
            <a:rect l="l" t="t" r="r" b="b"/>
            <a:pathLst>
              <a:path w="2045969" h="204215">
                <a:moveTo>
                  <a:pt x="0" y="204215"/>
                </a:moveTo>
                <a:lnTo>
                  <a:pt x="2045969" y="204215"/>
                </a:lnTo>
                <a:lnTo>
                  <a:pt x="2045969" y="0"/>
                </a:lnTo>
                <a:lnTo>
                  <a:pt x="0" y="0"/>
                </a:lnTo>
                <a:lnTo>
                  <a:pt x="0" y="204215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96112" y="960882"/>
            <a:ext cx="2045208" cy="204215"/>
          </a:xfrm>
          <a:custGeom>
            <a:avLst/>
            <a:gdLst/>
            <a:ahLst/>
            <a:cxnLst/>
            <a:rect l="l" t="t" r="r" b="b"/>
            <a:pathLst>
              <a:path w="2045208" h="204215">
                <a:moveTo>
                  <a:pt x="0" y="204215"/>
                </a:moveTo>
                <a:lnTo>
                  <a:pt x="2045208" y="204215"/>
                </a:lnTo>
                <a:lnTo>
                  <a:pt x="2045208" y="0"/>
                </a:lnTo>
                <a:lnTo>
                  <a:pt x="0" y="0"/>
                </a:lnTo>
                <a:lnTo>
                  <a:pt x="0" y="204215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41320" y="960881"/>
            <a:ext cx="1887474" cy="204216"/>
          </a:xfrm>
          <a:custGeom>
            <a:avLst/>
            <a:gdLst/>
            <a:ahLst/>
            <a:cxnLst/>
            <a:rect l="l" t="t" r="r" b="b"/>
            <a:pathLst>
              <a:path w="1887474" h="204216">
                <a:moveTo>
                  <a:pt x="0" y="0"/>
                </a:moveTo>
                <a:lnTo>
                  <a:pt x="0" y="204216"/>
                </a:lnTo>
                <a:lnTo>
                  <a:pt x="1887474" y="204216"/>
                </a:lnTo>
                <a:lnTo>
                  <a:pt x="1887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89782" y="1165098"/>
            <a:ext cx="3284981" cy="204215"/>
          </a:xfrm>
          <a:custGeom>
            <a:avLst/>
            <a:gdLst/>
            <a:ahLst/>
            <a:cxnLst/>
            <a:rect l="l" t="t" r="r" b="b"/>
            <a:pathLst>
              <a:path w="3284981" h="204215">
                <a:moveTo>
                  <a:pt x="0" y="204215"/>
                </a:moveTo>
                <a:lnTo>
                  <a:pt x="3284981" y="204215"/>
                </a:lnTo>
                <a:lnTo>
                  <a:pt x="3284981" y="0"/>
                </a:lnTo>
                <a:lnTo>
                  <a:pt x="0" y="0"/>
                </a:lnTo>
                <a:lnTo>
                  <a:pt x="0" y="204215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96112" y="1165098"/>
            <a:ext cx="2575560" cy="204215"/>
          </a:xfrm>
          <a:custGeom>
            <a:avLst/>
            <a:gdLst/>
            <a:ahLst/>
            <a:cxnLst/>
            <a:rect l="l" t="t" r="r" b="b"/>
            <a:pathLst>
              <a:path w="2575560" h="204215">
                <a:moveTo>
                  <a:pt x="0" y="204215"/>
                </a:moveTo>
                <a:lnTo>
                  <a:pt x="2575560" y="204215"/>
                </a:lnTo>
                <a:lnTo>
                  <a:pt x="2575560" y="0"/>
                </a:lnTo>
                <a:lnTo>
                  <a:pt x="0" y="0"/>
                </a:lnTo>
                <a:lnTo>
                  <a:pt x="0" y="204215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71672" y="1165098"/>
            <a:ext cx="118110" cy="204216"/>
          </a:xfrm>
          <a:custGeom>
            <a:avLst/>
            <a:gdLst/>
            <a:ahLst/>
            <a:cxnLst/>
            <a:rect l="l" t="t" r="r" b="b"/>
            <a:pathLst>
              <a:path w="118110" h="204216">
                <a:moveTo>
                  <a:pt x="0" y="0"/>
                </a:moveTo>
                <a:lnTo>
                  <a:pt x="0" y="204216"/>
                </a:lnTo>
                <a:lnTo>
                  <a:pt x="118110" y="204216"/>
                </a:lnTo>
                <a:lnTo>
                  <a:pt x="11811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83736" y="2906268"/>
            <a:ext cx="1030986" cy="1066799"/>
          </a:xfrm>
          <a:custGeom>
            <a:avLst/>
            <a:gdLst/>
            <a:ahLst/>
            <a:cxnLst/>
            <a:rect l="l" t="t" r="r" b="b"/>
            <a:pathLst>
              <a:path w="1030986" h="1066799">
                <a:moveTo>
                  <a:pt x="1030986" y="393953"/>
                </a:moveTo>
                <a:lnTo>
                  <a:pt x="998123" y="345890"/>
                </a:lnTo>
                <a:lnTo>
                  <a:pt x="963131" y="299581"/>
                </a:lnTo>
                <a:lnTo>
                  <a:pt x="926072" y="255093"/>
                </a:lnTo>
                <a:lnTo>
                  <a:pt x="887010" y="212488"/>
                </a:lnTo>
                <a:lnTo>
                  <a:pt x="846010" y="171831"/>
                </a:lnTo>
                <a:lnTo>
                  <a:pt x="803135" y="133185"/>
                </a:lnTo>
                <a:lnTo>
                  <a:pt x="758450" y="96615"/>
                </a:lnTo>
                <a:lnTo>
                  <a:pt x="712018" y="62185"/>
                </a:lnTo>
                <a:lnTo>
                  <a:pt x="663904" y="29958"/>
                </a:lnTo>
                <a:lnTo>
                  <a:pt x="614172" y="0"/>
                </a:lnTo>
                <a:lnTo>
                  <a:pt x="0" y="1066799"/>
                </a:lnTo>
                <a:lnTo>
                  <a:pt x="1030986" y="393953"/>
                </a:lnTo>
                <a:close/>
              </a:path>
            </a:pathLst>
          </a:custGeom>
          <a:solidFill>
            <a:srgbClr val="FE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76906" y="2823209"/>
            <a:ext cx="2462784" cy="2462784"/>
          </a:xfrm>
          <a:custGeom>
            <a:avLst/>
            <a:gdLst/>
            <a:ahLst/>
            <a:cxnLst/>
            <a:rect l="l" t="t" r="r" b="b"/>
            <a:pathLst>
              <a:path w="2462784" h="2462784">
                <a:moveTo>
                  <a:pt x="2262378" y="558546"/>
                </a:moveTo>
                <a:lnTo>
                  <a:pt x="1231392" y="1231392"/>
                </a:lnTo>
                <a:lnTo>
                  <a:pt x="1845564" y="164592"/>
                </a:lnTo>
                <a:lnTo>
                  <a:pt x="1817374" y="148750"/>
                </a:lnTo>
                <a:lnTo>
                  <a:pt x="1759928" y="119413"/>
                </a:lnTo>
                <a:lnTo>
                  <a:pt x="1701165" y="93225"/>
                </a:lnTo>
                <a:lnTo>
                  <a:pt x="1641213" y="70216"/>
                </a:lnTo>
                <a:lnTo>
                  <a:pt x="1580200" y="50411"/>
                </a:lnTo>
                <a:lnTo>
                  <a:pt x="1518255" y="33839"/>
                </a:lnTo>
                <a:lnTo>
                  <a:pt x="1455505" y="20526"/>
                </a:lnTo>
                <a:lnTo>
                  <a:pt x="1392078" y="10501"/>
                </a:lnTo>
                <a:lnTo>
                  <a:pt x="1328103" y="3790"/>
                </a:lnTo>
                <a:lnTo>
                  <a:pt x="1263707" y="422"/>
                </a:lnTo>
                <a:lnTo>
                  <a:pt x="1231392" y="0"/>
                </a:lnTo>
                <a:lnTo>
                  <a:pt x="1130346" y="4079"/>
                </a:lnTo>
                <a:lnTo>
                  <a:pt x="1031559" y="16106"/>
                </a:lnTo>
                <a:lnTo>
                  <a:pt x="935348" y="35765"/>
                </a:lnTo>
                <a:lnTo>
                  <a:pt x="842028" y="62740"/>
                </a:lnTo>
                <a:lnTo>
                  <a:pt x="751915" y="96714"/>
                </a:lnTo>
                <a:lnTo>
                  <a:pt x="665325" y="137372"/>
                </a:lnTo>
                <a:lnTo>
                  <a:pt x="582575" y="184398"/>
                </a:lnTo>
                <a:lnTo>
                  <a:pt x="503980" y="237475"/>
                </a:lnTo>
                <a:lnTo>
                  <a:pt x="429857" y="296288"/>
                </a:lnTo>
                <a:lnTo>
                  <a:pt x="360521" y="360521"/>
                </a:lnTo>
                <a:lnTo>
                  <a:pt x="296288" y="429857"/>
                </a:lnTo>
                <a:lnTo>
                  <a:pt x="237475" y="503980"/>
                </a:lnTo>
                <a:lnTo>
                  <a:pt x="184398" y="582575"/>
                </a:lnTo>
                <a:lnTo>
                  <a:pt x="137372" y="665325"/>
                </a:lnTo>
                <a:lnTo>
                  <a:pt x="96714" y="751915"/>
                </a:lnTo>
                <a:lnTo>
                  <a:pt x="62740" y="842028"/>
                </a:lnTo>
                <a:lnTo>
                  <a:pt x="35765" y="935348"/>
                </a:lnTo>
                <a:lnTo>
                  <a:pt x="16106" y="1031559"/>
                </a:lnTo>
                <a:lnTo>
                  <a:pt x="4079" y="1130346"/>
                </a:lnTo>
                <a:lnTo>
                  <a:pt x="0" y="1231392"/>
                </a:lnTo>
                <a:lnTo>
                  <a:pt x="4079" y="1332334"/>
                </a:lnTo>
                <a:lnTo>
                  <a:pt x="16106" y="1431039"/>
                </a:lnTo>
                <a:lnTo>
                  <a:pt x="35765" y="1527187"/>
                </a:lnTo>
                <a:lnTo>
                  <a:pt x="62740" y="1620463"/>
                </a:lnTo>
                <a:lnTo>
                  <a:pt x="96714" y="1710547"/>
                </a:lnTo>
                <a:lnTo>
                  <a:pt x="137372" y="1797122"/>
                </a:lnTo>
                <a:lnTo>
                  <a:pt x="184398" y="1879870"/>
                </a:lnTo>
                <a:lnTo>
                  <a:pt x="237475" y="1958474"/>
                </a:lnTo>
                <a:lnTo>
                  <a:pt x="296288" y="2032615"/>
                </a:lnTo>
                <a:lnTo>
                  <a:pt x="360521" y="2101977"/>
                </a:lnTo>
                <a:lnTo>
                  <a:pt x="429857" y="2166240"/>
                </a:lnTo>
                <a:lnTo>
                  <a:pt x="503980" y="2225088"/>
                </a:lnTo>
                <a:lnTo>
                  <a:pt x="582575" y="2278203"/>
                </a:lnTo>
                <a:lnTo>
                  <a:pt x="665325" y="2325267"/>
                </a:lnTo>
                <a:lnTo>
                  <a:pt x="751915" y="2365962"/>
                </a:lnTo>
                <a:lnTo>
                  <a:pt x="842028" y="2399970"/>
                </a:lnTo>
                <a:lnTo>
                  <a:pt x="935348" y="2426974"/>
                </a:lnTo>
                <a:lnTo>
                  <a:pt x="1031559" y="2446657"/>
                </a:lnTo>
                <a:lnTo>
                  <a:pt x="1130346" y="2458699"/>
                </a:lnTo>
                <a:lnTo>
                  <a:pt x="1231392" y="2462784"/>
                </a:lnTo>
                <a:lnTo>
                  <a:pt x="1332334" y="2458699"/>
                </a:lnTo>
                <a:lnTo>
                  <a:pt x="1431039" y="2446657"/>
                </a:lnTo>
                <a:lnTo>
                  <a:pt x="1527187" y="2426974"/>
                </a:lnTo>
                <a:lnTo>
                  <a:pt x="1620463" y="2399970"/>
                </a:lnTo>
                <a:lnTo>
                  <a:pt x="1710547" y="2365962"/>
                </a:lnTo>
                <a:lnTo>
                  <a:pt x="1797122" y="2325267"/>
                </a:lnTo>
                <a:lnTo>
                  <a:pt x="1879870" y="2278203"/>
                </a:lnTo>
                <a:lnTo>
                  <a:pt x="1958474" y="2225088"/>
                </a:lnTo>
                <a:lnTo>
                  <a:pt x="2032615" y="2166240"/>
                </a:lnTo>
                <a:lnTo>
                  <a:pt x="2101976" y="2101977"/>
                </a:lnTo>
                <a:lnTo>
                  <a:pt x="2166240" y="2032615"/>
                </a:lnTo>
                <a:lnTo>
                  <a:pt x="2225088" y="1958474"/>
                </a:lnTo>
                <a:lnTo>
                  <a:pt x="2278203" y="1879870"/>
                </a:lnTo>
                <a:lnTo>
                  <a:pt x="2325267" y="1797122"/>
                </a:lnTo>
                <a:lnTo>
                  <a:pt x="2365962" y="1710547"/>
                </a:lnTo>
                <a:lnTo>
                  <a:pt x="2399970" y="1620463"/>
                </a:lnTo>
                <a:lnTo>
                  <a:pt x="2426974" y="1527187"/>
                </a:lnTo>
                <a:lnTo>
                  <a:pt x="2446657" y="1431039"/>
                </a:lnTo>
                <a:lnTo>
                  <a:pt x="2458699" y="1332334"/>
                </a:lnTo>
                <a:lnTo>
                  <a:pt x="2462784" y="1231392"/>
                </a:lnTo>
                <a:lnTo>
                  <a:pt x="2462259" y="1195545"/>
                </a:lnTo>
                <a:lnTo>
                  <a:pt x="2458085" y="1124179"/>
                </a:lnTo>
                <a:lnTo>
                  <a:pt x="2449794" y="1053393"/>
                </a:lnTo>
                <a:lnTo>
                  <a:pt x="2437445" y="983362"/>
                </a:lnTo>
                <a:lnTo>
                  <a:pt x="2421098" y="914259"/>
                </a:lnTo>
                <a:lnTo>
                  <a:pt x="2400812" y="846257"/>
                </a:lnTo>
                <a:lnTo>
                  <a:pt x="2376647" y="779532"/>
                </a:lnTo>
                <a:lnTo>
                  <a:pt x="2348662" y="714255"/>
                </a:lnTo>
                <a:lnTo>
                  <a:pt x="2316917" y="650602"/>
                </a:lnTo>
                <a:lnTo>
                  <a:pt x="2281470" y="588746"/>
                </a:lnTo>
                <a:lnTo>
                  <a:pt x="2262378" y="558546"/>
                </a:lnTo>
                <a:close/>
              </a:path>
            </a:pathLst>
          </a:custGeom>
          <a:solidFill>
            <a:srgbClr val="00FE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65014" y="2960370"/>
            <a:ext cx="79248" cy="80009"/>
          </a:xfrm>
          <a:custGeom>
            <a:avLst/>
            <a:gdLst/>
            <a:ahLst/>
            <a:cxnLst/>
            <a:rect l="l" t="t" r="r" b="b"/>
            <a:pathLst>
              <a:path w="79248" h="80009">
                <a:moveTo>
                  <a:pt x="0" y="80009"/>
                </a:moveTo>
                <a:lnTo>
                  <a:pt x="79248" y="80009"/>
                </a:lnTo>
                <a:lnTo>
                  <a:pt x="79248" y="0"/>
                </a:lnTo>
                <a:lnTo>
                  <a:pt x="0" y="0"/>
                </a:lnTo>
                <a:lnTo>
                  <a:pt x="0" y="80009"/>
                </a:lnTo>
                <a:close/>
              </a:path>
            </a:pathLst>
          </a:custGeom>
          <a:solidFill>
            <a:srgbClr val="FE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65014" y="2960370"/>
            <a:ext cx="79248" cy="80009"/>
          </a:xfrm>
          <a:custGeom>
            <a:avLst/>
            <a:gdLst/>
            <a:ahLst/>
            <a:cxnLst/>
            <a:rect l="l" t="t" r="r" b="b"/>
            <a:pathLst>
              <a:path w="79248" h="80009">
                <a:moveTo>
                  <a:pt x="0" y="80009"/>
                </a:moveTo>
                <a:lnTo>
                  <a:pt x="79248" y="80009"/>
                </a:lnTo>
                <a:lnTo>
                  <a:pt x="79248" y="0"/>
                </a:lnTo>
                <a:lnTo>
                  <a:pt x="0" y="0"/>
                </a:lnTo>
                <a:lnTo>
                  <a:pt x="0" y="80009"/>
                </a:lnTo>
                <a:close/>
              </a:path>
            </a:pathLst>
          </a:custGeom>
          <a:ln w="1233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17142" y="4203192"/>
            <a:ext cx="79247" cy="79248"/>
          </a:xfrm>
          <a:custGeom>
            <a:avLst/>
            <a:gdLst/>
            <a:ahLst/>
            <a:cxnLst/>
            <a:rect l="l" t="t" r="r" b="b"/>
            <a:pathLst>
              <a:path w="79247" h="79248">
                <a:moveTo>
                  <a:pt x="0" y="79248"/>
                </a:moveTo>
                <a:lnTo>
                  <a:pt x="79247" y="79248"/>
                </a:lnTo>
                <a:lnTo>
                  <a:pt x="79247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solidFill>
            <a:srgbClr val="00FE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17142" y="4203192"/>
            <a:ext cx="79247" cy="79248"/>
          </a:xfrm>
          <a:custGeom>
            <a:avLst/>
            <a:gdLst/>
            <a:ahLst/>
            <a:cxnLst/>
            <a:rect l="l" t="t" r="r" b="b"/>
            <a:pathLst>
              <a:path w="79247" h="79248">
                <a:moveTo>
                  <a:pt x="0" y="79248"/>
                </a:moveTo>
                <a:lnTo>
                  <a:pt x="79247" y="79248"/>
                </a:lnTo>
                <a:lnTo>
                  <a:pt x="79247" y="0"/>
                </a:lnTo>
                <a:lnTo>
                  <a:pt x="0" y="0"/>
                </a:lnTo>
                <a:lnTo>
                  <a:pt x="0" y="79248"/>
                </a:lnTo>
                <a:close/>
              </a:path>
            </a:pathLst>
          </a:custGeom>
          <a:ln w="1233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18659" y="5747766"/>
            <a:ext cx="2356104" cy="175259"/>
          </a:xfrm>
          <a:custGeom>
            <a:avLst/>
            <a:gdLst/>
            <a:ahLst/>
            <a:cxnLst/>
            <a:rect l="l" t="t" r="r" b="b"/>
            <a:pathLst>
              <a:path w="2356104" h="175259">
                <a:moveTo>
                  <a:pt x="0" y="175259"/>
                </a:moveTo>
                <a:lnTo>
                  <a:pt x="2356104" y="175259"/>
                </a:lnTo>
                <a:lnTo>
                  <a:pt x="2356104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96112" y="5747766"/>
            <a:ext cx="2355341" cy="175259"/>
          </a:xfrm>
          <a:custGeom>
            <a:avLst/>
            <a:gdLst/>
            <a:ahLst/>
            <a:cxnLst/>
            <a:rect l="l" t="t" r="r" b="b"/>
            <a:pathLst>
              <a:path w="2355341" h="175259">
                <a:moveTo>
                  <a:pt x="0" y="175259"/>
                </a:moveTo>
                <a:lnTo>
                  <a:pt x="2355341" y="175259"/>
                </a:lnTo>
                <a:lnTo>
                  <a:pt x="2355341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51454" y="5747766"/>
            <a:ext cx="1267205" cy="175260"/>
          </a:xfrm>
          <a:custGeom>
            <a:avLst/>
            <a:gdLst/>
            <a:ahLst/>
            <a:cxnLst/>
            <a:rect l="l" t="t" r="r" b="b"/>
            <a:pathLst>
              <a:path w="1267205" h="175260">
                <a:moveTo>
                  <a:pt x="0" y="0"/>
                </a:moveTo>
                <a:lnTo>
                  <a:pt x="0" y="175260"/>
                </a:lnTo>
                <a:lnTo>
                  <a:pt x="1267205" y="175260"/>
                </a:lnTo>
                <a:lnTo>
                  <a:pt x="1267205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52060" y="6755130"/>
            <a:ext cx="1822703" cy="175260"/>
          </a:xfrm>
          <a:custGeom>
            <a:avLst/>
            <a:gdLst/>
            <a:ahLst/>
            <a:cxnLst/>
            <a:rect l="l" t="t" r="r" b="b"/>
            <a:pathLst>
              <a:path w="1822703" h="175260">
                <a:moveTo>
                  <a:pt x="0" y="175260"/>
                </a:moveTo>
                <a:lnTo>
                  <a:pt x="1822703" y="175260"/>
                </a:lnTo>
                <a:lnTo>
                  <a:pt x="1822703" y="0"/>
                </a:lnTo>
                <a:lnTo>
                  <a:pt x="0" y="0"/>
                </a:lnTo>
                <a:lnTo>
                  <a:pt x="0" y="17526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96112" y="6755130"/>
            <a:ext cx="1822704" cy="175260"/>
          </a:xfrm>
          <a:custGeom>
            <a:avLst/>
            <a:gdLst/>
            <a:ahLst/>
            <a:cxnLst/>
            <a:rect l="l" t="t" r="r" b="b"/>
            <a:pathLst>
              <a:path w="1822704" h="175260">
                <a:moveTo>
                  <a:pt x="0" y="175260"/>
                </a:moveTo>
                <a:lnTo>
                  <a:pt x="1822704" y="175260"/>
                </a:lnTo>
                <a:lnTo>
                  <a:pt x="1822704" y="0"/>
                </a:lnTo>
                <a:lnTo>
                  <a:pt x="0" y="0"/>
                </a:lnTo>
                <a:lnTo>
                  <a:pt x="0" y="17526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18816" y="6755130"/>
            <a:ext cx="2333244" cy="175260"/>
          </a:xfrm>
          <a:custGeom>
            <a:avLst/>
            <a:gdLst/>
            <a:ahLst/>
            <a:cxnLst/>
            <a:rect l="l" t="t" r="r" b="b"/>
            <a:pathLst>
              <a:path w="2333244" h="175260">
                <a:moveTo>
                  <a:pt x="0" y="0"/>
                </a:moveTo>
                <a:lnTo>
                  <a:pt x="0" y="175260"/>
                </a:lnTo>
                <a:lnTo>
                  <a:pt x="2333244" y="175260"/>
                </a:lnTo>
                <a:lnTo>
                  <a:pt x="233324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5162" y="9454134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889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96112" y="6755130"/>
            <a:ext cx="5978651" cy="1752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896112" y="5747766"/>
            <a:ext cx="5978651" cy="1752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517142" y="4203192"/>
            <a:ext cx="79247" cy="792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24"/>
              </a:spcBef>
            </a:pPr>
            <a:endParaRPr sz="600"/>
          </a:p>
        </p:txBody>
      </p:sp>
      <p:sp>
        <p:nvSpPr>
          <p:cNvPr id="5" name="object 5"/>
          <p:cNvSpPr txBox="1"/>
          <p:nvPr/>
        </p:nvSpPr>
        <p:spPr>
          <a:xfrm>
            <a:off x="5065014" y="2960370"/>
            <a:ext cx="79248" cy="800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29"/>
              </a:spcBef>
            </a:pPr>
            <a:endParaRPr sz="600"/>
          </a:p>
        </p:txBody>
      </p:sp>
      <p:sp>
        <p:nvSpPr>
          <p:cNvPr id="4" name="object 4"/>
          <p:cNvSpPr txBox="1"/>
          <p:nvPr/>
        </p:nvSpPr>
        <p:spPr>
          <a:xfrm>
            <a:off x="896112" y="960882"/>
            <a:ext cx="5978651" cy="4084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25"/>
              </a:spcBef>
            </a:pPr>
            <a:endParaRPr sz="1400"/>
          </a:p>
          <a:p>
            <a:pPr marL="2547188" marR="2547188" algn="ctr">
              <a:lnSpc>
                <a:spcPts val="1789"/>
              </a:lnSpc>
              <a:spcBef>
                <a:spcPts val="89"/>
              </a:spcBef>
            </a:pPr>
            <a:r>
              <a:rPr sz="2100" b="1" i="1" spc="0" baseline="-2070" dirty="0" smtClean="0">
                <a:latin typeface="Times New Roman"/>
                <a:cs typeface="Times New Roman"/>
              </a:rPr>
              <a:t>A G</a:t>
            </a:r>
            <a:r>
              <a:rPr sz="2100" b="1" i="1" spc="-10" baseline="-2070" dirty="0" smtClean="0">
                <a:latin typeface="Times New Roman"/>
                <a:cs typeface="Times New Roman"/>
              </a:rPr>
              <a:t> </a:t>
            </a:r>
            <a:r>
              <a:rPr sz="2100" b="1" i="1" spc="0" baseline="-2070" dirty="0" smtClean="0">
                <a:latin typeface="Times New Roman"/>
                <a:cs typeface="Times New Roman"/>
              </a:rPr>
              <a:t>R A </a:t>
            </a:r>
            <a:r>
              <a:rPr sz="2100" b="1" i="1" spc="4" baseline="-2070" dirty="0" smtClean="0">
                <a:latin typeface="Times New Roman"/>
                <a:cs typeface="Times New Roman"/>
              </a:rPr>
              <a:t>L</a:t>
            </a:r>
            <a:r>
              <a:rPr sz="1350" b="1" i="1" spc="0" baseline="3865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R="389180" algn="r">
              <a:lnSpc>
                <a:spcPct val="95825"/>
              </a:lnSpc>
              <a:spcBef>
                <a:spcPts val="2765"/>
              </a:spcBef>
            </a:pPr>
            <a:r>
              <a:rPr sz="1200" b="1" i="1" spc="0" dirty="0" smtClean="0">
                <a:latin typeface="Times New Roman"/>
                <a:cs typeface="Times New Roman"/>
              </a:rPr>
              <a:t>Planul na</a:t>
            </a:r>
            <a:r>
              <a:rPr sz="1200" b="1" i="1" spc="4" dirty="0" smtClean="0">
                <a:latin typeface="Times New Roman"/>
                <a:cs typeface="Times New Roman"/>
              </a:rPr>
              <a:t>ţ</a:t>
            </a:r>
            <a:r>
              <a:rPr sz="1200" b="1" i="1" spc="0" dirty="0" smtClean="0">
                <a:latin typeface="Times New Roman"/>
                <a:cs typeface="Times New Roman"/>
              </a:rPr>
              <a:t>ional de CDI</a:t>
            </a:r>
            <a:endParaRPr sz="1200">
              <a:latin typeface="Times New Roman"/>
              <a:cs typeface="Times New Roman"/>
            </a:endParaRPr>
          </a:p>
          <a:p>
            <a:pPr marL="2374665" marR="2389792" algn="ctr">
              <a:lnSpc>
                <a:spcPct val="95825"/>
              </a:lnSpc>
              <a:spcBef>
                <a:spcPts val="5"/>
              </a:spcBef>
            </a:pPr>
            <a:r>
              <a:rPr sz="1400" b="1" i="1" spc="0" dirty="0" smtClean="0">
                <a:latin typeface="Times New Roman"/>
                <a:cs typeface="Times New Roman"/>
              </a:rPr>
              <a:t>Agricultură</a:t>
            </a:r>
            <a:r>
              <a:rPr sz="1400" b="1" i="1" spc="-67" dirty="0" smtClean="0">
                <a:latin typeface="Times New Roman"/>
                <a:cs typeface="Times New Roman"/>
              </a:rPr>
              <a:t> </a:t>
            </a:r>
            <a:r>
              <a:rPr sz="1400" b="1" i="1" spc="0" dirty="0" smtClean="0">
                <a:latin typeface="Times New Roman"/>
                <a:cs typeface="Times New Roman"/>
              </a:rPr>
              <a:t>şi</a:t>
            </a:r>
            <a:r>
              <a:rPr sz="1400" b="1" i="1" spc="-5" dirty="0" smtClean="0">
                <a:latin typeface="Times New Roman"/>
                <a:cs typeface="Times New Roman"/>
              </a:rPr>
              <a:t> </a:t>
            </a:r>
            <a:r>
              <a:rPr sz="1400" b="1" i="1" spc="0" dirty="0" smtClean="0">
                <a:latin typeface="Times New Roman"/>
                <a:cs typeface="Times New Roman"/>
              </a:rPr>
              <a:t>alimenta</a:t>
            </a:r>
            <a:r>
              <a:rPr sz="1400" b="1" i="1" spc="4" dirty="0" smtClean="0">
                <a:latin typeface="Times New Roman"/>
                <a:cs typeface="Times New Roman"/>
              </a:rPr>
              <a:t>ţ</a:t>
            </a:r>
            <a:r>
              <a:rPr sz="1400" b="1" i="1" spc="0" dirty="0" smtClean="0">
                <a:latin typeface="Times New Roman"/>
                <a:cs typeface="Times New Roman"/>
              </a:rPr>
              <a:t>ie</a:t>
            </a:r>
            <a:endParaRPr sz="1400">
              <a:latin typeface="Times New Roman"/>
              <a:cs typeface="Times New Roman"/>
            </a:endParaRPr>
          </a:p>
          <a:p>
            <a:pPr marL="374519" marR="369990" indent="449587" algn="just">
              <a:lnSpc>
                <a:spcPts val="1030"/>
              </a:lnSpc>
              <a:spcBef>
                <a:spcPts val="3262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Programul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Agricult</a:t>
            </a:r>
            <a:r>
              <a:rPr sz="900" b="1" spc="-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ră 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a</a:t>
            </a:r>
            <a:r>
              <a:rPr sz="900" b="1" spc="-4" dirty="0" smtClean="0">
                <a:latin typeface="Times New Roman"/>
                <a:cs typeface="Times New Roman"/>
              </a:rPr>
              <a:t>l</a:t>
            </a:r>
            <a:r>
              <a:rPr sz="900" b="1" spc="0" dirty="0" smtClean="0">
                <a:latin typeface="Times New Roman"/>
                <a:cs typeface="Times New Roman"/>
              </a:rPr>
              <a:t>imentaţie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-</a:t>
            </a:r>
            <a:r>
              <a:rPr sz="900" b="1" spc="10" dirty="0" smtClean="0">
                <a:latin typeface="Times New Roman"/>
                <a:cs typeface="Times New Roman"/>
              </a:rPr>
              <a:t> </a:t>
            </a:r>
            <a:r>
              <a:rPr sz="900" b="1" spc="-9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GRAL</a:t>
            </a:r>
            <a:r>
              <a:rPr sz="900" b="1" spc="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este</a:t>
            </a:r>
            <a:r>
              <a:rPr sz="900" spc="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am</a:t>
            </a:r>
            <a:r>
              <a:rPr sz="900" spc="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1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re-dezv</a:t>
            </a:r>
            <a:r>
              <a:rPr sz="900" spc="-4" dirty="0" smtClean="0">
                <a:latin typeface="Times New Roman"/>
                <a:cs typeface="Times New Roman"/>
              </a:rPr>
              <a:t>ol</a:t>
            </a:r>
            <a:r>
              <a:rPr sz="900" spc="0" dirty="0" smtClean="0">
                <a:latin typeface="Times New Roman"/>
                <a:cs typeface="Times New Roman"/>
              </a:rPr>
              <a:t>tare</a:t>
            </a:r>
            <a:r>
              <a:rPr sz="900" spc="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inova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parte componenta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cercetare-dezvolta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inova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da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200</a:t>
            </a:r>
            <a:r>
              <a:rPr sz="900" spc="-4" dirty="0" smtClean="0">
                <a:latin typeface="Times New Roman"/>
                <a:cs typeface="Times New Roman"/>
              </a:rPr>
              <a:t>1</a:t>
            </a:r>
            <a:r>
              <a:rPr sz="900" spc="0" dirty="0" smtClean="0">
                <a:latin typeface="Times New Roman"/>
                <a:cs typeface="Times New Roman"/>
              </a:rPr>
              <a:t>-2005,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apro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 prin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HG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55</a:t>
            </a:r>
            <a:r>
              <a:rPr sz="900" spc="-4" dirty="0" smtClean="0">
                <a:latin typeface="Times New Roman"/>
                <a:cs typeface="Times New Roman"/>
              </a:rPr>
              <a:t>6</a:t>
            </a:r>
            <a:r>
              <a:rPr sz="900" spc="0" dirty="0" smtClean="0">
                <a:latin typeface="Times New Roman"/>
                <a:cs typeface="Times New Roman"/>
              </a:rPr>
              <a:t>/2001.</a:t>
            </a:r>
            <a:endParaRPr sz="900">
              <a:latin typeface="Times New Roman"/>
              <a:cs typeface="Times New Roman"/>
            </a:endParaRPr>
          </a:p>
          <a:p>
            <a:pPr marL="824106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Programul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este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condus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Universitatea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Ştii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 Agri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ole şi Medici</a:t>
            </a:r>
            <a:r>
              <a:rPr sz="900" spc="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ă Veterina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 - USAMV Bucur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şti.</a:t>
            </a:r>
            <a:endParaRPr sz="900">
              <a:latin typeface="Times New Roman"/>
              <a:cs typeface="Times New Roman"/>
            </a:endParaRPr>
          </a:p>
          <a:p>
            <a:pPr marL="331342" marR="346202" algn="ctr">
              <a:lnSpc>
                <a:spcPct val="100000"/>
              </a:lnSpc>
              <a:spcBef>
                <a:spcPts val="1573"/>
              </a:spcBef>
              <a:tabLst>
                <a:tab pos="6299200" algn="l"/>
              </a:tabLst>
            </a:pPr>
            <a:r>
              <a:rPr sz="1200" b="1" i="1" dirty="0" smtClean="0">
                <a:latin typeface="Times New Roman"/>
                <a:cs typeface="Times New Roman"/>
              </a:rPr>
              <a:t>                                                          </a:t>
            </a:r>
            <a:r>
              <a:rPr sz="1200" b="1" i="1" spc="-119" dirty="0" smtClean="0">
                <a:latin typeface="Times New Roman"/>
                <a:cs typeface="Times New Roman"/>
              </a:rPr>
              <a:t> </a:t>
            </a:r>
            <a:r>
              <a:rPr sz="1200" b="1" i="1" spc="0" dirty="0" smtClean="0">
                <a:latin typeface="Times New Roman"/>
                <a:cs typeface="Times New Roman"/>
              </a:rPr>
              <a:t>Finan</a:t>
            </a:r>
            <a:r>
              <a:rPr sz="1200" b="1" i="1" spc="4" dirty="0" smtClean="0">
                <a:latin typeface="Times New Roman"/>
                <a:cs typeface="Times New Roman"/>
              </a:rPr>
              <a:t>ţ</a:t>
            </a:r>
            <a:r>
              <a:rPr sz="1200" b="1" i="1" spc="0" dirty="0" smtClean="0">
                <a:latin typeface="Times New Roman"/>
                <a:cs typeface="Times New Roman"/>
              </a:rPr>
              <a:t>are din total plan 	</a:t>
            </a:r>
            <a:endParaRPr sz="1200">
              <a:latin typeface="Times New Roman"/>
              <a:cs typeface="Times New Roman"/>
            </a:endParaRPr>
          </a:p>
          <a:p>
            <a:pPr marR="1644736" algn="r">
              <a:lnSpc>
                <a:spcPct val="95825"/>
              </a:lnSpc>
              <a:spcBef>
                <a:spcPts val="4524"/>
              </a:spcBef>
            </a:pPr>
            <a:r>
              <a:rPr sz="1000" b="1" i="1" spc="-4" dirty="0" smtClean="0">
                <a:latin typeface="Times New Roman"/>
                <a:cs typeface="Times New Roman"/>
              </a:rPr>
              <a:t>A</a:t>
            </a:r>
            <a:r>
              <a:rPr sz="1000" b="1" i="1" spc="4" dirty="0" smtClean="0">
                <a:latin typeface="Times New Roman"/>
                <a:cs typeface="Times New Roman"/>
              </a:rPr>
              <a:t>G</a:t>
            </a:r>
            <a:r>
              <a:rPr sz="1000" b="1" i="1" spc="-4" dirty="0" smtClean="0">
                <a:latin typeface="Times New Roman"/>
                <a:cs typeface="Times New Roman"/>
              </a:rPr>
              <a:t>RAL</a:t>
            </a:r>
            <a:endParaRPr sz="1000">
              <a:latin typeface="Times New Roman"/>
              <a:cs typeface="Times New Roman"/>
            </a:endParaRPr>
          </a:p>
          <a:p>
            <a:pPr marR="1688646" algn="r">
              <a:lnSpc>
                <a:spcPct val="95825"/>
              </a:lnSpc>
              <a:spcBef>
                <a:spcPts val="120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7,43%</a:t>
            </a:r>
            <a:endParaRPr sz="1000">
              <a:latin typeface="Times New Roman"/>
              <a:cs typeface="Times New Roman"/>
            </a:endParaRPr>
          </a:p>
          <a:p>
            <a:pPr marL="1064102" marR="4625497" algn="ctr">
              <a:lnSpc>
                <a:spcPct val="95825"/>
              </a:lnSpc>
              <a:spcBef>
                <a:spcPts val="7364"/>
              </a:spcBef>
            </a:pPr>
            <a:r>
              <a:rPr sz="1000" b="1" i="1" spc="-4" dirty="0" smtClean="0">
                <a:latin typeface="Times New Roman"/>
                <a:cs typeface="Times New Roman"/>
              </a:rPr>
              <a:t>A</a:t>
            </a:r>
            <a:r>
              <a:rPr sz="1000" b="1" i="1" spc="4" dirty="0" smtClean="0">
                <a:latin typeface="Times New Roman"/>
                <a:cs typeface="Times New Roman"/>
              </a:rPr>
              <a:t>lt</a:t>
            </a:r>
            <a:r>
              <a:rPr sz="1000" b="1" i="1" spc="0" dirty="0" smtClean="0">
                <a:latin typeface="Times New Roman"/>
                <a:cs typeface="Times New Roman"/>
              </a:rPr>
              <a:t>e</a:t>
            </a:r>
            <a:r>
              <a:rPr sz="1000" b="1" i="1" spc="21" dirty="0" smtClean="0">
                <a:latin typeface="Times New Roman"/>
                <a:cs typeface="Times New Roman"/>
              </a:rPr>
              <a:t> </a:t>
            </a:r>
            <a:r>
              <a:rPr sz="1000" b="1" i="1" spc="4" dirty="0" smtClean="0">
                <a:latin typeface="Times New Roman"/>
                <a:cs typeface="Times New Roman"/>
              </a:rPr>
              <a:t>p</a:t>
            </a:r>
            <a:r>
              <a:rPr sz="1000" b="1" i="1" spc="-4" dirty="0" smtClean="0">
                <a:latin typeface="Times New Roman"/>
                <a:cs typeface="Times New Roman"/>
              </a:rPr>
              <a:t>r</a:t>
            </a:r>
            <a:r>
              <a:rPr sz="1000" b="1" i="1" spc="4" dirty="0" smtClean="0">
                <a:latin typeface="Times New Roman"/>
                <a:cs typeface="Times New Roman"/>
              </a:rPr>
              <a:t>og</a:t>
            </a:r>
            <a:r>
              <a:rPr sz="1000" b="1" i="1" spc="-4" dirty="0" smtClean="0">
                <a:latin typeface="Times New Roman"/>
                <a:cs typeface="Times New Roman"/>
              </a:rPr>
              <a:t>r</a:t>
            </a:r>
            <a:r>
              <a:rPr sz="1000" b="1" i="1" spc="4" dirty="0" smtClean="0">
                <a:latin typeface="Times New Roman"/>
                <a:cs typeface="Times New Roman"/>
              </a:rPr>
              <a:t>a</a:t>
            </a:r>
            <a:r>
              <a:rPr sz="1000" b="1" i="1" spc="19" dirty="0" smtClean="0">
                <a:latin typeface="Times New Roman"/>
                <a:cs typeface="Times New Roman"/>
              </a:rPr>
              <a:t>m</a:t>
            </a:r>
            <a:r>
              <a:rPr sz="1000" b="1" i="1" spc="0" dirty="0" smtClean="0">
                <a:latin typeface="Times New Roman"/>
                <a:cs typeface="Times New Roman"/>
              </a:rPr>
              <a:t>e</a:t>
            </a:r>
            <a:r>
              <a:rPr sz="1000" b="1" i="1" spc="9" dirty="0" smtClean="0">
                <a:latin typeface="Times New Roman"/>
                <a:cs typeface="Times New Roman"/>
              </a:rPr>
              <a:t> </a:t>
            </a:r>
            <a:r>
              <a:rPr sz="1000" b="1" i="1" spc="4" dirty="0" smtClean="0">
                <a:latin typeface="Times New Roman"/>
                <a:cs typeface="Times New Roman"/>
              </a:rPr>
              <a:t>din</a:t>
            </a:r>
            <a:endParaRPr sz="1000">
              <a:latin typeface="Times New Roman"/>
              <a:cs typeface="Times New Roman"/>
            </a:endParaRPr>
          </a:p>
          <a:p>
            <a:pPr marL="1122601" marR="4683260" algn="ctr">
              <a:lnSpc>
                <a:spcPct val="95825"/>
              </a:lnSpc>
              <a:spcBef>
                <a:spcPts val="120"/>
              </a:spcBef>
            </a:pPr>
            <a:r>
              <a:rPr sz="1000" b="1" i="1" spc="0" dirty="0" smtClean="0">
                <a:latin typeface="Times New Roman"/>
                <a:cs typeface="Times New Roman"/>
              </a:rPr>
              <a:t>Planul</a:t>
            </a:r>
            <a:r>
              <a:rPr sz="1000" b="1" i="1" spc="9" dirty="0" smtClean="0">
                <a:latin typeface="Times New Roman"/>
                <a:cs typeface="Times New Roman"/>
              </a:rPr>
              <a:t> </a:t>
            </a:r>
            <a:r>
              <a:rPr sz="1000" b="1" i="1" spc="0" dirty="0" smtClean="0">
                <a:latin typeface="Times New Roman"/>
                <a:cs typeface="Times New Roman"/>
              </a:rPr>
              <a:t>N</a:t>
            </a:r>
            <a:r>
              <a:rPr sz="1000" b="1" i="1" spc="4" dirty="0" smtClean="0">
                <a:latin typeface="Times New Roman"/>
                <a:cs typeface="Times New Roman"/>
              </a:rPr>
              <a:t>aţ</a:t>
            </a:r>
            <a:r>
              <a:rPr sz="1000" b="1" i="1" spc="-4" dirty="0" smtClean="0">
                <a:latin typeface="Times New Roman"/>
                <a:cs typeface="Times New Roman"/>
              </a:rPr>
              <a:t>i</a:t>
            </a:r>
            <a:r>
              <a:rPr sz="1000" b="1" i="1" spc="4" dirty="0" smtClean="0">
                <a:latin typeface="Times New Roman"/>
                <a:cs typeface="Times New Roman"/>
              </a:rPr>
              <a:t>ona</a:t>
            </a:r>
            <a:r>
              <a:rPr sz="1000" b="1" i="1" spc="0" dirty="0" smtClean="0">
                <a:latin typeface="Times New Roman"/>
                <a:cs typeface="Times New Roman"/>
              </a:rPr>
              <a:t>l</a:t>
            </a:r>
            <a:endParaRPr sz="1000">
              <a:latin typeface="Times New Roman"/>
              <a:cs typeface="Times New Roman"/>
            </a:endParaRPr>
          </a:p>
          <a:p>
            <a:pPr marL="1349675" marR="4910927" algn="ctr">
              <a:lnSpc>
                <a:spcPct val="95825"/>
              </a:lnSpc>
              <a:spcBef>
                <a:spcPts val="12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92,57%</a:t>
            </a:r>
            <a:endParaRPr sz="1000">
              <a:latin typeface="Times New Roman"/>
              <a:cs typeface="Times New Roman"/>
            </a:endParaRPr>
          </a:p>
          <a:p>
            <a:pPr marL="2686684" marR="2702577" algn="ctr">
              <a:lnSpc>
                <a:spcPct val="95825"/>
              </a:lnSpc>
              <a:spcBef>
                <a:spcPts val="8761"/>
              </a:spcBef>
            </a:pPr>
            <a:r>
              <a:rPr sz="1200" b="1" i="1" spc="0" dirty="0" smtClean="0">
                <a:latin typeface="Times New Roman"/>
                <a:cs typeface="Times New Roman"/>
              </a:rPr>
              <a:t>Scopul programului</a:t>
            </a:r>
            <a:endParaRPr sz="1200">
              <a:latin typeface="Times New Roman"/>
              <a:cs typeface="Times New Roman"/>
            </a:endParaRPr>
          </a:p>
          <a:p>
            <a:pPr marL="374511" marR="368431" indent="457211" algn="just">
              <a:lnSpc>
                <a:spcPts val="1030"/>
              </a:lnSpc>
              <a:spcBef>
                <a:spcPts val="1085"/>
              </a:spcBef>
            </a:pPr>
            <a:r>
              <a:rPr sz="900" spc="0" dirty="0" smtClean="0">
                <a:latin typeface="Times New Roman"/>
                <a:cs typeface="Times New Roman"/>
              </a:rPr>
              <a:t>Scopul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programului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este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ştii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că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bor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ii,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metode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echipamente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dezvoltarea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 a 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ro-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î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ez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rurală 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ilă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2154046" marR="2168729" algn="ctr">
              <a:lnSpc>
                <a:spcPct val="95825"/>
              </a:lnSpc>
              <a:spcBef>
                <a:spcPts val="2372"/>
              </a:spcBef>
            </a:pPr>
            <a:r>
              <a:rPr sz="1200" b="1" i="1" spc="0" dirty="0" smtClean="0">
                <a:latin typeface="Times New Roman"/>
                <a:cs typeface="Times New Roman"/>
              </a:rPr>
              <a:t>Obiectivele </a:t>
            </a:r>
            <a:r>
              <a:rPr sz="1200" b="1" i="1" spc="-4" dirty="0" smtClean="0">
                <a:latin typeface="Times New Roman"/>
                <a:cs typeface="Times New Roman"/>
              </a:rPr>
              <a:t>g</a:t>
            </a:r>
            <a:r>
              <a:rPr sz="1200" b="1" i="1" spc="0" dirty="0" smtClean="0">
                <a:latin typeface="Times New Roman"/>
                <a:cs typeface="Times New Roman"/>
              </a:rPr>
              <a:t>enerale ale pro</a:t>
            </a:r>
            <a:r>
              <a:rPr sz="1200" b="1" i="1" spc="-4" dirty="0" smtClean="0">
                <a:latin typeface="Times New Roman"/>
                <a:cs typeface="Times New Roman"/>
              </a:rPr>
              <a:t>g</a:t>
            </a:r>
            <a:r>
              <a:rPr sz="1200" b="1" i="1" spc="0" dirty="0" smtClean="0">
                <a:latin typeface="Times New Roman"/>
                <a:cs typeface="Times New Roman"/>
              </a:rPr>
              <a:t>ramului</a:t>
            </a:r>
            <a:endParaRPr sz="1200">
              <a:latin typeface="Times New Roman"/>
              <a:cs typeface="Times New Roman"/>
            </a:endParaRPr>
          </a:p>
          <a:p>
            <a:pPr marL="878993" marR="368838" indent="-252248">
              <a:lnSpc>
                <a:spcPts val="1030"/>
              </a:lnSpc>
              <a:spcBef>
                <a:spcPts val="1085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*	Ev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a,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ameliora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resurselor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natu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scopul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 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le,</a:t>
            </a:r>
            <a:endParaRPr sz="900">
              <a:latin typeface="Times New Roman"/>
              <a:cs typeface="Times New Roman"/>
            </a:endParaRPr>
          </a:p>
          <a:p>
            <a:pPr marL="878993" marR="369510" indent="-252225">
              <a:lnSpc>
                <a:spcPts val="1030"/>
              </a:lnSpc>
              <a:spcBef>
                <a:spcPts val="4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*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cep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ifice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progres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semnificativ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bţ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culturile de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mp,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ntit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idi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ioara,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rentabile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rn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ionala,</a:t>
            </a:r>
            <a:endParaRPr sz="900">
              <a:latin typeface="Times New Roman"/>
              <a:cs typeface="Times New Roman"/>
            </a:endParaRPr>
          </a:p>
          <a:p>
            <a:pPr marL="879005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corespun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inci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iilor 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turii 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asigur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consumato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79027" marR="369931" indent="-252237">
              <a:lnSpc>
                <a:spcPts val="1040"/>
              </a:lnSpc>
              <a:spcBef>
                <a:spcPts val="5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*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 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tiv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ico-ec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nomice,  a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tivitic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rfec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servic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ilor ada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ceri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in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rn</a:t>
            </a:r>
            <a:r>
              <a:rPr sz="900" spc="0" dirty="0" smtClean="0">
                <a:latin typeface="Times New Roman"/>
                <a:cs typeface="Times New Roman"/>
              </a:rPr>
              <a:t>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x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corespun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 cu 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ez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endParaRPr sz="900">
              <a:latin typeface="Times New Roman"/>
              <a:cs typeface="Times New Roman"/>
            </a:endParaRPr>
          </a:p>
          <a:p>
            <a:pPr marR="388768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*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a,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ameliora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resurselor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natu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(sol,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)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scop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endParaRPr sz="900">
              <a:latin typeface="Times New Roman"/>
              <a:cs typeface="Times New Roman"/>
            </a:endParaRPr>
          </a:p>
          <a:p>
            <a:pPr marL="879062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calitative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endParaRPr sz="900">
              <a:latin typeface="Times New Roman"/>
              <a:cs typeface="Times New Roman"/>
            </a:endParaRPr>
          </a:p>
          <a:p>
            <a:pPr marL="879073" marR="369007" indent="-252225">
              <a:lnSpc>
                <a:spcPts val="1040"/>
              </a:lnSpc>
              <a:spcBef>
                <a:spcPts val="57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*	Metode,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tehnici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logii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fundamentate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ale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nitar-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R="389758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*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Tehnici,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procedee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metodologii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moderniza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 produ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ext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rsifi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endParaRPr sz="900">
              <a:latin typeface="Times New Roman"/>
              <a:cs typeface="Times New Roman"/>
            </a:endParaRPr>
          </a:p>
          <a:p>
            <a:pPr marL="857812" marR="785639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fun</a:t>
            </a:r>
            <a:r>
              <a:rPr sz="900" spc="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şi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comerciale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lui-nutr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popula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i.</a:t>
            </a:r>
            <a:endParaRPr sz="900">
              <a:latin typeface="Times New Roman"/>
              <a:cs typeface="Times New Roman"/>
            </a:endParaRPr>
          </a:p>
          <a:p>
            <a:pPr marR="389536" algn="r">
              <a:lnSpc>
                <a:spcPct val="95825"/>
              </a:lnSpc>
            </a:pPr>
            <a:r>
              <a:rPr sz="1200" spc="0" dirty="0" smtClean="0">
                <a:latin typeface="Times New Roman"/>
                <a:cs typeface="Times New Roman"/>
              </a:rPr>
              <a:t>*   </a:t>
            </a:r>
            <a:r>
              <a:rPr sz="12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Tehnologii,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eme,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utilaje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rsificarea,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9" dirty="0" smtClean="0">
                <a:latin typeface="Times New Roman"/>
                <a:cs typeface="Times New Roman"/>
              </a:rPr>
              <a:t>ş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volumului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roduc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878978">
              <a:lnSpc>
                <a:spcPts val="965"/>
              </a:lnSpc>
              <a:spcBef>
                <a:spcPts val="48"/>
              </a:spcBef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lei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74522">
              <a:lnSpc>
                <a:spcPts val="1167"/>
              </a:lnSpc>
              <a:spcBef>
                <a:spcPts val="3422"/>
              </a:spcBef>
            </a:pPr>
            <a:r>
              <a:rPr sz="900" spc="0" baseline="38650" dirty="0" smtClean="0">
                <a:latin typeface="Times New Roman"/>
                <a:cs typeface="Times New Roman"/>
              </a:rPr>
              <a:t>1</a:t>
            </a:r>
            <a:r>
              <a:rPr sz="900" spc="80" baseline="38650" dirty="0" smtClean="0"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latin typeface="Times New Roman"/>
                <a:cs typeface="Times New Roman"/>
              </a:rPr>
              <a:t>Materi</a:t>
            </a:r>
            <a:r>
              <a:rPr sz="900" i="1" spc="-4" dirty="0" smtClean="0">
                <a:latin typeface="Times New Roman"/>
                <a:cs typeface="Times New Roman"/>
              </a:rPr>
              <a:t>a</a:t>
            </a:r>
            <a:r>
              <a:rPr sz="900" i="1" spc="0" dirty="0" smtClean="0">
                <a:latin typeface="Times New Roman"/>
                <a:cs typeface="Times New Roman"/>
              </a:rPr>
              <a:t>l elaborat</a:t>
            </a:r>
            <a:r>
              <a:rPr sz="900" i="1" spc="4" dirty="0" smtClean="0">
                <a:latin typeface="Times New Roman"/>
                <a:cs typeface="Times New Roman"/>
              </a:rPr>
              <a:t> </a:t>
            </a:r>
            <a:r>
              <a:rPr sz="900" i="1" spc="-4" dirty="0" smtClean="0">
                <a:latin typeface="Times New Roman"/>
                <a:cs typeface="Times New Roman"/>
              </a:rPr>
              <a:t>p</a:t>
            </a:r>
            <a:r>
              <a:rPr sz="900" i="1" spc="0" dirty="0" smtClean="0">
                <a:latin typeface="Times New Roman"/>
                <a:cs typeface="Times New Roman"/>
              </a:rPr>
              <a:t>e</a:t>
            </a:r>
            <a:r>
              <a:rPr sz="900" i="1" spc="4" dirty="0" smtClean="0"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latin typeface="Times New Roman"/>
                <a:cs typeface="Times New Roman"/>
              </a:rPr>
              <a:t>baza</a:t>
            </a:r>
            <a:r>
              <a:rPr sz="900" i="1" spc="4" dirty="0" smtClean="0"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latin typeface="Times New Roman"/>
                <a:cs typeface="Times New Roman"/>
              </a:rPr>
              <a:t>d</a:t>
            </a:r>
            <a:r>
              <a:rPr sz="900" i="1" spc="-4" dirty="0" smtClean="0">
                <a:latin typeface="Times New Roman"/>
                <a:cs typeface="Times New Roman"/>
              </a:rPr>
              <a:t>a</a:t>
            </a:r>
            <a:r>
              <a:rPr sz="900" i="1" spc="0" dirty="0" smtClean="0">
                <a:latin typeface="Times New Roman"/>
                <a:cs typeface="Times New Roman"/>
              </a:rPr>
              <a:t>telor</a:t>
            </a:r>
            <a:r>
              <a:rPr sz="900" i="1" spc="-4" dirty="0" smtClean="0"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latin typeface="Times New Roman"/>
                <a:cs typeface="Times New Roman"/>
              </a:rPr>
              <a:t>furnizate</a:t>
            </a:r>
            <a:r>
              <a:rPr sz="900" i="1" spc="4" dirty="0" smtClean="0"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latin typeface="Times New Roman"/>
                <a:cs typeface="Times New Roman"/>
              </a:rPr>
              <a:t>de</a:t>
            </a:r>
            <a:r>
              <a:rPr sz="900" i="1" spc="4" dirty="0" smtClean="0"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latin typeface="Times New Roman"/>
                <a:cs typeface="Times New Roman"/>
              </a:rPr>
              <a:t>cond</a:t>
            </a:r>
            <a:r>
              <a:rPr sz="900" i="1" spc="-4" dirty="0" smtClean="0">
                <a:latin typeface="Times New Roman"/>
                <a:cs typeface="Times New Roman"/>
              </a:rPr>
              <a:t>uc</a:t>
            </a:r>
            <a:r>
              <a:rPr sz="900" i="1" spc="0" dirty="0" smtClean="0">
                <a:latin typeface="Times New Roman"/>
                <a:cs typeface="Times New Roman"/>
              </a:rPr>
              <a:t>ătorul</a:t>
            </a:r>
            <a:r>
              <a:rPr sz="900" i="1" spc="4" dirty="0" smtClean="0">
                <a:latin typeface="Times New Roman"/>
                <a:cs typeface="Times New Roman"/>
              </a:rPr>
              <a:t> </a:t>
            </a:r>
            <a:r>
              <a:rPr sz="900" i="1" spc="-4" dirty="0" smtClean="0">
                <a:latin typeface="Times New Roman"/>
                <a:cs typeface="Times New Roman"/>
              </a:rPr>
              <a:t>d</a:t>
            </a:r>
            <a:r>
              <a:rPr sz="900" i="1" spc="0" dirty="0" smtClean="0">
                <a:latin typeface="Times New Roman"/>
                <a:cs typeface="Times New Roman"/>
              </a:rPr>
              <a:t>e</a:t>
            </a:r>
            <a:r>
              <a:rPr sz="900" i="1" spc="4" dirty="0" smtClean="0"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latin typeface="Times New Roman"/>
                <a:cs typeface="Times New Roman"/>
              </a:rPr>
              <a:t>program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701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1</a:t>
            </a:r>
            <a:r>
              <a:rPr sz="1000" spc="0" dirty="0" smtClean="0">
                <a:latin typeface="Times New Roman"/>
                <a:cs typeface="Times New Roman"/>
              </a:rPr>
              <a:t>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15162" y="9314434"/>
            <a:ext cx="18288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129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603242" y="2055876"/>
            <a:ext cx="2271521" cy="175259"/>
          </a:xfrm>
          <a:custGeom>
            <a:avLst/>
            <a:gdLst/>
            <a:ahLst/>
            <a:cxnLst/>
            <a:rect l="l" t="t" r="r" b="b"/>
            <a:pathLst>
              <a:path w="2271521" h="175259">
                <a:moveTo>
                  <a:pt x="0" y="175259"/>
                </a:moveTo>
                <a:lnTo>
                  <a:pt x="2271521" y="175259"/>
                </a:lnTo>
                <a:lnTo>
                  <a:pt x="2271521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896112" y="2055876"/>
            <a:ext cx="2270760" cy="175259"/>
          </a:xfrm>
          <a:custGeom>
            <a:avLst/>
            <a:gdLst/>
            <a:ahLst/>
            <a:cxnLst/>
            <a:rect l="l" t="t" r="r" b="b"/>
            <a:pathLst>
              <a:path w="2270760" h="175259">
                <a:moveTo>
                  <a:pt x="0" y="175259"/>
                </a:moveTo>
                <a:lnTo>
                  <a:pt x="2270760" y="175259"/>
                </a:lnTo>
                <a:lnTo>
                  <a:pt x="2270760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166872" y="2055876"/>
            <a:ext cx="1436370" cy="175259"/>
          </a:xfrm>
          <a:custGeom>
            <a:avLst/>
            <a:gdLst/>
            <a:ahLst/>
            <a:cxnLst/>
            <a:rect l="l" t="t" r="r" b="b"/>
            <a:pathLst>
              <a:path w="1436370" h="175259">
                <a:moveTo>
                  <a:pt x="0" y="0"/>
                </a:moveTo>
                <a:lnTo>
                  <a:pt x="0" y="175259"/>
                </a:lnTo>
                <a:lnTo>
                  <a:pt x="1436370" y="175259"/>
                </a:lnTo>
                <a:lnTo>
                  <a:pt x="143637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239262" y="5606034"/>
            <a:ext cx="716279" cy="1145286"/>
          </a:xfrm>
          <a:custGeom>
            <a:avLst/>
            <a:gdLst/>
            <a:ahLst/>
            <a:cxnLst/>
            <a:rect l="l" t="t" r="r" b="b"/>
            <a:pathLst>
              <a:path w="716279" h="1145286">
                <a:moveTo>
                  <a:pt x="716279" y="537971"/>
                </a:moveTo>
                <a:lnTo>
                  <a:pt x="0" y="0"/>
                </a:lnTo>
                <a:lnTo>
                  <a:pt x="0" y="606551"/>
                </a:lnTo>
                <a:lnTo>
                  <a:pt x="716279" y="1145286"/>
                </a:lnTo>
                <a:lnTo>
                  <a:pt x="716279" y="537971"/>
                </a:lnTo>
                <a:close/>
              </a:path>
            </a:pathLst>
          </a:custGeom>
          <a:solidFill>
            <a:srgbClr val="00003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239262" y="5606034"/>
            <a:ext cx="0" cy="606551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955541" y="6144006"/>
            <a:ext cx="0" cy="607314"/>
          </a:xfrm>
          <a:custGeom>
            <a:avLst/>
            <a:gdLst/>
            <a:ahLst/>
            <a:cxnLst/>
            <a:rect l="l" t="t" r="r" b="b"/>
            <a:pathLst>
              <a:path h="607314">
                <a:moveTo>
                  <a:pt x="0" y="607314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239262" y="5575554"/>
            <a:ext cx="716279" cy="568451"/>
          </a:xfrm>
          <a:custGeom>
            <a:avLst/>
            <a:gdLst/>
            <a:ahLst/>
            <a:cxnLst/>
            <a:rect l="l" t="t" r="r" b="b"/>
            <a:pathLst>
              <a:path w="716279" h="568451">
                <a:moveTo>
                  <a:pt x="716279" y="568451"/>
                </a:moveTo>
                <a:lnTo>
                  <a:pt x="716279" y="0"/>
                </a:lnTo>
                <a:lnTo>
                  <a:pt x="600455" y="0"/>
                </a:lnTo>
                <a:lnTo>
                  <a:pt x="562355" y="1524"/>
                </a:lnTo>
                <a:lnTo>
                  <a:pt x="524255" y="1524"/>
                </a:lnTo>
                <a:lnTo>
                  <a:pt x="448055" y="4572"/>
                </a:lnTo>
                <a:lnTo>
                  <a:pt x="409955" y="4572"/>
                </a:lnTo>
                <a:lnTo>
                  <a:pt x="333755" y="7620"/>
                </a:lnTo>
                <a:lnTo>
                  <a:pt x="295655" y="10668"/>
                </a:lnTo>
                <a:lnTo>
                  <a:pt x="259079" y="12192"/>
                </a:lnTo>
                <a:lnTo>
                  <a:pt x="220979" y="13716"/>
                </a:lnTo>
                <a:lnTo>
                  <a:pt x="184403" y="16763"/>
                </a:lnTo>
                <a:lnTo>
                  <a:pt x="146303" y="18287"/>
                </a:lnTo>
                <a:lnTo>
                  <a:pt x="109727" y="21336"/>
                </a:lnTo>
                <a:lnTo>
                  <a:pt x="36575" y="27432"/>
                </a:lnTo>
                <a:lnTo>
                  <a:pt x="0" y="30480"/>
                </a:lnTo>
                <a:lnTo>
                  <a:pt x="716279" y="568451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649217" y="558012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763517" y="55770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839717" y="5575554"/>
            <a:ext cx="115824" cy="0"/>
          </a:xfrm>
          <a:custGeom>
            <a:avLst/>
            <a:gdLst/>
            <a:ahLst/>
            <a:cxnLst/>
            <a:rect l="l" t="t" r="r" b="b"/>
            <a:pathLst>
              <a:path w="115824">
                <a:moveTo>
                  <a:pt x="0" y="0"/>
                </a:moveTo>
                <a:lnTo>
                  <a:pt x="115824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55541" y="5575554"/>
            <a:ext cx="0" cy="568451"/>
          </a:xfrm>
          <a:custGeom>
            <a:avLst/>
            <a:gdLst/>
            <a:ahLst/>
            <a:cxnLst/>
            <a:rect l="l" t="t" r="r" b="b"/>
            <a:pathLst>
              <a:path h="568451">
                <a:moveTo>
                  <a:pt x="0" y="0"/>
                </a:moveTo>
                <a:lnTo>
                  <a:pt x="0" y="5684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911602" y="5639562"/>
            <a:ext cx="963168" cy="1117853"/>
          </a:xfrm>
          <a:custGeom>
            <a:avLst/>
            <a:gdLst/>
            <a:ahLst/>
            <a:cxnLst/>
            <a:rect l="l" t="t" r="r" b="b"/>
            <a:pathLst>
              <a:path w="963168" h="1117853">
                <a:moveTo>
                  <a:pt x="963168" y="510539"/>
                </a:moveTo>
                <a:lnTo>
                  <a:pt x="0" y="0"/>
                </a:lnTo>
                <a:lnTo>
                  <a:pt x="0" y="606551"/>
                </a:lnTo>
                <a:lnTo>
                  <a:pt x="963168" y="1117853"/>
                </a:lnTo>
                <a:lnTo>
                  <a:pt x="963168" y="510539"/>
                </a:lnTo>
                <a:close/>
              </a:path>
            </a:pathLst>
          </a:custGeom>
          <a:solidFill>
            <a:srgbClr val="8064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911602" y="5639562"/>
            <a:ext cx="0" cy="606551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874770" y="6150102"/>
            <a:ext cx="0" cy="607313"/>
          </a:xfrm>
          <a:custGeom>
            <a:avLst/>
            <a:gdLst/>
            <a:ahLst/>
            <a:cxnLst/>
            <a:rect l="l" t="t" r="r" b="b"/>
            <a:pathLst>
              <a:path h="607313">
                <a:moveTo>
                  <a:pt x="0" y="607313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910078" y="5612130"/>
            <a:ext cx="964692" cy="537972"/>
          </a:xfrm>
          <a:custGeom>
            <a:avLst/>
            <a:gdLst/>
            <a:ahLst/>
            <a:cxnLst/>
            <a:rect l="l" t="t" r="r" b="b"/>
            <a:pathLst>
              <a:path w="964692" h="537972">
                <a:moveTo>
                  <a:pt x="964692" y="537972"/>
                </a:moveTo>
                <a:lnTo>
                  <a:pt x="248412" y="0"/>
                </a:lnTo>
                <a:lnTo>
                  <a:pt x="211836" y="3048"/>
                </a:lnTo>
                <a:lnTo>
                  <a:pt x="176784" y="7620"/>
                </a:lnTo>
                <a:lnTo>
                  <a:pt x="140208" y="10668"/>
                </a:lnTo>
                <a:lnTo>
                  <a:pt x="105156" y="13716"/>
                </a:lnTo>
                <a:lnTo>
                  <a:pt x="70104" y="18287"/>
                </a:lnTo>
                <a:lnTo>
                  <a:pt x="35052" y="22860"/>
                </a:lnTo>
                <a:lnTo>
                  <a:pt x="0" y="27432"/>
                </a:lnTo>
                <a:lnTo>
                  <a:pt x="964692" y="537972"/>
                </a:lnTo>
                <a:close/>
              </a:path>
            </a:pathLst>
          </a:custGeom>
          <a:solidFill>
            <a:srgbClr val="FE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759458" y="5930646"/>
            <a:ext cx="1993392" cy="848105"/>
          </a:xfrm>
          <a:custGeom>
            <a:avLst/>
            <a:gdLst/>
            <a:ahLst/>
            <a:cxnLst/>
            <a:rect l="l" t="t" r="r" b="b"/>
            <a:pathLst>
              <a:path w="1993392" h="848105">
                <a:moveTo>
                  <a:pt x="1993392" y="240791"/>
                </a:moveTo>
                <a:lnTo>
                  <a:pt x="0" y="0"/>
                </a:lnTo>
                <a:lnTo>
                  <a:pt x="0" y="607313"/>
                </a:lnTo>
                <a:lnTo>
                  <a:pt x="1993392" y="848105"/>
                </a:lnTo>
                <a:lnTo>
                  <a:pt x="1993392" y="240791"/>
                </a:lnTo>
                <a:close/>
              </a:path>
            </a:pathLst>
          </a:custGeom>
          <a:solidFill>
            <a:srgbClr val="1A646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759458" y="5930646"/>
            <a:ext cx="0" cy="607313"/>
          </a:xfrm>
          <a:custGeom>
            <a:avLst/>
            <a:gdLst/>
            <a:ahLst/>
            <a:cxnLst/>
            <a:rect l="l" t="t" r="r" b="b"/>
            <a:pathLst>
              <a:path h="607313">
                <a:moveTo>
                  <a:pt x="0" y="0"/>
                </a:moveTo>
                <a:lnTo>
                  <a:pt x="0" y="607313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752850" y="6171438"/>
            <a:ext cx="0" cy="607313"/>
          </a:xfrm>
          <a:custGeom>
            <a:avLst/>
            <a:gdLst/>
            <a:ahLst/>
            <a:cxnLst/>
            <a:rect l="l" t="t" r="r" b="b"/>
            <a:pathLst>
              <a:path h="607313">
                <a:moveTo>
                  <a:pt x="0" y="607313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759458" y="5660898"/>
            <a:ext cx="1993392" cy="510539"/>
          </a:xfrm>
          <a:custGeom>
            <a:avLst/>
            <a:gdLst/>
            <a:ahLst/>
            <a:cxnLst/>
            <a:rect l="l" t="t" r="r" b="b"/>
            <a:pathLst>
              <a:path w="1993392" h="510539">
                <a:moveTo>
                  <a:pt x="1993392" y="510539"/>
                </a:moveTo>
                <a:lnTo>
                  <a:pt x="1028700" y="0"/>
                </a:lnTo>
                <a:lnTo>
                  <a:pt x="995172" y="3048"/>
                </a:lnTo>
                <a:lnTo>
                  <a:pt x="960119" y="7619"/>
                </a:lnTo>
                <a:lnTo>
                  <a:pt x="926592" y="13715"/>
                </a:lnTo>
                <a:lnTo>
                  <a:pt x="893064" y="18287"/>
                </a:lnTo>
                <a:lnTo>
                  <a:pt x="861060" y="22860"/>
                </a:lnTo>
                <a:lnTo>
                  <a:pt x="827532" y="28955"/>
                </a:lnTo>
                <a:lnTo>
                  <a:pt x="795528" y="33527"/>
                </a:lnTo>
                <a:lnTo>
                  <a:pt x="763524" y="39624"/>
                </a:lnTo>
                <a:lnTo>
                  <a:pt x="731519" y="44196"/>
                </a:lnTo>
                <a:lnTo>
                  <a:pt x="701040" y="50291"/>
                </a:lnTo>
                <a:lnTo>
                  <a:pt x="669036" y="56387"/>
                </a:lnTo>
                <a:lnTo>
                  <a:pt x="638556" y="62484"/>
                </a:lnTo>
                <a:lnTo>
                  <a:pt x="609600" y="68579"/>
                </a:lnTo>
                <a:lnTo>
                  <a:pt x="579119" y="74675"/>
                </a:lnTo>
                <a:lnTo>
                  <a:pt x="550164" y="80772"/>
                </a:lnTo>
                <a:lnTo>
                  <a:pt x="521208" y="88391"/>
                </a:lnTo>
                <a:lnTo>
                  <a:pt x="493775" y="94487"/>
                </a:lnTo>
                <a:lnTo>
                  <a:pt x="464819" y="102107"/>
                </a:lnTo>
                <a:lnTo>
                  <a:pt x="437388" y="108203"/>
                </a:lnTo>
                <a:lnTo>
                  <a:pt x="411480" y="115824"/>
                </a:lnTo>
                <a:lnTo>
                  <a:pt x="384048" y="123443"/>
                </a:lnTo>
                <a:lnTo>
                  <a:pt x="358140" y="129539"/>
                </a:lnTo>
                <a:lnTo>
                  <a:pt x="333756" y="137160"/>
                </a:lnTo>
                <a:lnTo>
                  <a:pt x="307848" y="144779"/>
                </a:lnTo>
                <a:lnTo>
                  <a:pt x="283464" y="152400"/>
                </a:lnTo>
                <a:lnTo>
                  <a:pt x="260604" y="160019"/>
                </a:lnTo>
                <a:lnTo>
                  <a:pt x="236219" y="167639"/>
                </a:lnTo>
                <a:lnTo>
                  <a:pt x="213360" y="176784"/>
                </a:lnTo>
                <a:lnTo>
                  <a:pt x="192024" y="184403"/>
                </a:lnTo>
                <a:lnTo>
                  <a:pt x="169164" y="192024"/>
                </a:lnTo>
                <a:lnTo>
                  <a:pt x="149352" y="201167"/>
                </a:lnTo>
                <a:lnTo>
                  <a:pt x="128016" y="208787"/>
                </a:lnTo>
                <a:lnTo>
                  <a:pt x="108204" y="217931"/>
                </a:lnTo>
                <a:lnTo>
                  <a:pt x="88392" y="225551"/>
                </a:lnTo>
                <a:lnTo>
                  <a:pt x="33528" y="252984"/>
                </a:lnTo>
                <a:lnTo>
                  <a:pt x="16764" y="262127"/>
                </a:lnTo>
                <a:lnTo>
                  <a:pt x="0" y="269748"/>
                </a:lnTo>
                <a:lnTo>
                  <a:pt x="1993392" y="510539"/>
                </a:lnTo>
                <a:close/>
              </a:path>
            </a:pathLst>
          </a:custGeom>
          <a:solidFill>
            <a:srgbClr val="33CBC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546098" y="6058662"/>
            <a:ext cx="2124455" cy="753618"/>
          </a:xfrm>
          <a:custGeom>
            <a:avLst/>
            <a:gdLst/>
            <a:ahLst/>
            <a:cxnLst/>
            <a:rect l="l" t="t" r="r" b="b"/>
            <a:pathLst>
              <a:path w="2124455" h="753617">
                <a:moveTo>
                  <a:pt x="2124455" y="146303"/>
                </a:moveTo>
                <a:lnTo>
                  <a:pt x="0" y="0"/>
                </a:lnTo>
                <a:lnTo>
                  <a:pt x="0" y="607313"/>
                </a:lnTo>
                <a:lnTo>
                  <a:pt x="2124455" y="753618"/>
                </a:lnTo>
                <a:lnTo>
                  <a:pt x="2124455" y="146303"/>
                </a:lnTo>
                <a:close/>
              </a:path>
            </a:pathLst>
          </a:custGeom>
          <a:solidFill>
            <a:srgbClr val="3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546098" y="6058662"/>
            <a:ext cx="0" cy="607313"/>
          </a:xfrm>
          <a:custGeom>
            <a:avLst/>
            <a:gdLst/>
            <a:ahLst/>
            <a:cxnLst/>
            <a:rect l="l" t="t" r="r" b="b"/>
            <a:pathLst>
              <a:path h="607313">
                <a:moveTo>
                  <a:pt x="0" y="0"/>
                </a:moveTo>
                <a:lnTo>
                  <a:pt x="0" y="607313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670554" y="6204966"/>
            <a:ext cx="0" cy="607314"/>
          </a:xfrm>
          <a:custGeom>
            <a:avLst/>
            <a:gdLst/>
            <a:ahLst/>
            <a:cxnLst/>
            <a:rect l="l" t="t" r="r" b="b"/>
            <a:pathLst>
              <a:path h="607313">
                <a:moveTo>
                  <a:pt x="0" y="607314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546098" y="5964174"/>
            <a:ext cx="2124455" cy="240791"/>
          </a:xfrm>
          <a:custGeom>
            <a:avLst/>
            <a:gdLst/>
            <a:ahLst/>
            <a:cxnLst/>
            <a:rect l="l" t="t" r="r" b="b"/>
            <a:pathLst>
              <a:path w="2124455" h="240791">
                <a:moveTo>
                  <a:pt x="0" y="94487"/>
                </a:moveTo>
                <a:lnTo>
                  <a:pt x="2124455" y="240791"/>
                </a:lnTo>
                <a:lnTo>
                  <a:pt x="131064" y="0"/>
                </a:lnTo>
                <a:lnTo>
                  <a:pt x="115824" y="9143"/>
                </a:lnTo>
                <a:lnTo>
                  <a:pt x="99059" y="18287"/>
                </a:lnTo>
                <a:lnTo>
                  <a:pt x="71628" y="36575"/>
                </a:lnTo>
                <a:lnTo>
                  <a:pt x="57912" y="47243"/>
                </a:lnTo>
                <a:lnTo>
                  <a:pt x="44196" y="56387"/>
                </a:lnTo>
                <a:lnTo>
                  <a:pt x="32004" y="65531"/>
                </a:lnTo>
                <a:lnTo>
                  <a:pt x="10668" y="83820"/>
                </a:lnTo>
                <a:lnTo>
                  <a:pt x="0" y="94487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448562" y="6253734"/>
            <a:ext cx="132587" cy="791717"/>
          </a:xfrm>
          <a:custGeom>
            <a:avLst/>
            <a:gdLst/>
            <a:ahLst/>
            <a:cxnLst/>
            <a:rect l="l" t="t" r="r" b="b"/>
            <a:pathLst>
              <a:path w="132587" h="791717">
                <a:moveTo>
                  <a:pt x="0" y="0"/>
                </a:moveTo>
                <a:lnTo>
                  <a:pt x="0" y="607313"/>
                </a:lnTo>
                <a:lnTo>
                  <a:pt x="1524" y="616457"/>
                </a:lnTo>
                <a:lnTo>
                  <a:pt x="3047" y="627126"/>
                </a:lnTo>
                <a:lnTo>
                  <a:pt x="4571" y="636269"/>
                </a:lnTo>
                <a:lnTo>
                  <a:pt x="7619" y="646938"/>
                </a:lnTo>
                <a:lnTo>
                  <a:pt x="12191" y="656082"/>
                </a:lnTo>
                <a:lnTo>
                  <a:pt x="15240" y="666749"/>
                </a:lnTo>
                <a:lnTo>
                  <a:pt x="21335" y="675893"/>
                </a:lnTo>
                <a:lnTo>
                  <a:pt x="25907" y="686561"/>
                </a:lnTo>
                <a:lnTo>
                  <a:pt x="33528" y="695705"/>
                </a:lnTo>
                <a:lnTo>
                  <a:pt x="39624" y="706373"/>
                </a:lnTo>
                <a:lnTo>
                  <a:pt x="47243" y="715517"/>
                </a:lnTo>
                <a:lnTo>
                  <a:pt x="56387" y="724661"/>
                </a:lnTo>
                <a:lnTo>
                  <a:pt x="65531" y="735329"/>
                </a:lnTo>
                <a:lnTo>
                  <a:pt x="74675" y="744473"/>
                </a:lnTo>
                <a:lnTo>
                  <a:pt x="96012" y="762761"/>
                </a:lnTo>
                <a:lnTo>
                  <a:pt x="106679" y="773429"/>
                </a:lnTo>
                <a:lnTo>
                  <a:pt x="118872" y="782573"/>
                </a:lnTo>
                <a:lnTo>
                  <a:pt x="132587" y="791717"/>
                </a:lnTo>
                <a:lnTo>
                  <a:pt x="132587" y="185165"/>
                </a:lnTo>
                <a:lnTo>
                  <a:pt x="118872" y="176021"/>
                </a:lnTo>
                <a:lnTo>
                  <a:pt x="106679" y="166877"/>
                </a:lnTo>
                <a:lnTo>
                  <a:pt x="96012" y="156210"/>
                </a:lnTo>
                <a:lnTo>
                  <a:pt x="74675" y="137921"/>
                </a:lnTo>
                <a:lnTo>
                  <a:pt x="65531" y="128777"/>
                </a:lnTo>
                <a:lnTo>
                  <a:pt x="56387" y="117348"/>
                </a:lnTo>
                <a:lnTo>
                  <a:pt x="47243" y="108203"/>
                </a:lnTo>
                <a:lnTo>
                  <a:pt x="39624" y="99060"/>
                </a:lnTo>
                <a:lnTo>
                  <a:pt x="33528" y="88391"/>
                </a:lnTo>
                <a:lnTo>
                  <a:pt x="25907" y="79248"/>
                </a:lnTo>
                <a:lnTo>
                  <a:pt x="21335" y="68579"/>
                </a:lnTo>
                <a:lnTo>
                  <a:pt x="15240" y="59436"/>
                </a:lnTo>
                <a:lnTo>
                  <a:pt x="12191" y="48767"/>
                </a:lnTo>
                <a:lnTo>
                  <a:pt x="7619" y="39624"/>
                </a:lnTo>
                <a:lnTo>
                  <a:pt x="4571" y="28955"/>
                </a:lnTo>
                <a:lnTo>
                  <a:pt x="3047" y="19812"/>
                </a:lnTo>
                <a:lnTo>
                  <a:pt x="1524" y="9143"/>
                </a:lnTo>
                <a:lnTo>
                  <a:pt x="0" y="0"/>
                </a:lnTo>
                <a:close/>
              </a:path>
            </a:pathLst>
          </a:custGeom>
          <a:solidFill>
            <a:srgbClr val="4C64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48562" y="6243066"/>
            <a:ext cx="0" cy="10668"/>
          </a:xfrm>
          <a:custGeom>
            <a:avLst/>
            <a:gdLst/>
            <a:ahLst/>
            <a:cxnLst/>
            <a:rect l="l" t="t" r="r" b="b"/>
            <a:pathLst>
              <a:path h="10668">
                <a:moveTo>
                  <a:pt x="0" y="10668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448562" y="6243066"/>
            <a:ext cx="0" cy="617982"/>
          </a:xfrm>
          <a:custGeom>
            <a:avLst/>
            <a:gdLst/>
            <a:ahLst/>
            <a:cxnLst/>
            <a:rect l="l" t="t" r="r" b="b"/>
            <a:pathLst>
              <a:path h="617982">
                <a:moveTo>
                  <a:pt x="0" y="0"/>
                </a:moveTo>
                <a:lnTo>
                  <a:pt x="0" y="61798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581150" y="6438900"/>
            <a:ext cx="0" cy="606551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606551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581150" y="6243066"/>
            <a:ext cx="2066544" cy="800862"/>
          </a:xfrm>
          <a:custGeom>
            <a:avLst/>
            <a:gdLst/>
            <a:ahLst/>
            <a:cxnLst/>
            <a:rect l="l" t="t" r="r" b="b"/>
            <a:pathLst>
              <a:path w="2066544" h="800862">
                <a:moveTo>
                  <a:pt x="2066544" y="0"/>
                </a:moveTo>
                <a:lnTo>
                  <a:pt x="0" y="194310"/>
                </a:lnTo>
                <a:lnTo>
                  <a:pt x="0" y="800862"/>
                </a:lnTo>
                <a:lnTo>
                  <a:pt x="2066544" y="607314"/>
                </a:lnTo>
                <a:lnTo>
                  <a:pt x="2066544" y="0"/>
                </a:lnTo>
                <a:close/>
              </a:path>
            </a:pathLst>
          </a:custGeom>
          <a:solidFill>
            <a:srgbClr val="4C64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581150" y="6437376"/>
            <a:ext cx="0" cy="606551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647694" y="6243066"/>
            <a:ext cx="0" cy="607314"/>
          </a:xfrm>
          <a:custGeom>
            <a:avLst/>
            <a:gdLst/>
            <a:ahLst/>
            <a:cxnLst/>
            <a:rect l="l" t="t" r="r" b="b"/>
            <a:pathLst>
              <a:path h="607313">
                <a:moveTo>
                  <a:pt x="0" y="607314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448562" y="6096762"/>
            <a:ext cx="2199132" cy="342138"/>
          </a:xfrm>
          <a:custGeom>
            <a:avLst/>
            <a:gdLst/>
            <a:ahLst/>
            <a:cxnLst/>
            <a:rect l="l" t="t" r="r" b="b"/>
            <a:pathLst>
              <a:path w="2199132" h="342138">
                <a:moveTo>
                  <a:pt x="132587" y="342138"/>
                </a:moveTo>
                <a:lnTo>
                  <a:pt x="2199132" y="146303"/>
                </a:lnTo>
                <a:lnTo>
                  <a:pt x="74675" y="0"/>
                </a:lnTo>
                <a:lnTo>
                  <a:pt x="56387" y="18287"/>
                </a:lnTo>
                <a:lnTo>
                  <a:pt x="47243" y="28955"/>
                </a:lnTo>
                <a:lnTo>
                  <a:pt x="39624" y="38100"/>
                </a:lnTo>
                <a:lnTo>
                  <a:pt x="33528" y="47243"/>
                </a:lnTo>
                <a:lnTo>
                  <a:pt x="25907" y="57912"/>
                </a:lnTo>
                <a:lnTo>
                  <a:pt x="21335" y="67055"/>
                </a:lnTo>
                <a:lnTo>
                  <a:pt x="15240" y="77724"/>
                </a:lnTo>
                <a:lnTo>
                  <a:pt x="12191" y="86867"/>
                </a:lnTo>
                <a:lnTo>
                  <a:pt x="7619" y="97536"/>
                </a:lnTo>
                <a:lnTo>
                  <a:pt x="4571" y="106679"/>
                </a:lnTo>
                <a:lnTo>
                  <a:pt x="3047" y="117348"/>
                </a:lnTo>
                <a:lnTo>
                  <a:pt x="1524" y="126491"/>
                </a:lnTo>
                <a:lnTo>
                  <a:pt x="0" y="137160"/>
                </a:lnTo>
                <a:lnTo>
                  <a:pt x="0" y="156972"/>
                </a:lnTo>
                <a:lnTo>
                  <a:pt x="1524" y="166115"/>
                </a:lnTo>
                <a:lnTo>
                  <a:pt x="3047" y="176784"/>
                </a:lnTo>
                <a:lnTo>
                  <a:pt x="4571" y="185927"/>
                </a:lnTo>
                <a:lnTo>
                  <a:pt x="7619" y="196596"/>
                </a:lnTo>
                <a:lnTo>
                  <a:pt x="12191" y="205739"/>
                </a:lnTo>
                <a:lnTo>
                  <a:pt x="15240" y="216408"/>
                </a:lnTo>
                <a:lnTo>
                  <a:pt x="21335" y="225551"/>
                </a:lnTo>
                <a:lnTo>
                  <a:pt x="25907" y="236220"/>
                </a:lnTo>
                <a:lnTo>
                  <a:pt x="33528" y="245363"/>
                </a:lnTo>
                <a:lnTo>
                  <a:pt x="39624" y="256032"/>
                </a:lnTo>
                <a:lnTo>
                  <a:pt x="47243" y="265175"/>
                </a:lnTo>
                <a:lnTo>
                  <a:pt x="56387" y="274320"/>
                </a:lnTo>
                <a:lnTo>
                  <a:pt x="65531" y="285750"/>
                </a:lnTo>
                <a:lnTo>
                  <a:pt x="74675" y="294893"/>
                </a:lnTo>
                <a:lnTo>
                  <a:pt x="96012" y="313182"/>
                </a:lnTo>
                <a:lnTo>
                  <a:pt x="106679" y="323850"/>
                </a:lnTo>
                <a:lnTo>
                  <a:pt x="118872" y="332993"/>
                </a:lnTo>
                <a:lnTo>
                  <a:pt x="132587" y="342138"/>
                </a:lnTo>
                <a:close/>
              </a:path>
            </a:pathLst>
          </a:custGeom>
          <a:solidFill>
            <a:srgbClr val="99CB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448562" y="6233922"/>
            <a:ext cx="0" cy="19812"/>
          </a:xfrm>
          <a:custGeom>
            <a:avLst/>
            <a:gdLst/>
            <a:ahLst/>
            <a:cxnLst/>
            <a:rect l="l" t="t" r="r" b="b"/>
            <a:pathLst>
              <a:path h="19812">
                <a:moveTo>
                  <a:pt x="0" y="19812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700022" y="6504432"/>
            <a:ext cx="1423415" cy="955547"/>
          </a:xfrm>
          <a:custGeom>
            <a:avLst/>
            <a:gdLst/>
            <a:ahLst/>
            <a:cxnLst/>
            <a:rect l="l" t="t" r="r" b="b"/>
            <a:pathLst>
              <a:path w="1423415" h="955548">
                <a:moveTo>
                  <a:pt x="1423415" y="955547"/>
                </a:moveTo>
                <a:lnTo>
                  <a:pt x="1423415" y="348995"/>
                </a:lnTo>
                <a:lnTo>
                  <a:pt x="1350264" y="342899"/>
                </a:lnTo>
                <a:lnTo>
                  <a:pt x="1313688" y="339851"/>
                </a:lnTo>
                <a:lnTo>
                  <a:pt x="1278635" y="336803"/>
                </a:lnTo>
                <a:lnTo>
                  <a:pt x="1242059" y="333755"/>
                </a:lnTo>
                <a:lnTo>
                  <a:pt x="1171955" y="324611"/>
                </a:lnTo>
                <a:lnTo>
                  <a:pt x="1136903" y="321563"/>
                </a:lnTo>
                <a:lnTo>
                  <a:pt x="1101852" y="316991"/>
                </a:lnTo>
                <a:lnTo>
                  <a:pt x="1068323" y="312419"/>
                </a:lnTo>
                <a:lnTo>
                  <a:pt x="1033271" y="307847"/>
                </a:lnTo>
                <a:lnTo>
                  <a:pt x="966215" y="298703"/>
                </a:lnTo>
                <a:lnTo>
                  <a:pt x="934211" y="292607"/>
                </a:lnTo>
                <a:lnTo>
                  <a:pt x="900683" y="288035"/>
                </a:lnTo>
                <a:lnTo>
                  <a:pt x="868679" y="281939"/>
                </a:lnTo>
                <a:lnTo>
                  <a:pt x="836676" y="277367"/>
                </a:lnTo>
                <a:lnTo>
                  <a:pt x="804671" y="271271"/>
                </a:lnTo>
                <a:lnTo>
                  <a:pt x="774191" y="265175"/>
                </a:lnTo>
                <a:lnTo>
                  <a:pt x="742188" y="260603"/>
                </a:lnTo>
                <a:lnTo>
                  <a:pt x="711707" y="254507"/>
                </a:lnTo>
                <a:lnTo>
                  <a:pt x="682751" y="248411"/>
                </a:lnTo>
                <a:lnTo>
                  <a:pt x="652271" y="240791"/>
                </a:lnTo>
                <a:lnTo>
                  <a:pt x="594359" y="228599"/>
                </a:lnTo>
                <a:lnTo>
                  <a:pt x="566927" y="220979"/>
                </a:lnTo>
                <a:lnTo>
                  <a:pt x="537971" y="214883"/>
                </a:lnTo>
                <a:lnTo>
                  <a:pt x="510539" y="207263"/>
                </a:lnTo>
                <a:lnTo>
                  <a:pt x="484631" y="201167"/>
                </a:lnTo>
                <a:lnTo>
                  <a:pt x="457200" y="193547"/>
                </a:lnTo>
                <a:lnTo>
                  <a:pt x="431291" y="185927"/>
                </a:lnTo>
                <a:lnTo>
                  <a:pt x="406907" y="178307"/>
                </a:lnTo>
                <a:lnTo>
                  <a:pt x="381000" y="170687"/>
                </a:lnTo>
                <a:lnTo>
                  <a:pt x="356615" y="163067"/>
                </a:lnTo>
                <a:lnTo>
                  <a:pt x="333755" y="155447"/>
                </a:lnTo>
                <a:lnTo>
                  <a:pt x="309371" y="147827"/>
                </a:lnTo>
                <a:lnTo>
                  <a:pt x="286511" y="140207"/>
                </a:lnTo>
                <a:lnTo>
                  <a:pt x="265175" y="131063"/>
                </a:lnTo>
                <a:lnTo>
                  <a:pt x="242315" y="123443"/>
                </a:lnTo>
                <a:lnTo>
                  <a:pt x="222503" y="115823"/>
                </a:lnTo>
                <a:lnTo>
                  <a:pt x="201167" y="106679"/>
                </a:lnTo>
                <a:lnTo>
                  <a:pt x="181355" y="99059"/>
                </a:lnTo>
                <a:lnTo>
                  <a:pt x="161544" y="89915"/>
                </a:lnTo>
                <a:lnTo>
                  <a:pt x="143255" y="80771"/>
                </a:lnTo>
                <a:lnTo>
                  <a:pt x="124967" y="73151"/>
                </a:lnTo>
                <a:lnTo>
                  <a:pt x="106679" y="64007"/>
                </a:lnTo>
                <a:lnTo>
                  <a:pt x="73151" y="45719"/>
                </a:lnTo>
                <a:lnTo>
                  <a:pt x="57911" y="36575"/>
                </a:lnTo>
                <a:lnTo>
                  <a:pt x="41147" y="27431"/>
                </a:lnTo>
                <a:lnTo>
                  <a:pt x="0" y="0"/>
                </a:lnTo>
                <a:lnTo>
                  <a:pt x="0" y="606551"/>
                </a:lnTo>
                <a:lnTo>
                  <a:pt x="41147" y="633983"/>
                </a:lnTo>
                <a:lnTo>
                  <a:pt x="57911" y="643127"/>
                </a:lnTo>
                <a:lnTo>
                  <a:pt x="73151" y="652271"/>
                </a:lnTo>
                <a:lnTo>
                  <a:pt x="106679" y="670559"/>
                </a:lnTo>
                <a:lnTo>
                  <a:pt x="124967" y="679703"/>
                </a:lnTo>
                <a:lnTo>
                  <a:pt x="143255" y="687323"/>
                </a:lnTo>
                <a:lnTo>
                  <a:pt x="161544" y="696467"/>
                </a:lnTo>
                <a:lnTo>
                  <a:pt x="181355" y="705611"/>
                </a:lnTo>
                <a:lnTo>
                  <a:pt x="201167" y="713231"/>
                </a:lnTo>
                <a:lnTo>
                  <a:pt x="222503" y="722375"/>
                </a:lnTo>
                <a:lnTo>
                  <a:pt x="242315" y="729995"/>
                </a:lnTo>
                <a:lnTo>
                  <a:pt x="265175" y="737615"/>
                </a:lnTo>
                <a:lnTo>
                  <a:pt x="286511" y="746759"/>
                </a:lnTo>
                <a:lnTo>
                  <a:pt x="309371" y="754379"/>
                </a:lnTo>
                <a:lnTo>
                  <a:pt x="333755" y="761999"/>
                </a:lnTo>
                <a:lnTo>
                  <a:pt x="356615" y="769619"/>
                </a:lnTo>
                <a:lnTo>
                  <a:pt x="381000" y="777239"/>
                </a:lnTo>
                <a:lnTo>
                  <a:pt x="406907" y="784859"/>
                </a:lnTo>
                <a:lnTo>
                  <a:pt x="431291" y="792479"/>
                </a:lnTo>
                <a:lnTo>
                  <a:pt x="457200" y="800099"/>
                </a:lnTo>
                <a:lnTo>
                  <a:pt x="484631" y="807719"/>
                </a:lnTo>
                <a:lnTo>
                  <a:pt x="510539" y="813815"/>
                </a:lnTo>
                <a:lnTo>
                  <a:pt x="537971" y="821435"/>
                </a:lnTo>
                <a:lnTo>
                  <a:pt x="566927" y="827531"/>
                </a:lnTo>
                <a:lnTo>
                  <a:pt x="594359" y="835151"/>
                </a:lnTo>
                <a:lnTo>
                  <a:pt x="652271" y="847343"/>
                </a:lnTo>
                <a:lnTo>
                  <a:pt x="682751" y="854963"/>
                </a:lnTo>
                <a:lnTo>
                  <a:pt x="711707" y="861059"/>
                </a:lnTo>
                <a:lnTo>
                  <a:pt x="742188" y="867155"/>
                </a:lnTo>
                <a:lnTo>
                  <a:pt x="774191" y="871727"/>
                </a:lnTo>
                <a:lnTo>
                  <a:pt x="804671" y="877823"/>
                </a:lnTo>
                <a:lnTo>
                  <a:pt x="836676" y="883919"/>
                </a:lnTo>
                <a:lnTo>
                  <a:pt x="868679" y="888491"/>
                </a:lnTo>
                <a:lnTo>
                  <a:pt x="900683" y="894587"/>
                </a:lnTo>
                <a:lnTo>
                  <a:pt x="934211" y="899159"/>
                </a:lnTo>
                <a:lnTo>
                  <a:pt x="966215" y="905255"/>
                </a:lnTo>
                <a:lnTo>
                  <a:pt x="1033271" y="914399"/>
                </a:lnTo>
                <a:lnTo>
                  <a:pt x="1068323" y="918971"/>
                </a:lnTo>
                <a:lnTo>
                  <a:pt x="1101852" y="923543"/>
                </a:lnTo>
                <a:lnTo>
                  <a:pt x="1136903" y="928115"/>
                </a:lnTo>
                <a:lnTo>
                  <a:pt x="1171955" y="931163"/>
                </a:lnTo>
                <a:lnTo>
                  <a:pt x="1242059" y="940307"/>
                </a:lnTo>
                <a:lnTo>
                  <a:pt x="1278635" y="943355"/>
                </a:lnTo>
                <a:lnTo>
                  <a:pt x="1313688" y="946403"/>
                </a:lnTo>
                <a:lnTo>
                  <a:pt x="1350264" y="949451"/>
                </a:lnTo>
                <a:lnTo>
                  <a:pt x="1386839" y="952499"/>
                </a:lnTo>
                <a:lnTo>
                  <a:pt x="1423415" y="955547"/>
                </a:lnTo>
                <a:close/>
              </a:path>
            </a:pathLst>
          </a:custGeom>
          <a:solidFill>
            <a:srgbClr val="64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700022" y="6504432"/>
            <a:ext cx="0" cy="606551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123438" y="6853428"/>
            <a:ext cx="0" cy="606552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606552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123438" y="6308598"/>
            <a:ext cx="643127" cy="1151382"/>
          </a:xfrm>
          <a:custGeom>
            <a:avLst/>
            <a:gdLst/>
            <a:ahLst/>
            <a:cxnLst/>
            <a:rect l="l" t="t" r="r" b="b"/>
            <a:pathLst>
              <a:path w="643127" h="1151381">
                <a:moveTo>
                  <a:pt x="643127" y="0"/>
                </a:moveTo>
                <a:lnTo>
                  <a:pt x="0" y="544829"/>
                </a:lnTo>
                <a:lnTo>
                  <a:pt x="0" y="1151382"/>
                </a:lnTo>
                <a:lnTo>
                  <a:pt x="643127" y="607313"/>
                </a:lnTo>
                <a:lnTo>
                  <a:pt x="643127" y="0"/>
                </a:lnTo>
                <a:close/>
              </a:path>
            </a:pathLst>
          </a:custGeom>
          <a:solidFill>
            <a:srgbClr val="64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123438" y="6853428"/>
            <a:ext cx="0" cy="606552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766566" y="6308598"/>
            <a:ext cx="0" cy="607313"/>
          </a:xfrm>
          <a:custGeom>
            <a:avLst/>
            <a:gdLst/>
            <a:ahLst/>
            <a:cxnLst/>
            <a:rect l="l" t="t" r="r" b="b"/>
            <a:pathLst>
              <a:path h="607313">
                <a:moveTo>
                  <a:pt x="0" y="607313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700022" y="6308598"/>
            <a:ext cx="2066543" cy="544829"/>
          </a:xfrm>
          <a:custGeom>
            <a:avLst/>
            <a:gdLst/>
            <a:ahLst/>
            <a:cxnLst/>
            <a:rect l="l" t="t" r="r" b="b"/>
            <a:pathLst>
              <a:path w="2066543" h="544829">
                <a:moveTo>
                  <a:pt x="2066543" y="0"/>
                </a:moveTo>
                <a:lnTo>
                  <a:pt x="0" y="195834"/>
                </a:lnTo>
                <a:lnTo>
                  <a:pt x="41147" y="223265"/>
                </a:lnTo>
                <a:lnTo>
                  <a:pt x="57911" y="232410"/>
                </a:lnTo>
                <a:lnTo>
                  <a:pt x="73151" y="241553"/>
                </a:lnTo>
                <a:lnTo>
                  <a:pt x="106679" y="259841"/>
                </a:lnTo>
                <a:lnTo>
                  <a:pt x="124967" y="268986"/>
                </a:lnTo>
                <a:lnTo>
                  <a:pt x="143255" y="276605"/>
                </a:lnTo>
                <a:lnTo>
                  <a:pt x="161544" y="285750"/>
                </a:lnTo>
                <a:lnTo>
                  <a:pt x="181355" y="294893"/>
                </a:lnTo>
                <a:lnTo>
                  <a:pt x="201167" y="302513"/>
                </a:lnTo>
                <a:lnTo>
                  <a:pt x="222503" y="311657"/>
                </a:lnTo>
                <a:lnTo>
                  <a:pt x="242315" y="319277"/>
                </a:lnTo>
                <a:lnTo>
                  <a:pt x="265175" y="326898"/>
                </a:lnTo>
                <a:lnTo>
                  <a:pt x="286511" y="336041"/>
                </a:lnTo>
                <a:lnTo>
                  <a:pt x="309371" y="343662"/>
                </a:lnTo>
                <a:lnTo>
                  <a:pt x="333755" y="351281"/>
                </a:lnTo>
                <a:lnTo>
                  <a:pt x="356615" y="358901"/>
                </a:lnTo>
                <a:lnTo>
                  <a:pt x="381000" y="366522"/>
                </a:lnTo>
                <a:lnTo>
                  <a:pt x="406907" y="374141"/>
                </a:lnTo>
                <a:lnTo>
                  <a:pt x="431291" y="381762"/>
                </a:lnTo>
                <a:lnTo>
                  <a:pt x="457200" y="389381"/>
                </a:lnTo>
                <a:lnTo>
                  <a:pt x="484631" y="397001"/>
                </a:lnTo>
                <a:lnTo>
                  <a:pt x="510539" y="403098"/>
                </a:lnTo>
                <a:lnTo>
                  <a:pt x="537971" y="410717"/>
                </a:lnTo>
                <a:lnTo>
                  <a:pt x="566927" y="416813"/>
                </a:lnTo>
                <a:lnTo>
                  <a:pt x="594359" y="424434"/>
                </a:lnTo>
                <a:lnTo>
                  <a:pt x="652271" y="436625"/>
                </a:lnTo>
                <a:lnTo>
                  <a:pt x="682751" y="444246"/>
                </a:lnTo>
                <a:lnTo>
                  <a:pt x="711707" y="450341"/>
                </a:lnTo>
                <a:lnTo>
                  <a:pt x="742188" y="456438"/>
                </a:lnTo>
                <a:lnTo>
                  <a:pt x="774191" y="461010"/>
                </a:lnTo>
                <a:lnTo>
                  <a:pt x="804671" y="467105"/>
                </a:lnTo>
                <a:lnTo>
                  <a:pt x="836676" y="473201"/>
                </a:lnTo>
                <a:lnTo>
                  <a:pt x="868679" y="477774"/>
                </a:lnTo>
                <a:lnTo>
                  <a:pt x="900683" y="483869"/>
                </a:lnTo>
                <a:lnTo>
                  <a:pt x="934211" y="488441"/>
                </a:lnTo>
                <a:lnTo>
                  <a:pt x="966215" y="494538"/>
                </a:lnTo>
                <a:lnTo>
                  <a:pt x="1033271" y="503681"/>
                </a:lnTo>
                <a:lnTo>
                  <a:pt x="1068323" y="508253"/>
                </a:lnTo>
                <a:lnTo>
                  <a:pt x="1101852" y="512825"/>
                </a:lnTo>
                <a:lnTo>
                  <a:pt x="1136903" y="517397"/>
                </a:lnTo>
                <a:lnTo>
                  <a:pt x="1171955" y="520445"/>
                </a:lnTo>
                <a:lnTo>
                  <a:pt x="1242059" y="529589"/>
                </a:lnTo>
                <a:lnTo>
                  <a:pt x="1278635" y="532638"/>
                </a:lnTo>
                <a:lnTo>
                  <a:pt x="1313688" y="535685"/>
                </a:lnTo>
                <a:lnTo>
                  <a:pt x="1350264" y="538733"/>
                </a:lnTo>
                <a:lnTo>
                  <a:pt x="1423415" y="544829"/>
                </a:lnTo>
                <a:lnTo>
                  <a:pt x="2066543" y="0"/>
                </a:lnTo>
                <a:close/>
              </a:path>
            </a:pathLst>
          </a:custGeom>
          <a:solidFill>
            <a:srgbClr val="CCFE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161282" y="5741670"/>
            <a:ext cx="1527047" cy="1015745"/>
          </a:xfrm>
          <a:custGeom>
            <a:avLst/>
            <a:gdLst/>
            <a:ahLst/>
            <a:cxnLst/>
            <a:rect l="l" t="t" r="r" b="b"/>
            <a:pathLst>
              <a:path w="1527047" h="1015745">
                <a:moveTo>
                  <a:pt x="0" y="408431"/>
                </a:moveTo>
                <a:lnTo>
                  <a:pt x="0" y="1015745"/>
                </a:lnTo>
                <a:lnTo>
                  <a:pt x="1527047" y="606551"/>
                </a:lnTo>
                <a:lnTo>
                  <a:pt x="1527047" y="0"/>
                </a:lnTo>
                <a:lnTo>
                  <a:pt x="0" y="408431"/>
                </a:lnTo>
                <a:close/>
              </a:path>
            </a:pathLst>
          </a:custGeom>
          <a:solidFill>
            <a:srgbClr val="4D4D8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688330" y="5741670"/>
            <a:ext cx="0" cy="606551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61282" y="6150102"/>
            <a:ext cx="0" cy="607313"/>
          </a:xfrm>
          <a:custGeom>
            <a:avLst/>
            <a:gdLst/>
            <a:ahLst/>
            <a:cxnLst/>
            <a:rect l="l" t="t" r="r" b="b"/>
            <a:pathLst>
              <a:path h="607313">
                <a:moveTo>
                  <a:pt x="0" y="607313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161282" y="5581650"/>
            <a:ext cx="1527047" cy="568451"/>
          </a:xfrm>
          <a:custGeom>
            <a:avLst/>
            <a:gdLst/>
            <a:ahLst/>
            <a:cxnLst/>
            <a:rect l="l" t="t" r="r" b="b"/>
            <a:pathLst>
              <a:path w="1527047" h="568451">
                <a:moveTo>
                  <a:pt x="1527047" y="160020"/>
                </a:moveTo>
                <a:lnTo>
                  <a:pt x="1499615" y="152400"/>
                </a:lnTo>
                <a:lnTo>
                  <a:pt x="1470659" y="146303"/>
                </a:lnTo>
                <a:lnTo>
                  <a:pt x="1441703" y="138684"/>
                </a:lnTo>
                <a:lnTo>
                  <a:pt x="1383791" y="126491"/>
                </a:lnTo>
                <a:lnTo>
                  <a:pt x="1292352" y="108203"/>
                </a:lnTo>
                <a:lnTo>
                  <a:pt x="1260347" y="102108"/>
                </a:lnTo>
                <a:lnTo>
                  <a:pt x="1229867" y="97536"/>
                </a:lnTo>
                <a:lnTo>
                  <a:pt x="1197864" y="91439"/>
                </a:lnTo>
                <a:lnTo>
                  <a:pt x="1164335" y="86867"/>
                </a:lnTo>
                <a:lnTo>
                  <a:pt x="1132331" y="80772"/>
                </a:lnTo>
                <a:lnTo>
                  <a:pt x="1098803" y="76200"/>
                </a:lnTo>
                <a:lnTo>
                  <a:pt x="1065276" y="71627"/>
                </a:lnTo>
                <a:lnTo>
                  <a:pt x="1031747" y="65532"/>
                </a:lnTo>
                <a:lnTo>
                  <a:pt x="998219" y="60960"/>
                </a:lnTo>
                <a:lnTo>
                  <a:pt x="963167" y="57912"/>
                </a:lnTo>
                <a:lnTo>
                  <a:pt x="929639" y="53339"/>
                </a:lnTo>
                <a:lnTo>
                  <a:pt x="894588" y="48767"/>
                </a:lnTo>
                <a:lnTo>
                  <a:pt x="859535" y="44196"/>
                </a:lnTo>
                <a:lnTo>
                  <a:pt x="822959" y="41148"/>
                </a:lnTo>
                <a:lnTo>
                  <a:pt x="787907" y="38100"/>
                </a:lnTo>
                <a:lnTo>
                  <a:pt x="751331" y="33527"/>
                </a:lnTo>
                <a:lnTo>
                  <a:pt x="716279" y="30479"/>
                </a:lnTo>
                <a:lnTo>
                  <a:pt x="643127" y="24384"/>
                </a:lnTo>
                <a:lnTo>
                  <a:pt x="606551" y="21336"/>
                </a:lnTo>
                <a:lnTo>
                  <a:pt x="568451" y="18287"/>
                </a:lnTo>
                <a:lnTo>
                  <a:pt x="531876" y="16763"/>
                </a:lnTo>
                <a:lnTo>
                  <a:pt x="493775" y="13715"/>
                </a:lnTo>
                <a:lnTo>
                  <a:pt x="457200" y="12191"/>
                </a:lnTo>
                <a:lnTo>
                  <a:pt x="419100" y="10667"/>
                </a:lnTo>
                <a:lnTo>
                  <a:pt x="381000" y="7620"/>
                </a:lnTo>
                <a:lnTo>
                  <a:pt x="342900" y="6096"/>
                </a:lnTo>
                <a:lnTo>
                  <a:pt x="306323" y="4572"/>
                </a:lnTo>
                <a:lnTo>
                  <a:pt x="268223" y="4572"/>
                </a:lnTo>
                <a:lnTo>
                  <a:pt x="230123" y="3048"/>
                </a:lnTo>
                <a:lnTo>
                  <a:pt x="192023" y="1524"/>
                </a:lnTo>
                <a:lnTo>
                  <a:pt x="152400" y="1524"/>
                </a:lnTo>
                <a:lnTo>
                  <a:pt x="114300" y="0"/>
                </a:lnTo>
                <a:lnTo>
                  <a:pt x="0" y="0"/>
                </a:lnTo>
                <a:lnTo>
                  <a:pt x="0" y="568451"/>
                </a:lnTo>
                <a:lnTo>
                  <a:pt x="1527047" y="160020"/>
                </a:lnTo>
                <a:close/>
              </a:path>
            </a:pathLst>
          </a:custGeom>
          <a:solidFill>
            <a:srgbClr val="999A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161282" y="558165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313682" y="5583174"/>
            <a:ext cx="39623" cy="0"/>
          </a:xfrm>
          <a:custGeom>
            <a:avLst/>
            <a:gdLst/>
            <a:ahLst/>
            <a:cxnLst/>
            <a:rect l="l" t="t" r="r" b="b"/>
            <a:pathLst>
              <a:path w="39623">
                <a:moveTo>
                  <a:pt x="0" y="0"/>
                </a:moveTo>
                <a:lnTo>
                  <a:pt x="39623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429506" y="558622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161282" y="5581650"/>
            <a:ext cx="0" cy="568451"/>
          </a:xfrm>
          <a:custGeom>
            <a:avLst/>
            <a:gdLst/>
            <a:ahLst/>
            <a:cxnLst/>
            <a:rect l="l" t="t" r="r" b="b"/>
            <a:pathLst>
              <a:path h="568451">
                <a:moveTo>
                  <a:pt x="0" y="568451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364986" y="6232398"/>
            <a:ext cx="222504" cy="846582"/>
          </a:xfrm>
          <a:custGeom>
            <a:avLst/>
            <a:gdLst/>
            <a:ahLst/>
            <a:cxnLst/>
            <a:rect l="l" t="t" r="r" b="b"/>
            <a:pathLst>
              <a:path w="222504" h="846581">
                <a:moveTo>
                  <a:pt x="16763" y="837438"/>
                </a:moveTo>
                <a:lnTo>
                  <a:pt x="62484" y="810006"/>
                </a:lnTo>
                <a:lnTo>
                  <a:pt x="89915" y="791718"/>
                </a:lnTo>
                <a:lnTo>
                  <a:pt x="114300" y="773429"/>
                </a:lnTo>
                <a:lnTo>
                  <a:pt x="126491" y="762762"/>
                </a:lnTo>
                <a:lnTo>
                  <a:pt x="147828" y="744474"/>
                </a:lnTo>
                <a:lnTo>
                  <a:pt x="156971" y="735329"/>
                </a:lnTo>
                <a:lnTo>
                  <a:pt x="166115" y="724662"/>
                </a:lnTo>
                <a:lnTo>
                  <a:pt x="181356" y="706374"/>
                </a:lnTo>
                <a:lnTo>
                  <a:pt x="188975" y="695706"/>
                </a:lnTo>
                <a:lnTo>
                  <a:pt x="195071" y="686562"/>
                </a:lnTo>
                <a:lnTo>
                  <a:pt x="201167" y="675894"/>
                </a:lnTo>
                <a:lnTo>
                  <a:pt x="205739" y="666750"/>
                </a:lnTo>
                <a:lnTo>
                  <a:pt x="210312" y="656082"/>
                </a:lnTo>
                <a:lnTo>
                  <a:pt x="213360" y="646938"/>
                </a:lnTo>
                <a:lnTo>
                  <a:pt x="216408" y="636269"/>
                </a:lnTo>
                <a:lnTo>
                  <a:pt x="219456" y="627126"/>
                </a:lnTo>
                <a:lnTo>
                  <a:pt x="220980" y="616457"/>
                </a:lnTo>
                <a:lnTo>
                  <a:pt x="222504" y="607313"/>
                </a:lnTo>
                <a:lnTo>
                  <a:pt x="222504" y="0"/>
                </a:lnTo>
                <a:lnTo>
                  <a:pt x="220980" y="9143"/>
                </a:lnTo>
                <a:lnTo>
                  <a:pt x="219456" y="19812"/>
                </a:lnTo>
                <a:lnTo>
                  <a:pt x="216408" y="28955"/>
                </a:lnTo>
                <a:lnTo>
                  <a:pt x="213360" y="39624"/>
                </a:lnTo>
                <a:lnTo>
                  <a:pt x="210312" y="48767"/>
                </a:lnTo>
                <a:lnTo>
                  <a:pt x="205739" y="59436"/>
                </a:lnTo>
                <a:lnTo>
                  <a:pt x="201167" y="68579"/>
                </a:lnTo>
                <a:lnTo>
                  <a:pt x="195071" y="79248"/>
                </a:lnTo>
                <a:lnTo>
                  <a:pt x="188975" y="88391"/>
                </a:lnTo>
                <a:lnTo>
                  <a:pt x="181356" y="99060"/>
                </a:lnTo>
                <a:lnTo>
                  <a:pt x="166115" y="117348"/>
                </a:lnTo>
                <a:lnTo>
                  <a:pt x="156971" y="128015"/>
                </a:lnTo>
                <a:lnTo>
                  <a:pt x="147828" y="137160"/>
                </a:lnTo>
                <a:lnTo>
                  <a:pt x="137160" y="147065"/>
                </a:lnTo>
                <a:lnTo>
                  <a:pt x="126491" y="156210"/>
                </a:lnTo>
                <a:lnTo>
                  <a:pt x="114300" y="166877"/>
                </a:lnTo>
                <a:lnTo>
                  <a:pt x="89915" y="185165"/>
                </a:lnTo>
                <a:lnTo>
                  <a:pt x="62484" y="203453"/>
                </a:lnTo>
                <a:lnTo>
                  <a:pt x="16763" y="230886"/>
                </a:lnTo>
                <a:lnTo>
                  <a:pt x="0" y="240029"/>
                </a:lnTo>
                <a:lnTo>
                  <a:pt x="0" y="846582"/>
                </a:lnTo>
                <a:lnTo>
                  <a:pt x="16763" y="837438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587490" y="6221730"/>
            <a:ext cx="0" cy="10668"/>
          </a:xfrm>
          <a:custGeom>
            <a:avLst/>
            <a:gdLst/>
            <a:ahLst/>
            <a:cxnLst/>
            <a:rect l="l" t="t" r="r" b="b"/>
            <a:pathLst>
              <a:path h="10668">
                <a:moveTo>
                  <a:pt x="0" y="0"/>
                </a:moveTo>
                <a:lnTo>
                  <a:pt x="0" y="106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364986" y="6472428"/>
            <a:ext cx="0" cy="606552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587490" y="6221730"/>
            <a:ext cx="0" cy="617982"/>
          </a:xfrm>
          <a:custGeom>
            <a:avLst/>
            <a:gdLst/>
            <a:ahLst/>
            <a:cxnLst/>
            <a:rect l="l" t="t" r="r" b="b"/>
            <a:pathLst>
              <a:path h="617981">
                <a:moveTo>
                  <a:pt x="0" y="617982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388358" y="6221730"/>
            <a:ext cx="1976627" cy="855726"/>
          </a:xfrm>
          <a:custGeom>
            <a:avLst/>
            <a:gdLst/>
            <a:ahLst/>
            <a:cxnLst/>
            <a:rect l="l" t="t" r="r" b="b"/>
            <a:pathLst>
              <a:path w="1976627" h="855726">
                <a:moveTo>
                  <a:pt x="0" y="0"/>
                </a:moveTo>
                <a:lnTo>
                  <a:pt x="0" y="607314"/>
                </a:lnTo>
                <a:lnTo>
                  <a:pt x="1976627" y="855726"/>
                </a:lnTo>
                <a:lnTo>
                  <a:pt x="1976627" y="249174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364986" y="6470904"/>
            <a:ext cx="0" cy="606552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388358" y="6221730"/>
            <a:ext cx="0" cy="607314"/>
          </a:xfrm>
          <a:custGeom>
            <a:avLst/>
            <a:gdLst/>
            <a:ahLst/>
            <a:cxnLst/>
            <a:rect l="l" t="t" r="r" b="b"/>
            <a:pathLst>
              <a:path h="607314">
                <a:moveTo>
                  <a:pt x="0" y="607314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388358" y="5813298"/>
            <a:ext cx="2199132" cy="659129"/>
          </a:xfrm>
          <a:custGeom>
            <a:avLst/>
            <a:gdLst/>
            <a:ahLst/>
            <a:cxnLst/>
            <a:rect l="l" t="t" r="r" b="b"/>
            <a:pathLst>
              <a:path w="2199132" h="659129">
                <a:moveTo>
                  <a:pt x="1958339" y="150875"/>
                </a:moveTo>
                <a:lnTo>
                  <a:pt x="1941576" y="141731"/>
                </a:lnTo>
                <a:lnTo>
                  <a:pt x="1923288" y="132587"/>
                </a:lnTo>
                <a:lnTo>
                  <a:pt x="1903476" y="123443"/>
                </a:lnTo>
                <a:lnTo>
                  <a:pt x="1885188" y="115824"/>
                </a:lnTo>
                <a:lnTo>
                  <a:pt x="1863852" y="106679"/>
                </a:lnTo>
                <a:lnTo>
                  <a:pt x="1844039" y="99060"/>
                </a:lnTo>
                <a:lnTo>
                  <a:pt x="1822703" y="89915"/>
                </a:lnTo>
                <a:lnTo>
                  <a:pt x="1801367" y="82296"/>
                </a:lnTo>
                <a:lnTo>
                  <a:pt x="1778507" y="74675"/>
                </a:lnTo>
                <a:lnTo>
                  <a:pt x="1755647" y="65531"/>
                </a:lnTo>
                <a:lnTo>
                  <a:pt x="1732788" y="57912"/>
                </a:lnTo>
                <a:lnTo>
                  <a:pt x="1659636" y="35051"/>
                </a:lnTo>
                <a:lnTo>
                  <a:pt x="1633727" y="27431"/>
                </a:lnTo>
                <a:lnTo>
                  <a:pt x="1607819" y="21336"/>
                </a:lnTo>
                <a:lnTo>
                  <a:pt x="1581912" y="13715"/>
                </a:lnTo>
                <a:lnTo>
                  <a:pt x="1554479" y="6096"/>
                </a:lnTo>
                <a:lnTo>
                  <a:pt x="1527047" y="0"/>
                </a:lnTo>
                <a:lnTo>
                  <a:pt x="0" y="408431"/>
                </a:lnTo>
                <a:lnTo>
                  <a:pt x="1976627" y="659129"/>
                </a:lnTo>
                <a:lnTo>
                  <a:pt x="1993391" y="649986"/>
                </a:lnTo>
                <a:lnTo>
                  <a:pt x="2039112" y="622553"/>
                </a:lnTo>
                <a:lnTo>
                  <a:pt x="2066543" y="604265"/>
                </a:lnTo>
                <a:lnTo>
                  <a:pt x="2090927" y="585977"/>
                </a:lnTo>
                <a:lnTo>
                  <a:pt x="2103119" y="575310"/>
                </a:lnTo>
                <a:lnTo>
                  <a:pt x="2113788" y="566165"/>
                </a:lnTo>
                <a:lnTo>
                  <a:pt x="2124456" y="556260"/>
                </a:lnTo>
                <a:lnTo>
                  <a:pt x="2133599" y="547115"/>
                </a:lnTo>
                <a:lnTo>
                  <a:pt x="2142743" y="536448"/>
                </a:lnTo>
                <a:lnTo>
                  <a:pt x="2157984" y="518160"/>
                </a:lnTo>
                <a:lnTo>
                  <a:pt x="2165603" y="507491"/>
                </a:lnTo>
                <a:lnTo>
                  <a:pt x="2171699" y="498348"/>
                </a:lnTo>
                <a:lnTo>
                  <a:pt x="2177795" y="487679"/>
                </a:lnTo>
                <a:lnTo>
                  <a:pt x="2182367" y="478536"/>
                </a:lnTo>
                <a:lnTo>
                  <a:pt x="2186940" y="467867"/>
                </a:lnTo>
                <a:lnTo>
                  <a:pt x="2189988" y="458724"/>
                </a:lnTo>
                <a:lnTo>
                  <a:pt x="2193036" y="448055"/>
                </a:lnTo>
                <a:lnTo>
                  <a:pt x="2196084" y="438912"/>
                </a:lnTo>
                <a:lnTo>
                  <a:pt x="2197608" y="428243"/>
                </a:lnTo>
                <a:lnTo>
                  <a:pt x="2199132" y="419100"/>
                </a:lnTo>
                <a:lnTo>
                  <a:pt x="2199132" y="399288"/>
                </a:lnTo>
                <a:lnTo>
                  <a:pt x="2197608" y="388619"/>
                </a:lnTo>
                <a:lnTo>
                  <a:pt x="2196084" y="379475"/>
                </a:lnTo>
                <a:lnTo>
                  <a:pt x="2193036" y="368807"/>
                </a:lnTo>
                <a:lnTo>
                  <a:pt x="2189988" y="359663"/>
                </a:lnTo>
                <a:lnTo>
                  <a:pt x="2186940" y="348996"/>
                </a:lnTo>
                <a:lnTo>
                  <a:pt x="2182367" y="339851"/>
                </a:lnTo>
                <a:lnTo>
                  <a:pt x="2177795" y="329184"/>
                </a:lnTo>
                <a:lnTo>
                  <a:pt x="2171699" y="320039"/>
                </a:lnTo>
                <a:lnTo>
                  <a:pt x="2165603" y="309372"/>
                </a:lnTo>
                <a:lnTo>
                  <a:pt x="2150364" y="291084"/>
                </a:lnTo>
                <a:lnTo>
                  <a:pt x="2142743" y="280415"/>
                </a:lnTo>
                <a:lnTo>
                  <a:pt x="2113788" y="251460"/>
                </a:lnTo>
                <a:lnTo>
                  <a:pt x="2103119" y="242315"/>
                </a:lnTo>
                <a:lnTo>
                  <a:pt x="2066543" y="214884"/>
                </a:lnTo>
                <a:lnTo>
                  <a:pt x="2052827" y="204215"/>
                </a:lnTo>
                <a:lnTo>
                  <a:pt x="2039112" y="195072"/>
                </a:lnTo>
                <a:lnTo>
                  <a:pt x="1993391" y="167639"/>
                </a:lnTo>
                <a:lnTo>
                  <a:pt x="1976627" y="160019"/>
                </a:lnTo>
                <a:lnTo>
                  <a:pt x="1958339" y="1508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587490" y="6212586"/>
            <a:ext cx="0" cy="19812"/>
          </a:xfrm>
          <a:custGeom>
            <a:avLst/>
            <a:gdLst/>
            <a:ahLst/>
            <a:cxnLst/>
            <a:rect l="l" t="t" r="r" b="b"/>
            <a:pathLst>
              <a:path h="19812">
                <a:moveTo>
                  <a:pt x="0" y="0"/>
                </a:moveTo>
                <a:lnTo>
                  <a:pt x="0" y="1981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530346" y="6577584"/>
            <a:ext cx="2619755" cy="926591"/>
          </a:xfrm>
          <a:custGeom>
            <a:avLst/>
            <a:gdLst/>
            <a:ahLst/>
            <a:cxnLst/>
            <a:rect l="l" t="t" r="r" b="b"/>
            <a:pathLst>
              <a:path w="2619755" h="926592">
                <a:moveTo>
                  <a:pt x="36575" y="903731"/>
                </a:moveTo>
                <a:lnTo>
                  <a:pt x="73151" y="906779"/>
                </a:lnTo>
                <a:lnTo>
                  <a:pt x="111251" y="909827"/>
                </a:lnTo>
                <a:lnTo>
                  <a:pt x="147827" y="911351"/>
                </a:lnTo>
                <a:lnTo>
                  <a:pt x="185927" y="914399"/>
                </a:lnTo>
                <a:lnTo>
                  <a:pt x="222503" y="915923"/>
                </a:lnTo>
                <a:lnTo>
                  <a:pt x="260603" y="917447"/>
                </a:lnTo>
                <a:lnTo>
                  <a:pt x="298703" y="918971"/>
                </a:lnTo>
                <a:lnTo>
                  <a:pt x="374903" y="922019"/>
                </a:lnTo>
                <a:lnTo>
                  <a:pt x="413003" y="923543"/>
                </a:lnTo>
                <a:lnTo>
                  <a:pt x="451103" y="923543"/>
                </a:lnTo>
                <a:lnTo>
                  <a:pt x="489203" y="925067"/>
                </a:lnTo>
                <a:lnTo>
                  <a:pt x="527303" y="925067"/>
                </a:lnTo>
                <a:lnTo>
                  <a:pt x="565403" y="926591"/>
                </a:lnTo>
                <a:lnTo>
                  <a:pt x="719327" y="926591"/>
                </a:lnTo>
                <a:lnTo>
                  <a:pt x="757427" y="925067"/>
                </a:lnTo>
                <a:lnTo>
                  <a:pt x="795527" y="925067"/>
                </a:lnTo>
                <a:lnTo>
                  <a:pt x="835151" y="923543"/>
                </a:lnTo>
                <a:lnTo>
                  <a:pt x="873251" y="923543"/>
                </a:lnTo>
                <a:lnTo>
                  <a:pt x="911351" y="922019"/>
                </a:lnTo>
                <a:lnTo>
                  <a:pt x="949451" y="920495"/>
                </a:lnTo>
                <a:lnTo>
                  <a:pt x="986027" y="918971"/>
                </a:lnTo>
                <a:lnTo>
                  <a:pt x="1024127" y="917447"/>
                </a:lnTo>
                <a:lnTo>
                  <a:pt x="1100327" y="914399"/>
                </a:lnTo>
                <a:lnTo>
                  <a:pt x="1136903" y="911351"/>
                </a:lnTo>
                <a:lnTo>
                  <a:pt x="1175003" y="909827"/>
                </a:lnTo>
                <a:lnTo>
                  <a:pt x="1211579" y="906779"/>
                </a:lnTo>
                <a:lnTo>
                  <a:pt x="1249679" y="903731"/>
                </a:lnTo>
                <a:lnTo>
                  <a:pt x="1322831" y="897635"/>
                </a:lnTo>
                <a:lnTo>
                  <a:pt x="1359407" y="894587"/>
                </a:lnTo>
                <a:lnTo>
                  <a:pt x="1394459" y="891539"/>
                </a:lnTo>
                <a:lnTo>
                  <a:pt x="1431036" y="888491"/>
                </a:lnTo>
                <a:lnTo>
                  <a:pt x="1466088" y="885443"/>
                </a:lnTo>
                <a:lnTo>
                  <a:pt x="1502664" y="880871"/>
                </a:lnTo>
                <a:lnTo>
                  <a:pt x="1537715" y="876299"/>
                </a:lnTo>
                <a:lnTo>
                  <a:pt x="1572767" y="873251"/>
                </a:lnTo>
                <a:lnTo>
                  <a:pt x="1606295" y="868679"/>
                </a:lnTo>
                <a:lnTo>
                  <a:pt x="1641348" y="864107"/>
                </a:lnTo>
                <a:lnTo>
                  <a:pt x="1741931" y="850391"/>
                </a:lnTo>
                <a:lnTo>
                  <a:pt x="1775459" y="844295"/>
                </a:lnTo>
                <a:lnTo>
                  <a:pt x="1807464" y="839723"/>
                </a:lnTo>
                <a:lnTo>
                  <a:pt x="1840991" y="833627"/>
                </a:lnTo>
                <a:lnTo>
                  <a:pt x="1872995" y="829055"/>
                </a:lnTo>
                <a:lnTo>
                  <a:pt x="1903476" y="822959"/>
                </a:lnTo>
                <a:lnTo>
                  <a:pt x="1935479" y="816863"/>
                </a:lnTo>
                <a:lnTo>
                  <a:pt x="1965959" y="812291"/>
                </a:lnTo>
                <a:lnTo>
                  <a:pt x="2026919" y="800099"/>
                </a:lnTo>
                <a:lnTo>
                  <a:pt x="2055876" y="792479"/>
                </a:lnTo>
                <a:lnTo>
                  <a:pt x="2113788" y="780287"/>
                </a:lnTo>
                <a:lnTo>
                  <a:pt x="2142743" y="772667"/>
                </a:lnTo>
                <a:lnTo>
                  <a:pt x="2170176" y="766571"/>
                </a:lnTo>
                <a:lnTo>
                  <a:pt x="2197607" y="758951"/>
                </a:lnTo>
                <a:lnTo>
                  <a:pt x="2225040" y="752855"/>
                </a:lnTo>
                <a:lnTo>
                  <a:pt x="2302764" y="729995"/>
                </a:lnTo>
                <a:lnTo>
                  <a:pt x="2375916" y="707135"/>
                </a:lnTo>
                <a:lnTo>
                  <a:pt x="2421636" y="691895"/>
                </a:lnTo>
                <a:lnTo>
                  <a:pt x="2444495" y="682751"/>
                </a:lnTo>
                <a:lnTo>
                  <a:pt x="2487167" y="667511"/>
                </a:lnTo>
                <a:lnTo>
                  <a:pt x="2506979" y="658367"/>
                </a:lnTo>
                <a:lnTo>
                  <a:pt x="2528316" y="650747"/>
                </a:lnTo>
                <a:lnTo>
                  <a:pt x="2546604" y="641603"/>
                </a:lnTo>
                <a:lnTo>
                  <a:pt x="2566416" y="632459"/>
                </a:lnTo>
                <a:lnTo>
                  <a:pt x="2584704" y="624839"/>
                </a:lnTo>
                <a:lnTo>
                  <a:pt x="2601467" y="615695"/>
                </a:lnTo>
                <a:lnTo>
                  <a:pt x="2619755" y="606551"/>
                </a:lnTo>
                <a:lnTo>
                  <a:pt x="2619755" y="0"/>
                </a:lnTo>
                <a:lnTo>
                  <a:pt x="2601467" y="9143"/>
                </a:lnTo>
                <a:lnTo>
                  <a:pt x="2584704" y="18287"/>
                </a:lnTo>
                <a:lnTo>
                  <a:pt x="2566416" y="25907"/>
                </a:lnTo>
                <a:lnTo>
                  <a:pt x="2546604" y="35051"/>
                </a:lnTo>
                <a:lnTo>
                  <a:pt x="2528316" y="44195"/>
                </a:lnTo>
                <a:lnTo>
                  <a:pt x="2506979" y="51815"/>
                </a:lnTo>
                <a:lnTo>
                  <a:pt x="2487167" y="60959"/>
                </a:lnTo>
                <a:lnTo>
                  <a:pt x="2444495" y="76199"/>
                </a:lnTo>
                <a:lnTo>
                  <a:pt x="2421636" y="85343"/>
                </a:lnTo>
                <a:lnTo>
                  <a:pt x="2375916" y="100583"/>
                </a:lnTo>
                <a:lnTo>
                  <a:pt x="2302764" y="123443"/>
                </a:lnTo>
                <a:lnTo>
                  <a:pt x="2225040" y="146303"/>
                </a:lnTo>
                <a:lnTo>
                  <a:pt x="2197607" y="152399"/>
                </a:lnTo>
                <a:lnTo>
                  <a:pt x="2170176" y="160019"/>
                </a:lnTo>
                <a:lnTo>
                  <a:pt x="2142743" y="166115"/>
                </a:lnTo>
                <a:lnTo>
                  <a:pt x="2113788" y="173735"/>
                </a:lnTo>
                <a:lnTo>
                  <a:pt x="2055876" y="185927"/>
                </a:lnTo>
                <a:lnTo>
                  <a:pt x="2026919" y="193547"/>
                </a:lnTo>
                <a:lnTo>
                  <a:pt x="1965959" y="205739"/>
                </a:lnTo>
                <a:lnTo>
                  <a:pt x="1935479" y="210311"/>
                </a:lnTo>
                <a:lnTo>
                  <a:pt x="1903476" y="216407"/>
                </a:lnTo>
                <a:lnTo>
                  <a:pt x="1872995" y="222503"/>
                </a:lnTo>
                <a:lnTo>
                  <a:pt x="1840991" y="227075"/>
                </a:lnTo>
                <a:lnTo>
                  <a:pt x="1807464" y="233171"/>
                </a:lnTo>
                <a:lnTo>
                  <a:pt x="1775459" y="237743"/>
                </a:lnTo>
                <a:lnTo>
                  <a:pt x="1741931" y="243839"/>
                </a:lnTo>
                <a:lnTo>
                  <a:pt x="1641348" y="257555"/>
                </a:lnTo>
                <a:lnTo>
                  <a:pt x="1606295" y="262127"/>
                </a:lnTo>
                <a:lnTo>
                  <a:pt x="1572767" y="266699"/>
                </a:lnTo>
                <a:lnTo>
                  <a:pt x="1537715" y="269747"/>
                </a:lnTo>
                <a:lnTo>
                  <a:pt x="1502664" y="274319"/>
                </a:lnTo>
                <a:lnTo>
                  <a:pt x="1466088" y="278891"/>
                </a:lnTo>
                <a:lnTo>
                  <a:pt x="1431036" y="281939"/>
                </a:lnTo>
                <a:lnTo>
                  <a:pt x="1394459" y="284987"/>
                </a:lnTo>
                <a:lnTo>
                  <a:pt x="1359407" y="288035"/>
                </a:lnTo>
                <a:lnTo>
                  <a:pt x="1322831" y="291083"/>
                </a:lnTo>
                <a:lnTo>
                  <a:pt x="1286255" y="294131"/>
                </a:lnTo>
                <a:lnTo>
                  <a:pt x="1249679" y="297179"/>
                </a:lnTo>
                <a:lnTo>
                  <a:pt x="1211579" y="300227"/>
                </a:lnTo>
                <a:lnTo>
                  <a:pt x="1175003" y="303275"/>
                </a:lnTo>
                <a:lnTo>
                  <a:pt x="1136903" y="304799"/>
                </a:lnTo>
                <a:lnTo>
                  <a:pt x="1100327" y="307847"/>
                </a:lnTo>
                <a:lnTo>
                  <a:pt x="1062227" y="309371"/>
                </a:lnTo>
                <a:lnTo>
                  <a:pt x="986027" y="312419"/>
                </a:lnTo>
                <a:lnTo>
                  <a:pt x="949451" y="313943"/>
                </a:lnTo>
                <a:lnTo>
                  <a:pt x="873251" y="316991"/>
                </a:lnTo>
                <a:lnTo>
                  <a:pt x="835151" y="316991"/>
                </a:lnTo>
                <a:lnTo>
                  <a:pt x="795527" y="318515"/>
                </a:lnTo>
                <a:lnTo>
                  <a:pt x="757427" y="318515"/>
                </a:lnTo>
                <a:lnTo>
                  <a:pt x="719327" y="320039"/>
                </a:lnTo>
                <a:lnTo>
                  <a:pt x="565403" y="320039"/>
                </a:lnTo>
                <a:lnTo>
                  <a:pt x="527303" y="318515"/>
                </a:lnTo>
                <a:lnTo>
                  <a:pt x="489203" y="318515"/>
                </a:lnTo>
                <a:lnTo>
                  <a:pt x="451103" y="316991"/>
                </a:lnTo>
                <a:lnTo>
                  <a:pt x="413003" y="316991"/>
                </a:lnTo>
                <a:lnTo>
                  <a:pt x="336803" y="313943"/>
                </a:lnTo>
                <a:lnTo>
                  <a:pt x="298703" y="312419"/>
                </a:lnTo>
                <a:lnTo>
                  <a:pt x="222503" y="309371"/>
                </a:lnTo>
                <a:lnTo>
                  <a:pt x="185927" y="307847"/>
                </a:lnTo>
                <a:lnTo>
                  <a:pt x="147827" y="304799"/>
                </a:lnTo>
                <a:lnTo>
                  <a:pt x="111251" y="303275"/>
                </a:lnTo>
                <a:lnTo>
                  <a:pt x="73151" y="300227"/>
                </a:lnTo>
                <a:lnTo>
                  <a:pt x="0" y="294131"/>
                </a:lnTo>
                <a:lnTo>
                  <a:pt x="0" y="900683"/>
                </a:lnTo>
                <a:lnTo>
                  <a:pt x="36575" y="903731"/>
                </a:lnTo>
                <a:close/>
              </a:path>
            </a:pathLst>
          </a:custGeom>
          <a:solidFill>
            <a:srgbClr val="7F8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365498" y="689457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81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287774" y="689610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81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095750" y="6897624"/>
            <a:ext cx="153924" cy="0"/>
          </a:xfrm>
          <a:custGeom>
            <a:avLst/>
            <a:gdLst/>
            <a:ahLst/>
            <a:cxnLst/>
            <a:rect l="l" t="t" r="r" b="b"/>
            <a:pathLst>
              <a:path w="153924">
                <a:moveTo>
                  <a:pt x="153924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019550" y="689610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81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943350" y="689457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81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530346" y="6871716"/>
            <a:ext cx="0" cy="606551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0"/>
                </a:moveTo>
                <a:lnTo>
                  <a:pt x="0" y="60655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943350" y="750112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019550" y="750265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095750" y="7504176"/>
            <a:ext cx="153924" cy="0"/>
          </a:xfrm>
          <a:custGeom>
            <a:avLst/>
            <a:gdLst/>
            <a:ahLst/>
            <a:cxnLst/>
            <a:rect l="l" t="t" r="r" b="b"/>
            <a:pathLst>
              <a:path w="153924">
                <a:moveTo>
                  <a:pt x="0" y="0"/>
                </a:moveTo>
                <a:lnTo>
                  <a:pt x="153924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287774" y="750265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365498" y="750112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150102" y="6577584"/>
            <a:ext cx="0" cy="606551"/>
          </a:xfrm>
          <a:custGeom>
            <a:avLst/>
            <a:gdLst/>
            <a:ahLst/>
            <a:cxnLst/>
            <a:rect l="l" t="t" r="r" b="b"/>
            <a:pathLst>
              <a:path h="606551">
                <a:moveTo>
                  <a:pt x="0" y="606551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530346" y="6326886"/>
            <a:ext cx="2619755" cy="570738"/>
          </a:xfrm>
          <a:custGeom>
            <a:avLst/>
            <a:gdLst/>
            <a:ahLst/>
            <a:cxnLst/>
            <a:rect l="l" t="t" r="r" b="b"/>
            <a:pathLst>
              <a:path w="2619755" h="570738">
                <a:moveTo>
                  <a:pt x="2619755" y="250698"/>
                </a:moveTo>
                <a:lnTo>
                  <a:pt x="643127" y="0"/>
                </a:lnTo>
                <a:lnTo>
                  <a:pt x="0" y="544830"/>
                </a:lnTo>
                <a:lnTo>
                  <a:pt x="73151" y="550926"/>
                </a:lnTo>
                <a:lnTo>
                  <a:pt x="111251" y="553974"/>
                </a:lnTo>
                <a:lnTo>
                  <a:pt x="147827" y="555497"/>
                </a:lnTo>
                <a:lnTo>
                  <a:pt x="185927" y="558545"/>
                </a:lnTo>
                <a:lnTo>
                  <a:pt x="222503" y="560069"/>
                </a:lnTo>
                <a:lnTo>
                  <a:pt x="298703" y="563118"/>
                </a:lnTo>
                <a:lnTo>
                  <a:pt x="336803" y="564641"/>
                </a:lnTo>
                <a:lnTo>
                  <a:pt x="413003" y="567689"/>
                </a:lnTo>
                <a:lnTo>
                  <a:pt x="451103" y="567689"/>
                </a:lnTo>
                <a:lnTo>
                  <a:pt x="489203" y="569213"/>
                </a:lnTo>
                <a:lnTo>
                  <a:pt x="527303" y="569213"/>
                </a:lnTo>
                <a:lnTo>
                  <a:pt x="565403" y="570738"/>
                </a:lnTo>
                <a:lnTo>
                  <a:pt x="719327" y="570738"/>
                </a:lnTo>
                <a:lnTo>
                  <a:pt x="757427" y="569213"/>
                </a:lnTo>
                <a:lnTo>
                  <a:pt x="795527" y="569213"/>
                </a:lnTo>
                <a:lnTo>
                  <a:pt x="835151" y="567689"/>
                </a:lnTo>
                <a:lnTo>
                  <a:pt x="873251" y="567689"/>
                </a:lnTo>
                <a:lnTo>
                  <a:pt x="949451" y="564641"/>
                </a:lnTo>
                <a:lnTo>
                  <a:pt x="986027" y="563118"/>
                </a:lnTo>
                <a:lnTo>
                  <a:pt x="1062227" y="560069"/>
                </a:lnTo>
                <a:lnTo>
                  <a:pt x="1100327" y="558545"/>
                </a:lnTo>
                <a:lnTo>
                  <a:pt x="1136903" y="555497"/>
                </a:lnTo>
                <a:lnTo>
                  <a:pt x="1175003" y="553974"/>
                </a:lnTo>
                <a:lnTo>
                  <a:pt x="1211579" y="550926"/>
                </a:lnTo>
                <a:lnTo>
                  <a:pt x="1249679" y="547877"/>
                </a:lnTo>
                <a:lnTo>
                  <a:pt x="1286255" y="544830"/>
                </a:lnTo>
                <a:lnTo>
                  <a:pt x="1322831" y="541782"/>
                </a:lnTo>
                <a:lnTo>
                  <a:pt x="1359407" y="538733"/>
                </a:lnTo>
                <a:lnTo>
                  <a:pt x="1394459" y="535686"/>
                </a:lnTo>
                <a:lnTo>
                  <a:pt x="1431036" y="532638"/>
                </a:lnTo>
                <a:lnTo>
                  <a:pt x="1466088" y="529589"/>
                </a:lnTo>
                <a:lnTo>
                  <a:pt x="1502664" y="525018"/>
                </a:lnTo>
                <a:lnTo>
                  <a:pt x="1537715" y="520445"/>
                </a:lnTo>
                <a:lnTo>
                  <a:pt x="1572767" y="517397"/>
                </a:lnTo>
                <a:lnTo>
                  <a:pt x="1606295" y="512825"/>
                </a:lnTo>
                <a:lnTo>
                  <a:pt x="1641348" y="508253"/>
                </a:lnTo>
                <a:lnTo>
                  <a:pt x="1741931" y="494538"/>
                </a:lnTo>
                <a:lnTo>
                  <a:pt x="1775459" y="488441"/>
                </a:lnTo>
                <a:lnTo>
                  <a:pt x="1807464" y="483869"/>
                </a:lnTo>
                <a:lnTo>
                  <a:pt x="1840991" y="477774"/>
                </a:lnTo>
                <a:lnTo>
                  <a:pt x="1872995" y="473201"/>
                </a:lnTo>
                <a:lnTo>
                  <a:pt x="1903476" y="467105"/>
                </a:lnTo>
                <a:lnTo>
                  <a:pt x="1935479" y="461010"/>
                </a:lnTo>
                <a:lnTo>
                  <a:pt x="1965959" y="456438"/>
                </a:lnTo>
                <a:lnTo>
                  <a:pt x="2026919" y="444246"/>
                </a:lnTo>
                <a:lnTo>
                  <a:pt x="2055876" y="436625"/>
                </a:lnTo>
                <a:lnTo>
                  <a:pt x="2113788" y="424434"/>
                </a:lnTo>
                <a:lnTo>
                  <a:pt x="2142743" y="416813"/>
                </a:lnTo>
                <a:lnTo>
                  <a:pt x="2170176" y="410717"/>
                </a:lnTo>
                <a:lnTo>
                  <a:pt x="2197607" y="403098"/>
                </a:lnTo>
                <a:lnTo>
                  <a:pt x="2225040" y="397001"/>
                </a:lnTo>
                <a:lnTo>
                  <a:pt x="2302764" y="374141"/>
                </a:lnTo>
                <a:lnTo>
                  <a:pt x="2375916" y="351281"/>
                </a:lnTo>
                <a:lnTo>
                  <a:pt x="2421636" y="336041"/>
                </a:lnTo>
                <a:lnTo>
                  <a:pt x="2444495" y="326898"/>
                </a:lnTo>
                <a:lnTo>
                  <a:pt x="2487167" y="311658"/>
                </a:lnTo>
                <a:lnTo>
                  <a:pt x="2506979" y="302513"/>
                </a:lnTo>
                <a:lnTo>
                  <a:pt x="2528316" y="294893"/>
                </a:lnTo>
                <a:lnTo>
                  <a:pt x="2546604" y="285750"/>
                </a:lnTo>
                <a:lnTo>
                  <a:pt x="2566416" y="276605"/>
                </a:lnTo>
                <a:lnTo>
                  <a:pt x="2584704" y="268986"/>
                </a:lnTo>
                <a:lnTo>
                  <a:pt x="2601467" y="259841"/>
                </a:lnTo>
                <a:lnTo>
                  <a:pt x="2619755" y="250698"/>
                </a:lnTo>
                <a:close/>
              </a:path>
            </a:pathLst>
          </a:custGeom>
          <a:solidFill>
            <a:srgbClr val="FEFE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365498" y="689457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81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287774" y="689610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81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095750" y="6897624"/>
            <a:ext cx="153924" cy="0"/>
          </a:xfrm>
          <a:custGeom>
            <a:avLst/>
            <a:gdLst/>
            <a:ahLst/>
            <a:cxnLst/>
            <a:rect l="l" t="t" r="r" b="b"/>
            <a:pathLst>
              <a:path w="153924">
                <a:moveTo>
                  <a:pt x="153924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019550" y="689610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81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943350" y="689457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38100" y="0"/>
                </a:moveTo>
                <a:lnTo>
                  <a:pt x="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78458" y="5311902"/>
            <a:ext cx="78485" cy="78486"/>
          </a:xfrm>
          <a:custGeom>
            <a:avLst/>
            <a:gdLst/>
            <a:ahLst/>
            <a:cxnLst/>
            <a:rect l="l" t="t" r="r" b="b"/>
            <a:pathLst>
              <a:path w="78485" h="78486">
                <a:moveTo>
                  <a:pt x="0" y="78486"/>
                </a:moveTo>
                <a:lnTo>
                  <a:pt x="78485" y="78486"/>
                </a:lnTo>
                <a:lnTo>
                  <a:pt x="78485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solidFill>
            <a:srgbClr val="33CBC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378458" y="5311902"/>
            <a:ext cx="78485" cy="78486"/>
          </a:xfrm>
          <a:custGeom>
            <a:avLst/>
            <a:gdLst/>
            <a:ahLst/>
            <a:cxnLst/>
            <a:rect l="l" t="t" r="r" b="b"/>
            <a:pathLst>
              <a:path w="78485" h="78486">
                <a:moveTo>
                  <a:pt x="0" y="78486"/>
                </a:moveTo>
                <a:lnTo>
                  <a:pt x="78485" y="78486"/>
                </a:lnTo>
                <a:lnTo>
                  <a:pt x="78485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37182" y="7594092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5"/>
                </a:moveTo>
                <a:lnTo>
                  <a:pt x="78486" y="78485"/>
                </a:lnTo>
                <a:lnTo>
                  <a:pt x="78486" y="0"/>
                </a:lnTo>
                <a:lnTo>
                  <a:pt x="0" y="0"/>
                </a:lnTo>
                <a:lnTo>
                  <a:pt x="0" y="78485"/>
                </a:lnTo>
                <a:close/>
              </a:path>
            </a:pathLst>
          </a:custGeom>
          <a:solidFill>
            <a:srgbClr val="CCFE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37182" y="7594092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5"/>
                </a:moveTo>
                <a:lnTo>
                  <a:pt x="78486" y="78485"/>
                </a:lnTo>
                <a:lnTo>
                  <a:pt x="78486" y="0"/>
                </a:lnTo>
                <a:lnTo>
                  <a:pt x="0" y="0"/>
                </a:lnTo>
                <a:lnTo>
                  <a:pt x="0" y="78485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10590" y="7167372"/>
            <a:ext cx="78485" cy="78486"/>
          </a:xfrm>
          <a:custGeom>
            <a:avLst/>
            <a:gdLst/>
            <a:ahLst/>
            <a:cxnLst/>
            <a:rect l="l" t="t" r="r" b="b"/>
            <a:pathLst>
              <a:path w="78485" h="78485">
                <a:moveTo>
                  <a:pt x="78485" y="0"/>
                </a:moveTo>
                <a:lnTo>
                  <a:pt x="4571" y="0"/>
                </a:lnTo>
                <a:lnTo>
                  <a:pt x="4571" y="78485"/>
                </a:lnTo>
                <a:lnTo>
                  <a:pt x="78485" y="78485"/>
                </a:lnTo>
                <a:lnTo>
                  <a:pt x="78485" y="0"/>
                </a:lnTo>
                <a:close/>
              </a:path>
            </a:pathLst>
          </a:custGeom>
          <a:solidFill>
            <a:srgbClr val="99CB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10590" y="7167372"/>
            <a:ext cx="78485" cy="78486"/>
          </a:xfrm>
          <a:custGeom>
            <a:avLst/>
            <a:gdLst/>
            <a:ahLst/>
            <a:cxnLst/>
            <a:rect l="l" t="t" r="r" b="b"/>
            <a:pathLst>
              <a:path w="78485" h="78485">
                <a:moveTo>
                  <a:pt x="78485" y="0"/>
                </a:moveTo>
                <a:lnTo>
                  <a:pt x="4571" y="0"/>
                </a:lnTo>
              </a:path>
              <a:path w="78485" h="78485">
                <a:moveTo>
                  <a:pt x="4571" y="78485"/>
                </a:moveTo>
                <a:lnTo>
                  <a:pt x="78485" y="78485"/>
                </a:lnTo>
                <a:lnTo>
                  <a:pt x="78485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05078" y="5793486"/>
            <a:ext cx="78485" cy="78486"/>
          </a:xfrm>
          <a:custGeom>
            <a:avLst/>
            <a:gdLst/>
            <a:ahLst/>
            <a:cxnLst/>
            <a:rect l="l" t="t" r="r" b="b"/>
            <a:pathLst>
              <a:path w="78485" h="78486">
                <a:moveTo>
                  <a:pt x="0" y="78486"/>
                </a:moveTo>
                <a:lnTo>
                  <a:pt x="78485" y="78486"/>
                </a:lnTo>
                <a:lnTo>
                  <a:pt x="78485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05078" y="5793486"/>
            <a:ext cx="78485" cy="78486"/>
          </a:xfrm>
          <a:custGeom>
            <a:avLst/>
            <a:gdLst/>
            <a:ahLst/>
            <a:cxnLst/>
            <a:rect l="l" t="t" r="r" b="b"/>
            <a:pathLst>
              <a:path w="78485" h="78486">
                <a:moveTo>
                  <a:pt x="0" y="78486"/>
                </a:moveTo>
                <a:lnTo>
                  <a:pt x="78485" y="78486"/>
                </a:lnTo>
                <a:lnTo>
                  <a:pt x="78485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88258" y="5086350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6"/>
                </a:moveTo>
                <a:lnTo>
                  <a:pt x="78486" y="78486"/>
                </a:lnTo>
                <a:lnTo>
                  <a:pt x="78486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solidFill>
            <a:srgbClr val="0000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88258" y="5086350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6"/>
                </a:moveTo>
                <a:lnTo>
                  <a:pt x="78486" y="78486"/>
                </a:lnTo>
                <a:lnTo>
                  <a:pt x="78486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00478" y="5301234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6"/>
                </a:moveTo>
                <a:lnTo>
                  <a:pt x="78486" y="78486"/>
                </a:lnTo>
                <a:lnTo>
                  <a:pt x="78486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solidFill>
            <a:srgbClr val="FEC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00478" y="5301234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6"/>
                </a:moveTo>
                <a:lnTo>
                  <a:pt x="78486" y="78486"/>
                </a:lnTo>
                <a:lnTo>
                  <a:pt x="78486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51654" y="5176266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6"/>
                </a:moveTo>
                <a:lnTo>
                  <a:pt x="78486" y="78486"/>
                </a:lnTo>
                <a:lnTo>
                  <a:pt x="78486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solidFill>
            <a:srgbClr val="999AF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851654" y="5176266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6"/>
                </a:moveTo>
                <a:lnTo>
                  <a:pt x="78486" y="78486"/>
                </a:lnTo>
                <a:lnTo>
                  <a:pt x="78486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51982" y="5461254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6"/>
                </a:moveTo>
                <a:lnTo>
                  <a:pt x="78486" y="78486"/>
                </a:lnTo>
                <a:lnTo>
                  <a:pt x="78486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951982" y="5461254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6"/>
                </a:moveTo>
                <a:lnTo>
                  <a:pt x="78486" y="78486"/>
                </a:lnTo>
                <a:lnTo>
                  <a:pt x="78486" y="0"/>
                </a:lnTo>
                <a:lnTo>
                  <a:pt x="0" y="0"/>
                </a:lnTo>
                <a:lnTo>
                  <a:pt x="0" y="7848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395722" y="7555992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5"/>
                </a:moveTo>
                <a:lnTo>
                  <a:pt x="78486" y="78485"/>
                </a:lnTo>
                <a:lnTo>
                  <a:pt x="78486" y="0"/>
                </a:lnTo>
                <a:lnTo>
                  <a:pt x="0" y="0"/>
                </a:lnTo>
                <a:lnTo>
                  <a:pt x="0" y="78485"/>
                </a:lnTo>
                <a:close/>
              </a:path>
            </a:pathLst>
          </a:custGeom>
          <a:solidFill>
            <a:srgbClr val="FEFE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395722" y="7555992"/>
            <a:ext cx="78486" cy="78486"/>
          </a:xfrm>
          <a:custGeom>
            <a:avLst/>
            <a:gdLst/>
            <a:ahLst/>
            <a:cxnLst/>
            <a:rect l="l" t="t" r="r" b="b"/>
            <a:pathLst>
              <a:path w="78486" h="78486">
                <a:moveTo>
                  <a:pt x="0" y="78485"/>
                </a:moveTo>
                <a:lnTo>
                  <a:pt x="78486" y="78485"/>
                </a:lnTo>
                <a:lnTo>
                  <a:pt x="78486" y="0"/>
                </a:lnTo>
                <a:lnTo>
                  <a:pt x="0" y="0"/>
                </a:lnTo>
                <a:lnTo>
                  <a:pt x="0" y="78485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755642" y="8361426"/>
            <a:ext cx="2119121" cy="175260"/>
          </a:xfrm>
          <a:custGeom>
            <a:avLst/>
            <a:gdLst/>
            <a:ahLst/>
            <a:cxnLst/>
            <a:rect l="l" t="t" r="r" b="b"/>
            <a:pathLst>
              <a:path w="2119121" h="175260">
                <a:moveTo>
                  <a:pt x="0" y="175260"/>
                </a:moveTo>
                <a:lnTo>
                  <a:pt x="2119121" y="175260"/>
                </a:lnTo>
                <a:lnTo>
                  <a:pt x="2119121" y="0"/>
                </a:lnTo>
                <a:lnTo>
                  <a:pt x="0" y="0"/>
                </a:lnTo>
                <a:lnTo>
                  <a:pt x="0" y="17526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96112" y="8361426"/>
            <a:ext cx="2119122" cy="175260"/>
          </a:xfrm>
          <a:custGeom>
            <a:avLst/>
            <a:gdLst/>
            <a:ahLst/>
            <a:cxnLst/>
            <a:rect l="l" t="t" r="r" b="b"/>
            <a:pathLst>
              <a:path w="2119122" h="175260">
                <a:moveTo>
                  <a:pt x="0" y="175260"/>
                </a:moveTo>
                <a:lnTo>
                  <a:pt x="2119122" y="175260"/>
                </a:lnTo>
                <a:lnTo>
                  <a:pt x="2119122" y="0"/>
                </a:lnTo>
                <a:lnTo>
                  <a:pt x="0" y="0"/>
                </a:lnTo>
                <a:lnTo>
                  <a:pt x="0" y="17526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15233" y="8361426"/>
            <a:ext cx="1740408" cy="175259"/>
          </a:xfrm>
          <a:custGeom>
            <a:avLst/>
            <a:gdLst/>
            <a:ahLst/>
            <a:cxnLst/>
            <a:rect l="l" t="t" r="r" b="b"/>
            <a:pathLst>
              <a:path w="1740407" h="175259">
                <a:moveTo>
                  <a:pt x="0" y="0"/>
                </a:moveTo>
                <a:lnTo>
                  <a:pt x="0" y="175259"/>
                </a:lnTo>
                <a:lnTo>
                  <a:pt x="1740408" y="175259"/>
                </a:lnTo>
                <a:lnTo>
                  <a:pt x="1740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948682" y="5140245"/>
            <a:ext cx="662345" cy="151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“</a:t>
            </a:r>
            <a:r>
              <a:rPr sz="1000" b="1" i="1" spc="-4" dirty="0" smtClean="0">
                <a:latin typeface="Times New Roman"/>
                <a:cs typeface="Times New Roman"/>
              </a:rPr>
              <a:t>RES</a:t>
            </a:r>
            <a:r>
              <a:rPr sz="1000" b="1" i="1" spc="0" dirty="0" smtClean="0">
                <a:latin typeface="Times New Roman"/>
                <a:cs typeface="Times New Roman"/>
              </a:rPr>
              <a:t>N</a:t>
            </a:r>
            <a:r>
              <a:rPr sz="1000" b="1" i="1" spc="-4" dirty="0" smtClean="0">
                <a:latin typeface="Times New Roman"/>
                <a:cs typeface="Times New Roman"/>
              </a:rPr>
              <a:t>A</a:t>
            </a:r>
            <a:r>
              <a:rPr sz="1000" b="1" i="1" spc="4" dirty="0" smtClean="0">
                <a:latin typeface="Times New Roman"/>
                <a:cs typeface="Times New Roman"/>
              </a:rPr>
              <a:t>T</a:t>
            </a:r>
            <a:r>
              <a:rPr sz="1000" b="1" i="1" spc="0" dirty="0" smtClean="0">
                <a:latin typeface="Times New Roman"/>
                <a:cs typeface="Times New Roman"/>
              </a:rPr>
              <a:t>”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1697" y="5370371"/>
            <a:ext cx="374529" cy="151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5,40%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14498" y="5425234"/>
            <a:ext cx="374529" cy="151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1,85%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49010" y="5425233"/>
            <a:ext cx="632789" cy="151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“</a:t>
            </a:r>
            <a:r>
              <a:rPr sz="1000" b="1" i="1" spc="0" dirty="0" smtClean="0">
                <a:latin typeface="Times New Roman"/>
                <a:cs typeface="Times New Roman"/>
              </a:rPr>
              <a:t>G</a:t>
            </a:r>
            <a:r>
              <a:rPr sz="1000" b="1" i="1" spc="-4" dirty="0" smtClean="0">
                <a:latin typeface="Times New Roman"/>
                <a:cs typeface="Times New Roman"/>
              </a:rPr>
              <a:t>ESICA”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3975" y="5435902"/>
            <a:ext cx="438535" cy="151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10,92%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29908" y="7679992"/>
            <a:ext cx="438535" cy="151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22,56%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75936" y="7718092"/>
            <a:ext cx="438535" cy="151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14,84%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6112" y="8361426"/>
            <a:ext cx="5978651" cy="1752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1837182" y="7594092"/>
            <a:ext cx="78486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13" name="object 13"/>
          <p:cNvSpPr txBox="1"/>
          <p:nvPr/>
        </p:nvSpPr>
        <p:spPr>
          <a:xfrm>
            <a:off x="5395722" y="7555992"/>
            <a:ext cx="78486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12" name="object 12"/>
          <p:cNvSpPr txBox="1"/>
          <p:nvPr/>
        </p:nvSpPr>
        <p:spPr>
          <a:xfrm>
            <a:off x="915162" y="7167372"/>
            <a:ext cx="73913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11" name="object 11"/>
          <p:cNvSpPr txBox="1"/>
          <p:nvPr/>
        </p:nvSpPr>
        <p:spPr>
          <a:xfrm>
            <a:off x="1005078" y="5793486"/>
            <a:ext cx="78485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10" name="object 10"/>
          <p:cNvSpPr txBox="1"/>
          <p:nvPr/>
        </p:nvSpPr>
        <p:spPr>
          <a:xfrm>
            <a:off x="4161281" y="5581650"/>
            <a:ext cx="192024" cy="11757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3763517" y="5575554"/>
            <a:ext cx="192024" cy="11757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951982" y="5461254"/>
            <a:ext cx="78486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7" name="object 7"/>
          <p:cNvSpPr txBox="1"/>
          <p:nvPr/>
        </p:nvSpPr>
        <p:spPr>
          <a:xfrm>
            <a:off x="2300478" y="5301234"/>
            <a:ext cx="78486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6" name="object 6"/>
          <p:cNvSpPr txBox="1"/>
          <p:nvPr/>
        </p:nvSpPr>
        <p:spPr>
          <a:xfrm>
            <a:off x="1378458" y="5311902"/>
            <a:ext cx="78485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5" name="object 5"/>
          <p:cNvSpPr txBox="1"/>
          <p:nvPr/>
        </p:nvSpPr>
        <p:spPr>
          <a:xfrm>
            <a:off x="4851654" y="5176266"/>
            <a:ext cx="78486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4" name="object 4"/>
          <p:cNvSpPr txBox="1"/>
          <p:nvPr/>
        </p:nvSpPr>
        <p:spPr>
          <a:xfrm>
            <a:off x="3588258" y="5086350"/>
            <a:ext cx="78486" cy="784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18"/>
              </a:spcBef>
            </a:pPr>
            <a:endParaRPr sz="600"/>
          </a:p>
        </p:txBody>
      </p:sp>
      <p:sp>
        <p:nvSpPr>
          <p:cNvPr id="3" name="object 3"/>
          <p:cNvSpPr txBox="1"/>
          <p:nvPr/>
        </p:nvSpPr>
        <p:spPr>
          <a:xfrm>
            <a:off x="896112" y="2055876"/>
            <a:ext cx="5978651" cy="1752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878947" marR="368665" indent="-252202" algn="just">
              <a:lnSpc>
                <a:spcPct val="95825"/>
              </a:lnSpc>
              <a:spcBef>
                <a:spcPts val="1365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*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ifice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economia,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organ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mentul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le,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dimensiunea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optima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exploata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iilor 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 inte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ra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asigurare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marketingul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oduselor 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alimentare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 concorda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principiile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endParaRPr sz="900">
              <a:latin typeface="Times New Roman"/>
              <a:cs typeface="Times New Roman"/>
            </a:endParaRPr>
          </a:p>
          <a:p>
            <a:pPr marL="878959" marR="369922" indent="-252237" algn="just">
              <a:lnSpc>
                <a:spcPts val="1030"/>
              </a:lnSpc>
              <a:spcBef>
                <a:spcPts val="71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*	Dezvol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icii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spri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inul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domeniu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ntre,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rvi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ii,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etc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)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um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promovarea şi disemina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cun</a:t>
            </a:r>
            <a:r>
              <a:rPr sz="900" spc="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ez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telor C-D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inute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cadrul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programului</a:t>
            </a:r>
            <a:endParaRPr sz="900">
              <a:latin typeface="Times New Roman"/>
              <a:cs typeface="Times New Roman"/>
            </a:endParaRPr>
          </a:p>
          <a:p>
            <a:pPr marL="626744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*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Eval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ificarea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ten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turis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 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dezv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rismului</a:t>
            </a:r>
            <a:endParaRPr sz="900">
              <a:latin typeface="Times New Roman"/>
              <a:cs typeface="Times New Roman"/>
            </a:endParaRPr>
          </a:p>
          <a:p>
            <a:pPr marL="878959" marR="368665" indent="-252214" algn="just">
              <a:lnSpc>
                <a:spcPts val="1040"/>
              </a:lnSpc>
              <a:spcBef>
                <a:spcPts val="5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*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ifice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economia,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organizarea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mentul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le,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dimensiunea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optima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exploata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iilor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inte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ra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asigurare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le,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marketingul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oduselor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alimentare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endParaRPr sz="900">
              <a:latin typeface="Times New Roman"/>
              <a:cs typeface="Times New Roman"/>
            </a:endParaRPr>
          </a:p>
          <a:p>
            <a:pPr marL="878947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concorda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principiile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ile.</a:t>
            </a:r>
            <a:endParaRPr sz="900">
              <a:latin typeface="Times New Roman"/>
              <a:cs typeface="Times New Roman"/>
            </a:endParaRPr>
          </a:p>
          <a:p>
            <a:pPr marL="2602103" marR="2618467" algn="ctr">
              <a:lnSpc>
                <a:spcPct val="95825"/>
              </a:lnSpc>
              <a:spcBef>
                <a:spcPts val="2036"/>
              </a:spcBef>
            </a:pPr>
            <a:r>
              <a:rPr sz="1200" b="1" i="1" spc="0" dirty="0" smtClean="0">
                <a:latin typeface="Times New Roman"/>
                <a:cs typeface="Times New Roman"/>
              </a:rPr>
              <a:t>Structura programului</a:t>
            </a:r>
            <a:endParaRPr sz="1200">
              <a:latin typeface="Times New Roman"/>
              <a:cs typeface="Times New Roman"/>
            </a:endParaRPr>
          </a:p>
          <a:p>
            <a:pPr marL="1076324">
              <a:lnSpc>
                <a:spcPct val="95825"/>
              </a:lnSpc>
              <a:spcBef>
                <a:spcPts val="1426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“RESNAT”              </a:t>
            </a:r>
            <a:r>
              <a:rPr sz="900" b="1" i="1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Eval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rote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iora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valorifica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resurselor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naturale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concorda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ţă</a:t>
            </a:r>
            <a:endParaRPr sz="900">
              <a:latin typeface="Times New Roman"/>
              <a:cs typeface="Times New Roman"/>
            </a:endParaRPr>
          </a:p>
          <a:p>
            <a:pPr marL="2410661" marR="2187695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cipiile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agric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054927" marR="1008052" algn="ctr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“GESICA</a:t>
            </a:r>
            <a:r>
              <a:rPr sz="900" spc="0" dirty="0" smtClean="0">
                <a:latin typeface="Times New Roman"/>
                <a:cs typeface="Times New Roman"/>
              </a:rPr>
              <a:t>”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Genotipuri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 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rfor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ntr</a:t>
            </a:r>
            <a:r>
              <a:rPr sz="900" spc="0" dirty="0" smtClean="0">
                <a:latin typeface="Times New Roman"/>
                <a:cs typeface="Times New Roman"/>
              </a:rPr>
              <a:t>u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-4" dirty="0" smtClean="0">
                <a:latin typeface="Times New Roman"/>
                <a:cs typeface="Times New Roman"/>
              </a:rPr>
              <a:t>mp</a:t>
            </a:r>
            <a:endParaRPr sz="900">
              <a:latin typeface="Times New Roman"/>
              <a:cs typeface="Times New Roman"/>
            </a:endParaRPr>
          </a:p>
          <a:p>
            <a:pPr marL="2431945" marR="369409" indent="-1355598">
              <a:lnSpc>
                <a:spcPct val="96112"/>
              </a:lnSpc>
              <a:spcBef>
                <a:spcPts val="60"/>
              </a:spcBef>
              <a:tabLst>
                <a:tab pos="1320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</a:t>
            </a:r>
            <a:r>
              <a:rPr sz="900" b="1" i="1" spc="0" dirty="0" smtClean="0">
                <a:latin typeface="Times New Roman"/>
                <a:cs typeface="Times New Roman"/>
              </a:rPr>
              <a:t>“POLEVIT</a:t>
            </a:r>
            <a:r>
              <a:rPr sz="900" spc="0" dirty="0" smtClean="0">
                <a:latin typeface="Times New Roman"/>
                <a:cs typeface="Times New Roman"/>
              </a:rPr>
              <a:t>”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hortivitic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competitive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ezv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ilă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elor hortivi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076347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“ZOOMED</a:t>
            </a:r>
            <a:r>
              <a:rPr sz="900" spc="0" dirty="0" smtClean="0">
                <a:latin typeface="Times New Roman"/>
                <a:cs typeface="Times New Roman"/>
              </a:rPr>
              <a:t>”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isteme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roduc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zootehni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de protec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sanitar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terina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1076347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“INDAL</a:t>
            </a:r>
            <a:r>
              <a:rPr sz="900" spc="0" dirty="0" smtClean="0">
                <a:latin typeface="Times New Roman"/>
                <a:cs typeface="Times New Roman"/>
              </a:rPr>
              <a:t>”  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securitatea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 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2431991" marR="369849" indent="-1355620">
              <a:lnSpc>
                <a:spcPct val="96112"/>
              </a:lnSpc>
              <a:spcBef>
                <a:spcPts val="60"/>
              </a:spcBef>
              <a:tabLst>
                <a:tab pos="1320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</a:t>
            </a:r>
            <a:r>
              <a:rPr sz="900" b="1" i="1" spc="0" dirty="0" smtClean="0">
                <a:latin typeface="Times New Roman"/>
                <a:cs typeface="Times New Roman"/>
              </a:rPr>
              <a:t>“ECOMA</a:t>
            </a:r>
            <a:r>
              <a:rPr sz="900" spc="0" dirty="0" smtClean="0">
                <a:latin typeface="Times New Roman"/>
                <a:cs typeface="Times New Roman"/>
              </a:rPr>
              <a:t>”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oderne,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orga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izare,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marketing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ltură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industria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1076393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“</a:t>
            </a:r>
            <a:r>
              <a:rPr sz="900" b="1" i="1" spc="0" dirty="0" smtClean="0">
                <a:latin typeface="Times New Roman"/>
                <a:cs typeface="Times New Roman"/>
              </a:rPr>
              <a:t>SIM</a:t>
            </a:r>
            <a:r>
              <a:rPr sz="900" b="1" i="1" spc="4" dirty="0" smtClean="0">
                <a:latin typeface="Times New Roman"/>
                <a:cs typeface="Times New Roman"/>
              </a:rPr>
              <a:t>A</a:t>
            </a:r>
            <a:r>
              <a:rPr sz="900" b="1" i="1" spc="0" dirty="0" smtClean="0">
                <a:latin typeface="Times New Roman"/>
                <a:cs typeface="Times New Roman"/>
              </a:rPr>
              <a:t>GRO”           </a:t>
            </a:r>
            <a:r>
              <a:rPr sz="900" b="1" i="1" spc="39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- </a:t>
            </a:r>
            <a:r>
              <a:rPr sz="900" b="1" i="1" spc="15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ist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aşin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ente 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 agric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industrie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1076405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“AGROTUR</a:t>
            </a:r>
            <a:r>
              <a:rPr sz="900" b="1" i="1" spc="4" dirty="0" smtClean="0">
                <a:latin typeface="Times New Roman"/>
                <a:cs typeface="Times New Roman"/>
              </a:rPr>
              <a:t>I</a:t>
            </a:r>
            <a:r>
              <a:rPr sz="900" b="1" i="1" spc="-4" dirty="0" smtClean="0">
                <a:latin typeface="Times New Roman"/>
                <a:cs typeface="Times New Roman"/>
              </a:rPr>
              <a:t>S</a:t>
            </a:r>
            <a:r>
              <a:rPr sz="900" b="1" i="1" spc="0" dirty="0" smtClean="0">
                <a:latin typeface="Times New Roman"/>
                <a:cs typeface="Times New Roman"/>
              </a:rPr>
              <a:t>M</a:t>
            </a:r>
            <a:r>
              <a:rPr sz="900" i="1" spc="0" dirty="0" smtClean="0">
                <a:latin typeface="Times New Roman"/>
                <a:cs typeface="Times New Roman"/>
              </a:rPr>
              <a:t>”  </a:t>
            </a:r>
            <a:r>
              <a:rPr sz="900" i="1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Eval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area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ten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ialu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ui turis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dezvoltarea agroturismului</a:t>
            </a:r>
            <a:endParaRPr sz="900">
              <a:latin typeface="Times New Roman"/>
              <a:cs typeface="Times New Roman"/>
            </a:endParaRPr>
          </a:p>
          <a:p>
            <a:pPr marL="1076416">
              <a:lnSpc>
                <a:spcPct val="95825"/>
              </a:lnSpc>
              <a:spcBef>
                <a:spcPts val="9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Proie</a:t>
            </a:r>
            <a:r>
              <a:rPr sz="900" b="1" i="1" spc="-4" dirty="0" smtClean="0">
                <a:latin typeface="Times New Roman"/>
                <a:cs typeface="Times New Roman"/>
              </a:rPr>
              <a:t>c</a:t>
            </a:r>
            <a:r>
              <a:rPr sz="900" b="1" i="1" spc="0" dirty="0" smtClean="0">
                <a:latin typeface="Times New Roman"/>
                <a:cs typeface="Times New Roman"/>
              </a:rPr>
              <a:t>te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prior</a:t>
            </a:r>
            <a:r>
              <a:rPr sz="900" b="1" i="1" spc="-4" dirty="0" smtClean="0">
                <a:latin typeface="Times New Roman"/>
                <a:cs typeface="Times New Roman"/>
              </a:rPr>
              <a:t>i</a:t>
            </a:r>
            <a:r>
              <a:rPr sz="900" b="1" i="1" spc="0" dirty="0" smtClean="0">
                <a:latin typeface="Times New Roman"/>
                <a:cs typeface="Times New Roman"/>
              </a:rPr>
              <a:t>tare</a:t>
            </a:r>
            <a:endParaRPr sz="900">
              <a:latin typeface="Times New Roman"/>
              <a:cs typeface="Times New Roman"/>
            </a:endParaRPr>
          </a:p>
          <a:p>
            <a:pPr marL="331342" marR="346202" algn="ctr">
              <a:lnSpc>
                <a:spcPct val="100000"/>
              </a:lnSpc>
              <a:spcBef>
                <a:spcPts val="3095"/>
              </a:spcBef>
              <a:tabLst>
                <a:tab pos="6299200" algn="l"/>
              </a:tabLst>
            </a:pPr>
            <a:r>
              <a:rPr sz="1200" b="1" i="1" dirty="0" smtClean="0">
                <a:latin typeface="Times New Roman"/>
                <a:cs typeface="Times New Roman"/>
              </a:rPr>
              <a:t>                                                       </a:t>
            </a:r>
            <a:r>
              <a:rPr sz="1200" b="1" i="1" spc="100" dirty="0" smtClean="0">
                <a:latin typeface="Times New Roman"/>
                <a:cs typeface="Times New Roman"/>
              </a:rPr>
              <a:t> </a:t>
            </a:r>
            <a:r>
              <a:rPr sz="1200" b="1" i="1" spc="0" dirty="0" smtClean="0">
                <a:latin typeface="Times New Roman"/>
                <a:cs typeface="Times New Roman"/>
              </a:rPr>
              <a:t>Finan</a:t>
            </a:r>
            <a:r>
              <a:rPr sz="1200" b="1" i="1" spc="4" dirty="0" smtClean="0">
                <a:latin typeface="Times New Roman"/>
                <a:cs typeface="Times New Roman"/>
              </a:rPr>
              <a:t>ţ</a:t>
            </a:r>
            <a:r>
              <a:rPr sz="1200" b="1" i="1" spc="0" dirty="0" smtClean="0">
                <a:latin typeface="Times New Roman"/>
                <a:cs typeface="Times New Roman"/>
              </a:rPr>
              <a:t>are pe subprograme 	</a:t>
            </a:r>
            <a:endParaRPr sz="1200">
              <a:latin typeface="Times New Roman"/>
              <a:cs typeface="Times New Roman"/>
            </a:endParaRPr>
          </a:p>
          <a:p>
            <a:pPr marL="3202214" marR="2826360" algn="ctr">
              <a:lnSpc>
                <a:spcPct val="95825"/>
              </a:lnSpc>
              <a:spcBef>
                <a:spcPts val="3306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P</a:t>
            </a:r>
            <a:r>
              <a:rPr sz="1000" b="1" i="1" spc="-4" dirty="0" smtClean="0">
                <a:latin typeface="Times New Roman"/>
                <a:cs typeface="Times New Roman"/>
              </a:rPr>
              <a:t>R</a:t>
            </a:r>
            <a:r>
              <a:rPr sz="1000" b="1" i="1" spc="0" dirty="0" smtClean="0">
                <a:latin typeface="Times New Roman"/>
                <a:cs typeface="Times New Roman"/>
              </a:rPr>
              <a:t>O</a:t>
            </a:r>
            <a:r>
              <a:rPr sz="1000" b="1" i="1" spc="-4" dirty="0" smtClean="0">
                <a:latin typeface="Times New Roman"/>
                <a:cs typeface="Times New Roman"/>
              </a:rPr>
              <a:t>IEC</a:t>
            </a:r>
            <a:r>
              <a:rPr sz="1000" b="1" i="1" spc="4" dirty="0" smtClean="0">
                <a:latin typeface="Times New Roman"/>
                <a:cs typeface="Times New Roman"/>
              </a:rPr>
              <a:t>T</a:t>
            </a:r>
            <a:r>
              <a:rPr sz="1000" b="1" i="1" spc="0" dirty="0" smtClean="0">
                <a:latin typeface="Times New Roman"/>
                <a:cs typeface="Times New Roman"/>
              </a:rPr>
              <a:t>E</a:t>
            </a:r>
            <a:endParaRPr sz="1000">
              <a:latin typeface="Times New Roman"/>
              <a:cs typeface="Times New Roman"/>
            </a:endParaRPr>
          </a:p>
          <a:p>
            <a:pPr marL="947547">
              <a:lnSpc>
                <a:spcPts val="1649"/>
              </a:lnSpc>
              <a:spcBef>
                <a:spcPts val="12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“</a:t>
            </a:r>
            <a:r>
              <a:rPr sz="1000" b="1" i="1" spc="0" dirty="0" smtClean="0">
                <a:latin typeface="Times New Roman"/>
                <a:cs typeface="Times New Roman"/>
              </a:rPr>
              <a:t>S</a:t>
            </a:r>
            <a:r>
              <a:rPr sz="1000" b="1" i="1" spc="-4" dirty="0" smtClean="0">
                <a:latin typeface="Times New Roman"/>
                <a:cs typeface="Times New Roman"/>
              </a:rPr>
              <a:t>I</a:t>
            </a:r>
            <a:r>
              <a:rPr sz="1000" b="1" i="1" spc="0" dirty="0" smtClean="0">
                <a:latin typeface="Times New Roman"/>
                <a:cs typeface="Times New Roman"/>
              </a:rPr>
              <a:t>M</a:t>
            </a:r>
            <a:r>
              <a:rPr sz="1000" b="1" i="1" spc="-4" dirty="0" smtClean="0">
                <a:latin typeface="Times New Roman"/>
                <a:cs typeface="Times New Roman"/>
              </a:rPr>
              <a:t>A</a:t>
            </a:r>
            <a:r>
              <a:rPr sz="1000" b="1" i="1" spc="0" dirty="0" smtClean="0">
                <a:latin typeface="Times New Roman"/>
                <a:cs typeface="Times New Roman"/>
              </a:rPr>
              <a:t>G</a:t>
            </a:r>
            <a:r>
              <a:rPr sz="1000" b="1" i="1" spc="-4" dirty="0" smtClean="0">
                <a:latin typeface="Times New Roman"/>
                <a:cs typeface="Times New Roman"/>
              </a:rPr>
              <a:t>R</a:t>
            </a:r>
            <a:r>
              <a:rPr sz="1000" b="1" i="1" spc="0" dirty="0" smtClean="0">
                <a:latin typeface="Times New Roman"/>
                <a:cs typeface="Times New Roman"/>
              </a:rPr>
              <a:t>O”     </a:t>
            </a:r>
            <a:r>
              <a:rPr sz="1000" b="1" i="1" spc="118" dirty="0" smtClean="0">
                <a:latin typeface="Times New Roman"/>
                <a:cs typeface="Times New Roman"/>
              </a:rPr>
              <a:t> </a:t>
            </a:r>
            <a:r>
              <a:rPr sz="1500" b="1" i="1" spc="4" baseline="5797" dirty="0" smtClean="0">
                <a:latin typeface="Times New Roman"/>
                <a:cs typeface="Times New Roman"/>
              </a:rPr>
              <a:t>“</a:t>
            </a:r>
            <a:r>
              <a:rPr sz="1500" b="1" i="1" spc="-4" baseline="5797" dirty="0" smtClean="0">
                <a:latin typeface="Times New Roman"/>
                <a:cs typeface="Times New Roman"/>
              </a:rPr>
              <a:t>A</a:t>
            </a:r>
            <a:r>
              <a:rPr sz="1500" b="1" i="1" spc="0" baseline="5797" dirty="0" smtClean="0">
                <a:latin typeface="Times New Roman"/>
                <a:cs typeface="Times New Roman"/>
              </a:rPr>
              <a:t>G</a:t>
            </a:r>
            <a:r>
              <a:rPr sz="1500" b="1" i="1" spc="-4" baseline="5797" dirty="0" smtClean="0">
                <a:latin typeface="Times New Roman"/>
                <a:cs typeface="Times New Roman"/>
              </a:rPr>
              <a:t>R</a:t>
            </a:r>
            <a:r>
              <a:rPr sz="1500" b="1" i="1" spc="0" baseline="5797" dirty="0" smtClean="0">
                <a:latin typeface="Times New Roman"/>
                <a:cs typeface="Times New Roman"/>
              </a:rPr>
              <a:t>OTU</a:t>
            </a:r>
            <a:r>
              <a:rPr sz="1500" b="1" i="1" spc="-4" baseline="5797" dirty="0" smtClean="0">
                <a:latin typeface="Times New Roman"/>
                <a:cs typeface="Times New Roman"/>
              </a:rPr>
              <a:t>R</a:t>
            </a:r>
            <a:r>
              <a:rPr sz="1500" b="1" i="1" spc="0" baseline="5797" dirty="0" smtClean="0">
                <a:latin typeface="Times New Roman"/>
                <a:cs typeface="Times New Roman"/>
              </a:rPr>
              <a:t>ISM”        </a:t>
            </a:r>
            <a:r>
              <a:rPr sz="1500" b="1" i="1" spc="233" baseline="5797" dirty="0" smtClean="0">
                <a:latin typeface="Times New Roman"/>
                <a:cs typeface="Times New Roman"/>
              </a:rPr>
              <a:t> </a:t>
            </a:r>
            <a:r>
              <a:rPr sz="1500" b="1" i="1" spc="4" baseline="28987" dirty="0" smtClean="0">
                <a:latin typeface="Times New Roman"/>
                <a:cs typeface="Times New Roman"/>
              </a:rPr>
              <a:t>P</a:t>
            </a:r>
            <a:r>
              <a:rPr sz="1500" b="1" i="1" spc="-4" baseline="28987" dirty="0" smtClean="0">
                <a:latin typeface="Times New Roman"/>
                <a:cs typeface="Times New Roman"/>
              </a:rPr>
              <a:t>RI</a:t>
            </a:r>
            <a:r>
              <a:rPr sz="1500" b="1" i="1" spc="0" baseline="28987" dirty="0" smtClean="0">
                <a:latin typeface="Times New Roman"/>
                <a:cs typeface="Times New Roman"/>
              </a:rPr>
              <a:t>O</a:t>
            </a:r>
            <a:r>
              <a:rPr sz="1500" b="1" i="1" spc="-4" baseline="28987" dirty="0" smtClean="0">
                <a:latin typeface="Times New Roman"/>
                <a:cs typeface="Times New Roman"/>
              </a:rPr>
              <a:t>RI</a:t>
            </a:r>
            <a:r>
              <a:rPr sz="1500" b="1" i="1" spc="4" baseline="28987" dirty="0" smtClean="0">
                <a:latin typeface="Times New Roman"/>
                <a:cs typeface="Times New Roman"/>
              </a:rPr>
              <a:t>T</a:t>
            </a:r>
            <a:r>
              <a:rPr sz="1500" b="1" i="1" spc="-4" baseline="28987" dirty="0" smtClean="0">
                <a:latin typeface="Times New Roman"/>
                <a:cs typeface="Times New Roman"/>
              </a:rPr>
              <a:t>AR</a:t>
            </a:r>
            <a:r>
              <a:rPr sz="1500" b="1" i="1" spc="0" baseline="28987" dirty="0" smtClean="0">
                <a:latin typeface="Times New Roman"/>
                <a:cs typeface="Times New Roman"/>
              </a:rPr>
              <a:t>E                  </a:t>
            </a:r>
            <a:r>
              <a:rPr sz="1500" b="1" i="1" spc="9" baseline="28987" dirty="0" smtClean="0">
                <a:latin typeface="Times New Roman"/>
                <a:cs typeface="Times New Roman"/>
              </a:rPr>
              <a:t> </a:t>
            </a:r>
            <a:r>
              <a:rPr sz="1500" b="1" i="1" spc="4" baseline="-11595" dirty="0" smtClean="0">
                <a:latin typeface="Times New Roman"/>
                <a:cs typeface="Times New Roman"/>
              </a:rPr>
              <a:t>12,28%</a:t>
            </a:r>
            <a:endParaRPr sz="1000">
              <a:latin typeface="Times New Roman"/>
              <a:cs typeface="Times New Roman"/>
            </a:endParaRPr>
          </a:p>
          <a:p>
            <a:pPr marL="574166" marR="669789" indent="5044437">
              <a:lnSpc>
                <a:spcPts val="1149"/>
              </a:lnSpc>
              <a:spcBef>
                <a:spcPts val="1286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19,90% </a:t>
            </a:r>
            <a:endParaRPr sz="1000">
              <a:latin typeface="Times New Roman"/>
              <a:cs typeface="Times New Roman"/>
            </a:endParaRPr>
          </a:p>
          <a:p>
            <a:pPr marL="574166" marR="669789">
              <a:lnSpc>
                <a:spcPts val="1149"/>
              </a:lnSpc>
              <a:spcBef>
                <a:spcPts val="20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“</a:t>
            </a:r>
            <a:r>
              <a:rPr sz="1000" b="1" i="1" spc="-4" dirty="0" smtClean="0">
                <a:latin typeface="Times New Roman"/>
                <a:cs typeface="Times New Roman"/>
              </a:rPr>
              <a:t>EC</a:t>
            </a:r>
            <a:r>
              <a:rPr sz="1000" b="1" i="1" spc="0" dirty="0" smtClean="0">
                <a:latin typeface="Times New Roman"/>
                <a:cs typeface="Times New Roman"/>
              </a:rPr>
              <a:t>OM</a:t>
            </a:r>
            <a:r>
              <a:rPr sz="1000" b="1" i="1" spc="-4" dirty="0" smtClean="0">
                <a:latin typeface="Times New Roman"/>
                <a:cs typeface="Times New Roman"/>
              </a:rPr>
              <a:t>A</a:t>
            </a:r>
            <a:r>
              <a:rPr sz="1000" b="1" i="1" spc="0" dirty="0" smtClean="0">
                <a:latin typeface="Times New Roman"/>
                <a:cs typeface="Times New Roman"/>
              </a:rPr>
              <a:t>”</a:t>
            </a:r>
            <a:endParaRPr sz="1000">
              <a:latin typeface="Times New Roman"/>
              <a:cs typeface="Times New Roman"/>
            </a:endParaRPr>
          </a:p>
          <a:p>
            <a:pPr marL="678471" marR="5651456" algn="ctr">
              <a:lnSpc>
                <a:spcPts val="1060"/>
              </a:lnSpc>
              <a:spcBef>
                <a:spcPts val="258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2,65%</a:t>
            </a:r>
            <a:endParaRPr sz="1000">
              <a:latin typeface="Times New Roman"/>
              <a:cs typeface="Times New Roman"/>
            </a:endParaRPr>
          </a:p>
          <a:p>
            <a:pPr marL="457490" marR="5681871" algn="ctr">
              <a:lnSpc>
                <a:spcPct val="95825"/>
              </a:lnSpc>
              <a:spcBef>
                <a:spcPts val="8355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“</a:t>
            </a:r>
            <a:r>
              <a:rPr sz="1000" b="1" i="1" spc="-4" dirty="0" smtClean="0">
                <a:latin typeface="Times New Roman"/>
                <a:cs typeface="Times New Roman"/>
              </a:rPr>
              <a:t>I</a:t>
            </a:r>
            <a:r>
              <a:rPr sz="1000" b="1" i="1" spc="0" dirty="0" smtClean="0">
                <a:latin typeface="Times New Roman"/>
                <a:cs typeface="Times New Roman"/>
              </a:rPr>
              <a:t>ND</a:t>
            </a:r>
            <a:r>
              <a:rPr sz="1000" b="1" i="1" spc="-4" dirty="0" smtClean="0">
                <a:latin typeface="Times New Roman"/>
                <a:cs typeface="Times New Roman"/>
              </a:rPr>
              <a:t>A</a:t>
            </a:r>
            <a:r>
              <a:rPr sz="1000" b="1" i="1" spc="0" dirty="0" smtClean="0">
                <a:latin typeface="Times New Roman"/>
                <a:cs typeface="Times New Roman"/>
              </a:rPr>
              <a:t>L”</a:t>
            </a:r>
            <a:endParaRPr sz="1000">
              <a:latin typeface="Times New Roman"/>
              <a:cs typeface="Times New Roman"/>
            </a:endParaRPr>
          </a:p>
          <a:p>
            <a:pPr marL="575694">
              <a:lnSpc>
                <a:spcPct val="95825"/>
              </a:lnSpc>
              <a:spcBef>
                <a:spcPts val="110"/>
              </a:spcBef>
            </a:pPr>
            <a:r>
              <a:rPr sz="1000" b="1" i="1" spc="4" dirty="0" smtClean="0">
                <a:latin typeface="Times New Roman"/>
                <a:cs typeface="Times New Roman"/>
              </a:rPr>
              <a:t>9,60%</a:t>
            </a:r>
            <a:endParaRPr sz="1000">
              <a:latin typeface="Times New Roman"/>
              <a:cs typeface="Times New Roman"/>
            </a:endParaRPr>
          </a:p>
          <a:p>
            <a:pPr marL="1381224" marR="1046277" algn="ctr">
              <a:lnSpc>
                <a:spcPts val="1149"/>
              </a:lnSpc>
              <a:spcBef>
                <a:spcPts val="650"/>
              </a:spcBef>
            </a:pPr>
            <a:r>
              <a:rPr sz="1500" b="1" i="1" spc="4" baseline="-17392" dirty="0" smtClean="0">
                <a:latin typeface="Times New Roman"/>
                <a:cs typeface="Times New Roman"/>
              </a:rPr>
              <a:t>“Z</a:t>
            </a:r>
            <a:r>
              <a:rPr sz="1500" b="1" i="1" spc="0" baseline="-17392" dirty="0" smtClean="0">
                <a:latin typeface="Times New Roman"/>
                <a:cs typeface="Times New Roman"/>
              </a:rPr>
              <a:t>OOM</a:t>
            </a:r>
            <a:r>
              <a:rPr sz="1500" b="1" i="1" spc="-4" baseline="-17392" dirty="0" smtClean="0">
                <a:latin typeface="Times New Roman"/>
                <a:cs typeface="Times New Roman"/>
              </a:rPr>
              <a:t>E</a:t>
            </a:r>
            <a:r>
              <a:rPr sz="1500" b="1" i="1" spc="0" baseline="-17392" dirty="0" smtClean="0">
                <a:latin typeface="Times New Roman"/>
                <a:cs typeface="Times New Roman"/>
              </a:rPr>
              <a:t>D”                                                                                         </a:t>
            </a:r>
            <a:r>
              <a:rPr sz="1500" b="1" i="1" spc="141" baseline="-17392" dirty="0" smtClean="0">
                <a:latin typeface="Times New Roman"/>
                <a:cs typeface="Times New Roman"/>
              </a:rPr>
              <a:t> </a:t>
            </a:r>
            <a:r>
              <a:rPr sz="1000" b="1" i="1" spc="4" dirty="0" smtClean="0">
                <a:latin typeface="Times New Roman"/>
                <a:cs typeface="Times New Roman"/>
              </a:rPr>
              <a:t>“P</a:t>
            </a:r>
            <a:r>
              <a:rPr sz="1000" b="1" i="1" spc="0" dirty="0" smtClean="0">
                <a:latin typeface="Times New Roman"/>
                <a:cs typeface="Times New Roman"/>
              </a:rPr>
              <a:t>O</a:t>
            </a:r>
            <a:r>
              <a:rPr sz="1000" b="1" i="1" spc="4" dirty="0" smtClean="0">
                <a:latin typeface="Times New Roman"/>
                <a:cs typeface="Times New Roman"/>
              </a:rPr>
              <a:t>L</a:t>
            </a:r>
            <a:r>
              <a:rPr sz="1000" b="1" i="1" spc="-4" dirty="0" smtClean="0">
                <a:latin typeface="Times New Roman"/>
                <a:cs typeface="Times New Roman"/>
              </a:rPr>
              <a:t>EVI</a:t>
            </a:r>
            <a:r>
              <a:rPr sz="1000" b="1" i="1" spc="4" dirty="0" smtClean="0">
                <a:latin typeface="Times New Roman"/>
                <a:cs typeface="Times New Roman"/>
              </a:rPr>
              <a:t>T</a:t>
            </a:r>
            <a:r>
              <a:rPr sz="1000" b="1" i="1" spc="0" dirty="0" smtClean="0">
                <a:latin typeface="Times New Roman"/>
                <a:cs typeface="Times New Roman"/>
              </a:rPr>
              <a:t>”</a:t>
            </a:r>
            <a:endParaRPr sz="1000">
              <a:latin typeface="Times New Roman"/>
              <a:cs typeface="Times New Roman"/>
            </a:endParaRPr>
          </a:p>
          <a:p>
            <a:pPr marL="2450464" marR="2465125" algn="ctr">
              <a:lnSpc>
                <a:spcPct val="95825"/>
              </a:lnSpc>
              <a:spcBef>
                <a:spcPts val="5503"/>
              </a:spcBef>
            </a:pPr>
            <a:r>
              <a:rPr sz="1200" b="1" i="1" spc="0" dirty="0" smtClean="0">
                <a:latin typeface="Times New Roman"/>
                <a:cs typeface="Times New Roman"/>
              </a:rPr>
              <a:t>Obiectivele subprogramelor</a:t>
            </a:r>
            <a:endParaRPr sz="1200">
              <a:latin typeface="Times New Roman"/>
              <a:cs typeface="Times New Roman"/>
            </a:endParaRPr>
          </a:p>
          <a:p>
            <a:pPr marL="374522" marR="368285" indent="0">
              <a:lnSpc>
                <a:spcPts val="1030"/>
              </a:lnSpc>
              <a:spcBef>
                <a:spcPts val="143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</a:t>
            </a:r>
            <a:r>
              <a:rPr sz="900" b="1" spc="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“RESNAT”</a:t>
            </a:r>
            <a:r>
              <a:rPr sz="900" b="1" i="1" spc="6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-</a:t>
            </a:r>
            <a:r>
              <a:rPr sz="900" b="1" i="1" spc="5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val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a,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ia,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iora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valori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icarea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natur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concor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nta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cipiile dezvolt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agric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74534">
              <a:lnSpc>
                <a:spcPct val="95825"/>
              </a:lnSpc>
              <a:spcBef>
                <a:spcPts val="9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iecti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if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ce:</a:t>
            </a:r>
            <a:endParaRPr sz="900">
              <a:latin typeface="Times New Roman"/>
              <a:cs typeface="Times New Roman"/>
            </a:endParaRPr>
          </a:p>
          <a:p>
            <a:pPr marL="878997" marR="370470" indent="-252237" algn="just">
              <a:lnSpc>
                <a:spcPct val="96112"/>
              </a:lnSpc>
              <a:spcBef>
                <a:spcPts val="45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Eval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progn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ialului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ecol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gic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tegiilor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dife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enţ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rea </a:t>
            </a:r>
            <a:r>
              <a:rPr sz="900" spc="0" dirty="0" smtClean="0">
                <a:latin typeface="Times New Roman"/>
                <a:cs typeface="Times New Roman"/>
              </a:rPr>
              <a:t>terit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lă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cultu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rura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1856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1</a:t>
            </a:r>
            <a:r>
              <a:rPr sz="1000" spc="0" dirty="0" smtClean="0"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626744">
              <a:lnSpc>
                <a:spcPct val="95825"/>
              </a:lnSpc>
              <a:spcBef>
                <a:spcPts val="1431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rocedee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mod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ca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-4" dirty="0" smtClean="0">
                <a:latin typeface="Times New Roman"/>
                <a:cs typeface="Times New Roman"/>
              </a:rPr>
              <a:t>ru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st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sol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mosf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plantă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suport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mentul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culturilor</a:t>
            </a:r>
            <a:endParaRPr sz="900">
              <a:latin typeface="Times New Roman"/>
              <a:cs typeface="Times New Roman"/>
            </a:endParaRPr>
          </a:p>
          <a:p>
            <a:pPr marL="878970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pred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626745">
              <a:lnSpc>
                <a:spcPct val="95825"/>
              </a:lnSpc>
              <a:spcBef>
                <a:spcPts val="18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Fundamentarea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ped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ilor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78993" marR="369888" indent="-252237">
              <a:lnSpc>
                <a:spcPts val="1030"/>
              </a:lnSpc>
              <a:spcBef>
                <a:spcPts val="131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tehnici,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metode,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iciente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doameliorative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enaj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</a:t>
            </a:r>
            <a:r>
              <a:rPr sz="900" spc="-4" dirty="0" smtClean="0">
                <a:latin typeface="Times New Roman"/>
                <a:cs typeface="Times New Roman"/>
              </a:rPr>
              <a:t>nă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funciare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conco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da</a:t>
            </a:r>
            <a:r>
              <a:rPr sz="900" spc="-4" dirty="0" smtClean="0">
                <a:latin typeface="Times New Roman"/>
                <a:cs typeface="Times New Roman"/>
              </a:rPr>
              <a:t>nţ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tipu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exploat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626767">
              <a:lnSpc>
                <a:spcPct val="95825"/>
              </a:lnSpc>
              <a:spcBef>
                <a:spcPts val="3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metode,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ici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ee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logice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iciente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reabilitarea,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econstruc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ia,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endParaRPr sz="900">
              <a:latin typeface="Times New Roman"/>
              <a:cs typeface="Times New Roman"/>
            </a:endParaRPr>
          </a:p>
          <a:p>
            <a:pPr marL="878982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abi</a:t>
            </a:r>
            <a:r>
              <a:rPr sz="900" spc="-9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renu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 degra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şi/sau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slab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productive.</a:t>
            </a:r>
            <a:endParaRPr sz="900">
              <a:latin typeface="Times New Roman"/>
              <a:cs typeface="Times New Roman"/>
            </a:endParaRPr>
          </a:p>
          <a:p>
            <a:pPr marL="878993" marR="369460" indent="-252225">
              <a:lnSpc>
                <a:spcPct val="96112"/>
              </a:lnSpc>
              <a:spcBef>
                <a:spcPts val="8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Opti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izar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ului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sol,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19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tă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cond</a:t>
            </a:r>
            <a:r>
              <a:rPr sz="900" spc="4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resurselor natur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valorifi</a:t>
            </a:r>
            <a:r>
              <a:rPr sz="900" spc="4" dirty="0" smtClean="0">
                <a:latin typeface="Times New Roman"/>
                <a:cs typeface="Times New Roman"/>
              </a:rPr>
              <a:t>că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ef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 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olog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mintelor,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şeu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ilor.</a:t>
            </a:r>
            <a:endParaRPr sz="900">
              <a:latin typeface="Times New Roman"/>
              <a:cs typeface="Times New Roman"/>
            </a:endParaRPr>
          </a:p>
          <a:p>
            <a:pPr marL="879027" marR="369429" indent="-252237">
              <a:lnSpc>
                <a:spcPct val="96112"/>
              </a:lnSpc>
              <a:spcBef>
                <a:spcPts val="60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Metode,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tehnici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procedee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utilizare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ificare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resurselor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pă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feno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or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extre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 (sec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xces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apă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)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79039" marR="369948" indent="-252237">
              <a:lnSpc>
                <a:spcPts val="1030"/>
              </a:lnSpc>
              <a:spcBef>
                <a:spcPts val="126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Eval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nuril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pozita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dastr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,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organiza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terito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iului.</a:t>
            </a:r>
            <a:endParaRPr sz="900">
              <a:latin typeface="Times New Roman"/>
              <a:cs typeface="Times New Roman"/>
            </a:endParaRPr>
          </a:p>
          <a:p>
            <a:pPr marL="626813">
              <a:lnSpc>
                <a:spcPct val="95825"/>
              </a:lnSpc>
              <a:spcBef>
                <a:spcPts val="3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Economia iri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ltor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ena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funcia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tipuri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79073" marR="369863" indent="-252237">
              <a:lnSpc>
                <a:spcPts val="1030"/>
              </a:lnSpc>
              <a:spcBef>
                <a:spcPts val="131"/>
              </a:spcBef>
              <a:tabLst>
                <a:tab pos="8763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Promovarea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iseminarea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ştin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zul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C-D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privind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cult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ezvo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durabi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l.</a:t>
            </a:r>
            <a:endParaRPr sz="900">
              <a:latin typeface="Times New Roman"/>
              <a:cs typeface="Times New Roman"/>
            </a:endParaRPr>
          </a:p>
          <a:p>
            <a:pPr marL="374633">
              <a:lnSpc>
                <a:spcPct val="95825"/>
              </a:lnSpc>
              <a:spcBef>
                <a:spcPts val="202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</a:t>
            </a:r>
            <a:r>
              <a:rPr sz="900" b="1" spc="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“GESICA”- Genotipuri şi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siste</a:t>
            </a:r>
            <a:r>
              <a:rPr sz="900" b="1" i="1" spc="-4" dirty="0" smtClean="0">
                <a:latin typeface="Times New Roman"/>
                <a:cs typeface="Times New Roman"/>
              </a:rPr>
              <a:t>m</a:t>
            </a:r>
            <a:r>
              <a:rPr sz="900" b="1" i="1" spc="0" dirty="0" smtClean="0">
                <a:latin typeface="Times New Roman"/>
                <a:cs typeface="Times New Roman"/>
              </a:rPr>
              <a:t>e tehnologi</a:t>
            </a:r>
            <a:r>
              <a:rPr sz="900" b="1" i="1" spc="-4" dirty="0" smtClean="0">
                <a:latin typeface="Times New Roman"/>
                <a:cs typeface="Times New Roman"/>
              </a:rPr>
              <a:t>c</a:t>
            </a:r>
            <a:r>
              <a:rPr sz="900" b="1" i="1" spc="0" dirty="0" smtClean="0">
                <a:latin typeface="Times New Roman"/>
                <a:cs typeface="Times New Roman"/>
              </a:rPr>
              <a:t>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-4" dirty="0" smtClean="0">
                <a:latin typeface="Times New Roman"/>
                <a:cs typeface="Times New Roman"/>
              </a:rPr>
              <a:t>p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rformante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-4" dirty="0" smtClean="0">
                <a:latin typeface="Times New Roman"/>
                <a:cs typeface="Times New Roman"/>
              </a:rPr>
              <a:t>p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ntru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plante</a:t>
            </a:r>
            <a:r>
              <a:rPr sz="900" b="1" i="1" spc="-4" dirty="0" smtClean="0">
                <a:latin typeface="Times New Roman"/>
                <a:cs typeface="Times New Roman"/>
              </a:rPr>
              <a:t>l</a:t>
            </a:r>
            <a:r>
              <a:rPr sz="900" b="1" i="1" spc="0" dirty="0" smtClean="0">
                <a:latin typeface="Times New Roman"/>
                <a:cs typeface="Times New Roman"/>
              </a:rPr>
              <a:t>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-4" dirty="0" smtClean="0">
                <a:latin typeface="Times New Roman"/>
                <a:cs typeface="Times New Roman"/>
              </a:rPr>
              <a:t>d</a:t>
            </a:r>
            <a:r>
              <a:rPr sz="900" b="1" i="1" spc="0" dirty="0" smtClean="0">
                <a:latin typeface="Times New Roman"/>
                <a:cs typeface="Times New Roman"/>
              </a:rPr>
              <a:t>e câmp</a:t>
            </a:r>
            <a:endParaRPr sz="900">
              <a:latin typeface="Times New Roman"/>
              <a:cs typeface="Times New Roman"/>
            </a:endParaRPr>
          </a:p>
          <a:p>
            <a:pPr marL="374633">
              <a:lnSpc>
                <a:spcPct val="95825"/>
              </a:lnSpc>
              <a:spcBef>
                <a:spcPts val="103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iecti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if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ce:</a:t>
            </a:r>
            <a:endParaRPr sz="900">
              <a:latin typeface="Times New Roman"/>
              <a:cs typeface="Times New Roman"/>
            </a:endParaRPr>
          </a:p>
          <a:p>
            <a:pPr marL="824209">
              <a:lnSpc>
                <a:spcPct val="95825"/>
              </a:lnSpc>
              <a:spcBef>
                <a:spcPts val="45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area resur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germoplas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elio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ică a 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p.</a:t>
            </a:r>
            <a:endParaRPr sz="900">
              <a:latin typeface="Times New Roman"/>
              <a:cs typeface="Times New Roman"/>
            </a:endParaRPr>
          </a:p>
          <a:p>
            <a:pPr marL="1076435" marR="369042" indent="-252225">
              <a:lnSpc>
                <a:spcPct val="96112"/>
              </a:lnSpc>
              <a:spcBef>
                <a:spcPts val="60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netice  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realizarea   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prog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es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nifi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ativ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 stab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ate pe 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aţă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ele p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ioas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446" marR="369030" indent="-252225">
              <a:lnSpc>
                <a:spcPts val="1030"/>
              </a:lnSpc>
              <a:spcBef>
                <a:spcPts val="126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netice  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realizarea   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prog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es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nifi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ativ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 stab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ate pe 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aţă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porumb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sor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458" marR="369785" indent="-252225">
              <a:lnSpc>
                <a:spcPts val="1030"/>
              </a:lnSpc>
              <a:spcBef>
                <a:spcPts val="7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netice  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realizarea   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prog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es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nifi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ativ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ate pe 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aţă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plantele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oleoproteice.</a:t>
            </a:r>
            <a:endParaRPr sz="900">
              <a:latin typeface="Times New Roman"/>
              <a:cs typeface="Times New Roman"/>
            </a:endParaRPr>
          </a:p>
          <a:p>
            <a:pPr marL="1076469" marR="369007" indent="-252225">
              <a:lnSpc>
                <a:spcPct val="96112"/>
              </a:lnSpc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netice  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realizarea   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prog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es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nifi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ativ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 stab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ate pe 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aţă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hni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(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tof, sfec</a:t>
            </a:r>
            <a:r>
              <a:rPr sz="900" spc="-9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fib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 şi câ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).</a:t>
            </a:r>
            <a:endParaRPr sz="900">
              <a:latin typeface="Times New Roman"/>
              <a:cs typeface="Times New Roman"/>
            </a:endParaRPr>
          </a:p>
          <a:p>
            <a:pPr marL="1076504" marR="368973" indent="-252225">
              <a:lnSpc>
                <a:spcPct val="96112"/>
              </a:lnSpc>
              <a:spcBef>
                <a:spcPts val="60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netice  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realizarea   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prog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es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nifi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ativ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 stab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ate pe 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aţă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spc="-4" dirty="0" smtClean="0">
                <a:latin typeface="Times New Roman"/>
                <a:cs typeface="Times New Roman"/>
              </a:rPr>
              <a:t>fura</a:t>
            </a:r>
            <a:r>
              <a:rPr sz="900" spc="0" dirty="0" smtClean="0">
                <a:latin typeface="Times New Roman"/>
                <a:cs typeface="Times New Roman"/>
              </a:rPr>
              <a:t>j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515" marR="368962" indent="-252225">
              <a:lnSpc>
                <a:spcPts val="1030"/>
              </a:lnSpc>
              <a:spcBef>
                <a:spcPts val="126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netice  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realizarea   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prog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es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nifi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ativ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 stab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ate pe 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aţă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aro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e,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dici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şi 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ctori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526" marR="368657" indent="-252225">
              <a:lnSpc>
                <a:spcPts val="1030"/>
              </a:lnSpc>
              <a:spcBef>
                <a:spcPts val="7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cep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tod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entru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dezvoltarea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cercet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ve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telor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 destinate consumului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ipl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549" marR="369760" indent="-252237">
              <a:lnSpc>
                <a:spcPct val="96112"/>
              </a:lnSpc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inerea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materialului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ditor,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min</a:t>
            </a:r>
            <a:r>
              <a:rPr sz="900" spc="4" dirty="0" smtClean="0">
                <a:latin typeface="Times New Roman"/>
                <a:cs typeface="Times New Roman"/>
              </a:rPr>
              <a:t>ce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categorii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iologice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superioa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cultura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telor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p.</a:t>
            </a:r>
            <a:endParaRPr sz="900">
              <a:latin typeface="Times New Roman"/>
              <a:cs typeface="Times New Roman"/>
            </a:endParaRPr>
          </a:p>
          <a:p>
            <a:pPr marL="824323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şi 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limitarea 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ectelor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factori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risc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asupra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p.</a:t>
            </a:r>
            <a:endParaRPr sz="900">
              <a:latin typeface="Times New Roman"/>
              <a:cs typeface="Times New Roman"/>
            </a:endParaRPr>
          </a:p>
          <a:p>
            <a:pPr marL="824335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Conservarea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elio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agroteh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e.</a:t>
            </a:r>
            <a:endParaRPr sz="900">
              <a:latin typeface="Times New Roman"/>
              <a:cs typeface="Times New Roman"/>
            </a:endParaRPr>
          </a:p>
          <a:p>
            <a:pPr marL="824346">
              <a:lnSpc>
                <a:spcPct val="95825"/>
              </a:lnSpc>
              <a:spcBef>
                <a:spcPts val="7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 ec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eficie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 economic şi ad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va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ifer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zone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do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595" marR="369349" indent="-252237">
              <a:lnSpc>
                <a:spcPts val="1030"/>
              </a:lnSpc>
              <a:spcBef>
                <a:spcPts val="131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Tehnologii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chimice,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ice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iotehn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logice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concure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burui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asup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câmp,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asupra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calit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lui.</a:t>
            </a:r>
            <a:endParaRPr sz="900">
              <a:latin typeface="Times New Roman"/>
              <a:cs typeface="Times New Roman"/>
            </a:endParaRPr>
          </a:p>
          <a:p>
            <a:pPr marL="1076595" marR="368413" indent="-252225">
              <a:lnSpc>
                <a:spcPts val="1030"/>
              </a:lnSpc>
              <a:spcBef>
                <a:spcPts val="7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tehnolo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ice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avansate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 protec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  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potri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ilor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ilor,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concorda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ţă 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ipi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cult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rii durab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24381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Promovarea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iseminarea cun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ştin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zul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te la cu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p.</a:t>
            </a:r>
            <a:endParaRPr sz="900">
              <a:latin typeface="Times New Roman"/>
              <a:cs typeface="Times New Roman"/>
            </a:endParaRPr>
          </a:p>
          <a:p>
            <a:pPr marL="374816">
              <a:lnSpc>
                <a:spcPct val="95825"/>
              </a:lnSpc>
              <a:spcBef>
                <a:spcPts val="209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</a:t>
            </a:r>
            <a:r>
              <a:rPr sz="900" b="1" spc="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“POLEVIT”- Produse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hortiv</a:t>
            </a:r>
            <a:r>
              <a:rPr sz="900" b="1" i="1" spc="-4" dirty="0" smtClean="0">
                <a:latin typeface="Times New Roman"/>
                <a:cs typeface="Times New Roman"/>
              </a:rPr>
              <a:t>i</a:t>
            </a:r>
            <a:r>
              <a:rPr sz="900" b="1" i="1" spc="0" dirty="0" smtClean="0">
                <a:latin typeface="Times New Roman"/>
                <a:cs typeface="Times New Roman"/>
              </a:rPr>
              <a:t>tico</a:t>
            </a:r>
            <a:r>
              <a:rPr sz="900" b="1" i="1" spc="-4" dirty="0" smtClean="0">
                <a:latin typeface="Times New Roman"/>
                <a:cs typeface="Times New Roman"/>
              </a:rPr>
              <a:t>l</a:t>
            </a:r>
            <a:r>
              <a:rPr sz="900" b="1" i="1" spc="0" dirty="0" smtClean="0">
                <a:latin typeface="Times New Roman"/>
                <a:cs typeface="Times New Roman"/>
              </a:rPr>
              <a:t>e com</a:t>
            </a:r>
            <a:r>
              <a:rPr sz="900" b="1" i="1" spc="-4" dirty="0" smtClean="0">
                <a:latin typeface="Times New Roman"/>
                <a:cs typeface="Times New Roman"/>
              </a:rPr>
              <a:t>p</a:t>
            </a:r>
            <a:r>
              <a:rPr sz="900" b="1" i="1" spc="0" dirty="0" smtClean="0">
                <a:latin typeface="Times New Roman"/>
                <a:cs typeface="Times New Roman"/>
              </a:rPr>
              <a:t>et</a:t>
            </a:r>
            <a:r>
              <a:rPr sz="900" b="1" i="1" spc="-4" dirty="0" smtClean="0">
                <a:latin typeface="Times New Roman"/>
                <a:cs typeface="Times New Roman"/>
              </a:rPr>
              <a:t>i</a:t>
            </a:r>
            <a:r>
              <a:rPr sz="900" b="1" i="1" spc="0" dirty="0" smtClean="0">
                <a:latin typeface="Times New Roman"/>
                <a:cs typeface="Times New Roman"/>
              </a:rPr>
              <a:t>t</a:t>
            </a:r>
            <a:r>
              <a:rPr sz="900" b="1" i="1" spc="-4" dirty="0" smtClean="0">
                <a:latin typeface="Times New Roman"/>
                <a:cs typeface="Times New Roman"/>
              </a:rPr>
              <a:t>i</a:t>
            </a:r>
            <a:r>
              <a:rPr sz="900" b="1" i="1" spc="0" dirty="0" smtClean="0">
                <a:latin typeface="Times New Roman"/>
                <a:cs typeface="Times New Roman"/>
              </a:rPr>
              <a:t>ve</a:t>
            </a:r>
            <a:r>
              <a:rPr sz="900" b="1" i="1" spc="-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şi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dezv</a:t>
            </a:r>
            <a:r>
              <a:rPr sz="900" b="1" i="1" spc="-4" dirty="0" smtClean="0">
                <a:latin typeface="Times New Roman"/>
                <a:cs typeface="Times New Roman"/>
              </a:rPr>
              <a:t>o</a:t>
            </a:r>
            <a:r>
              <a:rPr sz="900" b="1" i="1" spc="0" dirty="0" smtClean="0">
                <a:latin typeface="Times New Roman"/>
                <a:cs typeface="Times New Roman"/>
              </a:rPr>
              <a:t>ltarea</a:t>
            </a:r>
            <a:r>
              <a:rPr sz="900" b="1" i="1" spc="-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durabi</a:t>
            </a:r>
            <a:r>
              <a:rPr sz="900" b="1" i="1" spc="4" dirty="0" smtClean="0">
                <a:latin typeface="Times New Roman"/>
                <a:cs typeface="Times New Roman"/>
              </a:rPr>
              <a:t>l</a:t>
            </a:r>
            <a:r>
              <a:rPr sz="900" b="1" i="1" spc="0" dirty="0" smtClean="0">
                <a:latin typeface="Times New Roman"/>
                <a:cs typeface="Times New Roman"/>
              </a:rPr>
              <a:t>ă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a</a:t>
            </a:r>
            <a:r>
              <a:rPr sz="900" b="1" i="1" spc="-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agrosistem</a:t>
            </a:r>
            <a:r>
              <a:rPr sz="900" b="1" i="1" spc="-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lor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hortiv</a:t>
            </a:r>
            <a:r>
              <a:rPr sz="900" b="1" i="1" spc="-4" dirty="0" smtClean="0">
                <a:latin typeface="Times New Roman"/>
                <a:cs typeface="Times New Roman"/>
              </a:rPr>
              <a:t>i</a:t>
            </a:r>
            <a:r>
              <a:rPr sz="900" b="1" i="1" spc="0" dirty="0" smtClean="0">
                <a:latin typeface="Times New Roman"/>
                <a:cs typeface="Times New Roman"/>
              </a:rPr>
              <a:t>tic</a:t>
            </a:r>
            <a:r>
              <a:rPr sz="900" b="1" i="1" spc="-4" dirty="0" smtClean="0">
                <a:latin typeface="Times New Roman"/>
                <a:cs typeface="Times New Roman"/>
              </a:rPr>
              <a:t>o</a:t>
            </a:r>
            <a:r>
              <a:rPr sz="900" b="1" i="1" spc="0" dirty="0" smtClean="0">
                <a:latin typeface="Times New Roman"/>
                <a:cs typeface="Times New Roman"/>
              </a:rPr>
              <a:t>le</a:t>
            </a:r>
            <a:endParaRPr sz="900">
              <a:latin typeface="Times New Roman"/>
              <a:cs typeface="Times New Roman"/>
            </a:endParaRPr>
          </a:p>
          <a:p>
            <a:pPr marL="374816">
              <a:lnSpc>
                <a:spcPct val="95825"/>
              </a:lnSpc>
              <a:spcBef>
                <a:spcPts val="103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iecti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if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ce:</a:t>
            </a:r>
            <a:endParaRPr sz="900">
              <a:latin typeface="Times New Roman"/>
              <a:cs typeface="Times New Roman"/>
            </a:endParaRPr>
          </a:p>
          <a:p>
            <a:pPr marL="1076618" marR="368223" indent="-252225">
              <a:lnSpc>
                <a:spcPct val="96112"/>
              </a:lnSpc>
              <a:spcBef>
                <a:spcPts val="4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logice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hortivitic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ada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lturi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î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sp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zone ecolo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tive pe pi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ţă.</a:t>
            </a:r>
            <a:endParaRPr sz="900">
              <a:latin typeface="Times New Roman"/>
              <a:cs typeface="Times New Roman"/>
            </a:endParaRPr>
          </a:p>
          <a:p>
            <a:pPr marL="1076629" marR="369611" indent="-252237">
              <a:lnSpc>
                <a:spcPts val="1030"/>
              </a:lnSpc>
              <a:spcBef>
                <a:spcPts val="126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fe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ito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2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utilizarea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surselor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rmoplasmă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ide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surse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gene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cesare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amelio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</a:t>
            </a:r>
            <a:r>
              <a:rPr sz="900" spc="-9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şi hibrizi</a:t>
            </a:r>
            <a:r>
              <a:rPr sz="900" spc="-4" dirty="0" smtClean="0">
                <a:latin typeface="Times New Roman"/>
                <a:cs typeface="Times New Roman"/>
              </a:rPr>
              <a:t>lo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 horti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641" marR="368207" indent="-252225">
              <a:lnSpc>
                <a:spcPct val="96112"/>
              </a:lnSpc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Dezvol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tică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conven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olec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biotehnologiei,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himiei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infor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asigurarea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progres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elior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ică a pl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24426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inerea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materialului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ditor,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semincer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ş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categorii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iologice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superioa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tele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tiviticole</a:t>
            </a:r>
            <a:endParaRPr sz="900">
              <a:latin typeface="Times New Roman"/>
              <a:cs typeface="Times New Roman"/>
            </a:endParaRPr>
          </a:p>
          <a:p>
            <a:pPr marL="1055380" marR="2993268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tulpi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ilor pure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la ciu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ile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686" marR="369086" indent="-252248">
              <a:lnSpc>
                <a:spcPts val="1030"/>
              </a:lnSpc>
              <a:spcBef>
                <a:spcPts val="131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ale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hor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culti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ife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ite con</a:t>
            </a:r>
            <a:r>
              <a:rPr sz="900" spc="-4" dirty="0" smtClean="0">
                <a:latin typeface="Times New Roman"/>
                <a:cs typeface="Times New Roman"/>
              </a:rPr>
              <a:t>di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do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-4" dirty="0" smtClean="0">
                <a:latin typeface="Times New Roman"/>
                <a:cs typeface="Times New Roman"/>
              </a:rPr>
              <a:t>sp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ja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076709" marR="369354" indent="-252237">
              <a:lnSpc>
                <a:spcPts val="1030"/>
              </a:lnSpc>
              <a:spcBef>
                <a:spcPts val="7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Stabili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 spe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la 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ole 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valoare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funcia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din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vorizate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l.</a:t>
            </a:r>
            <a:endParaRPr sz="900">
              <a:latin typeface="Times New Roman"/>
              <a:cs typeface="Times New Roman"/>
            </a:endParaRPr>
          </a:p>
          <a:p>
            <a:pPr marL="1076709" marR="369554" indent="-252225">
              <a:lnSpc>
                <a:spcPct val="96112"/>
              </a:lnSpc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strateg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i,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buruie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sub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prag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unar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la speci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 hor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cul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în 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protejate.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2654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1</a:t>
            </a:r>
            <a:r>
              <a:rPr sz="1000" spc="0" dirty="0" smtClean="0">
                <a:latin typeface="Times New Roman"/>
                <a:cs typeface="Times New Roman"/>
              </a:rPr>
              <a:t>7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1076340" marR="368918" indent="-252237" algn="just">
              <a:lnSpc>
                <a:spcPts val="1030"/>
              </a:lnSpc>
              <a:spcBef>
                <a:spcPts val="1499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ej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desti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</a:t>
            </a:r>
            <a:r>
              <a:rPr sz="900" spc="-9" dirty="0" smtClean="0">
                <a:latin typeface="Times New Roman"/>
                <a:cs typeface="Times New Roman"/>
              </a:rPr>
              <a:t>ş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tivitic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 consu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351" marR="369075" indent="-252225" algn="just">
              <a:lnSpc>
                <a:spcPts val="1030"/>
              </a:lnSpc>
              <a:spcBef>
                <a:spcPts val="7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organ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transportul,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ambala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iile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ificarea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iferite destina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tiviticole.</a:t>
            </a:r>
            <a:endParaRPr sz="900">
              <a:latin typeface="Times New Roman"/>
              <a:cs typeface="Times New Roman"/>
            </a:endParaRPr>
          </a:p>
          <a:p>
            <a:pPr marL="1076351" marR="369789" indent="-252225" algn="just">
              <a:lnSpc>
                <a:spcPct val="96112"/>
              </a:lnSpc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Sisteme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iale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icare,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producere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</a:t>
            </a:r>
            <a:r>
              <a:rPr sz="900" spc="-4" dirty="0" smtClean="0">
                <a:latin typeface="Times New Roman"/>
                <a:cs typeface="Times New Roman"/>
              </a:rPr>
              <a:t>k</a:t>
            </a:r>
            <a:r>
              <a:rPr sz="900" spc="0" dirty="0" smtClean="0">
                <a:latin typeface="Times New Roman"/>
                <a:cs typeface="Times New Roman"/>
              </a:rPr>
              <a:t>eting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horticole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cadrul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politicilor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icole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asist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de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eca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int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rve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ţ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24137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Promovarea,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iseminarea,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onstrar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ez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telor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ştii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ulturii.</a:t>
            </a:r>
            <a:endParaRPr sz="900">
              <a:latin typeface="Times New Roman"/>
              <a:cs typeface="Times New Roman"/>
            </a:endParaRPr>
          </a:p>
          <a:p>
            <a:pPr marL="374572">
              <a:lnSpc>
                <a:spcPct val="95825"/>
              </a:lnSpc>
              <a:spcBef>
                <a:spcPts val="209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</a:t>
            </a:r>
            <a:r>
              <a:rPr sz="900" b="1" spc="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“ZOOMED”- Sisteme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de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produc</a:t>
            </a:r>
            <a:r>
              <a:rPr sz="900" b="1" i="1" spc="4" dirty="0" smtClean="0">
                <a:latin typeface="Times New Roman"/>
                <a:cs typeface="Times New Roman"/>
              </a:rPr>
              <a:t>ţ</a:t>
            </a:r>
            <a:r>
              <a:rPr sz="900" b="1" i="1" spc="0" dirty="0" smtClean="0">
                <a:latin typeface="Times New Roman"/>
                <a:cs typeface="Times New Roman"/>
              </a:rPr>
              <a:t>ie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zootehnică</a:t>
            </a:r>
            <a:r>
              <a:rPr sz="900" b="1" i="1" spc="-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şi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de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protec</a:t>
            </a:r>
            <a:r>
              <a:rPr sz="900" b="1" i="1" spc="-4" dirty="0" smtClean="0">
                <a:latin typeface="Times New Roman"/>
                <a:cs typeface="Times New Roman"/>
              </a:rPr>
              <a:t>ţ</a:t>
            </a:r>
            <a:r>
              <a:rPr sz="900" b="1" i="1" spc="0" dirty="0" smtClean="0">
                <a:latin typeface="Times New Roman"/>
                <a:cs typeface="Times New Roman"/>
              </a:rPr>
              <a:t>ie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sanitar</a:t>
            </a:r>
            <a:r>
              <a:rPr sz="900" b="1" i="1" spc="-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v</a:t>
            </a:r>
            <a:r>
              <a:rPr sz="900" b="1" i="1" spc="-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terina</a:t>
            </a:r>
            <a:r>
              <a:rPr sz="900" b="1" i="1" spc="-4" dirty="0" smtClean="0">
                <a:latin typeface="Times New Roman"/>
                <a:cs typeface="Times New Roman"/>
              </a:rPr>
              <a:t>r</a:t>
            </a:r>
            <a:r>
              <a:rPr sz="900" b="1" i="1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374549">
              <a:lnSpc>
                <a:spcPct val="95825"/>
              </a:lnSpc>
              <a:spcBef>
                <a:spcPts val="103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iecti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if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ce:</a:t>
            </a:r>
            <a:endParaRPr sz="900">
              <a:latin typeface="Times New Roman"/>
              <a:cs typeface="Times New Roman"/>
            </a:endParaRPr>
          </a:p>
          <a:p>
            <a:pPr marL="1076351" marR="370600" indent="-252225" algn="just">
              <a:lnSpc>
                <a:spcPts val="1030"/>
              </a:lnSpc>
              <a:spcBef>
                <a:spcPts val="111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Metode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ameliorare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ial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superior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animale,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crearea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linii, popul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hibrizi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bun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irea ra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ani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e.</a:t>
            </a:r>
            <a:endParaRPr sz="900">
              <a:latin typeface="Times New Roman"/>
              <a:cs typeface="Times New Roman"/>
            </a:endParaRPr>
          </a:p>
          <a:p>
            <a:pPr marL="1076374" marR="369147" indent="-252225" algn="just">
              <a:lnSpc>
                <a:spcPct val="96112"/>
              </a:lnSpc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ide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conserva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resurselor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ale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est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une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celor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pericol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dispar</a:t>
            </a:r>
            <a:r>
              <a:rPr sz="900" spc="-9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385" marR="369986" indent="-252237" algn="just">
              <a:lnSpc>
                <a:spcPct val="96112"/>
              </a:lnSpc>
              <a:spcBef>
                <a:spcPts val="60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Dezvoltarea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tehnicilor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biotehnologiilor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ie,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ingi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rie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geneti</a:t>
            </a:r>
            <a:r>
              <a:rPr sz="900" spc="-4" dirty="0" smtClean="0">
                <a:latin typeface="Times New Roman"/>
                <a:cs typeface="Times New Roman"/>
              </a:rPr>
              <a:t>că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netică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 imunogenetică 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ate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esele de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iorar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408" marR="369147" indent="-252237" algn="just">
              <a:lnSpc>
                <a:spcPts val="1030"/>
              </a:lnSpc>
              <a:spcBef>
                <a:spcPts val="126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Tehnologii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creştere,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loatare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me</a:t>
            </a:r>
            <a:r>
              <a:rPr sz="900" spc="0" dirty="0" smtClean="0">
                <a:latin typeface="Times New Roman"/>
                <a:cs typeface="Times New Roman"/>
              </a:rPr>
              <a:t>can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rite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rimi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ezvolta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durabi</a:t>
            </a:r>
            <a:r>
              <a:rPr sz="900" spc="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adi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înt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ere.</a:t>
            </a:r>
            <a:endParaRPr sz="900">
              <a:latin typeface="Times New Roman"/>
              <a:cs typeface="Times New Roman"/>
            </a:endParaRPr>
          </a:p>
          <a:p>
            <a:pPr marL="1076420" marR="370341" indent="-252237" algn="just">
              <a:lnSpc>
                <a:spcPts val="1030"/>
              </a:lnSpc>
              <a:spcBef>
                <a:spcPts val="7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Conversia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jelor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animaliere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ee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aluarea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tri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ionale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op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mi</a:t>
            </a:r>
            <a:r>
              <a:rPr sz="900" spc="4" dirty="0" smtClean="0">
                <a:latin typeface="Times New Roman"/>
                <a:cs typeface="Times New Roman"/>
              </a:rPr>
              <a:t>za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ea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lor.</a:t>
            </a:r>
            <a:endParaRPr sz="900">
              <a:latin typeface="Times New Roman"/>
              <a:cs typeface="Times New Roman"/>
            </a:endParaRPr>
          </a:p>
          <a:p>
            <a:pPr marL="1076431" marR="369811" indent="-252237" algn="just">
              <a:lnSpc>
                <a:spcPct val="96112"/>
              </a:lnSpc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Tehnologii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recoltare, con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erva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prepa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are, asigura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nutre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urilor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ilor furaj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443" marR="369800" indent="-252237" algn="just">
              <a:lnSpc>
                <a:spcPct val="96112"/>
              </a:lnSpc>
              <a:spcBef>
                <a:spcPts val="60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Metode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ire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elor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animale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logiei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eluc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acestora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zooteh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24217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Epide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iolog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ipa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 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tolog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 la 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ale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24228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Sanogeneza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igine 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ima</a:t>
            </a:r>
            <a:r>
              <a:rPr sz="900" spc="-9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454" marR="368505" indent="-252225" algn="just">
              <a:lnSpc>
                <a:spcPct val="96112"/>
              </a:lnSpc>
              <a:spcBef>
                <a:spcPts val="60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9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pes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uitul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i,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um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lori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ple</a:t>
            </a:r>
            <a:r>
              <a:rPr sz="900" spc="-9" dirty="0" smtClean="0">
                <a:latin typeface="Times New Roman"/>
                <a:cs typeface="Times New Roman"/>
              </a:rPr>
              <a:t>x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esurselor acv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076477" marR="369494" indent="-252248" algn="just">
              <a:lnSpc>
                <a:spcPct val="96112"/>
              </a:lnSpc>
              <a:spcBef>
                <a:spcPts val="60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Dis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inarea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rez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ice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nute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eniile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alelo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ac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 vete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inare.</a:t>
            </a:r>
            <a:endParaRPr sz="900">
              <a:latin typeface="Times New Roman"/>
              <a:cs typeface="Times New Roman"/>
            </a:endParaRPr>
          </a:p>
          <a:p>
            <a:pPr marL="374675">
              <a:lnSpc>
                <a:spcPct val="95825"/>
              </a:lnSpc>
              <a:spcBef>
                <a:spcPts val="2082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</a:t>
            </a:r>
            <a:r>
              <a:rPr sz="900" b="1" spc="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“INDAL”- R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surse,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t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hnologii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şi produse alimentare,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securita</a:t>
            </a:r>
            <a:r>
              <a:rPr sz="900" b="1" i="1" spc="-4" dirty="0" smtClean="0">
                <a:latin typeface="Times New Roman"/>
                <a:cs typeface="Times New Roman"/>
              </a:rPr>
              <a:t>t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a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a</a:t>
            </a:r>
            <a:r>
              <a:rPr sz="900" b="1" i="1" spc="-4" dirty="0" smtClean="0">
                <a:latin typeface="Times New Roman"/>
                <a:cs typeface="Times New Roman"/>
              </a:rPr>
              <a:t>l</a:t>
            </a:r>
            <a:r>
              <a:rPr sz="900" b="1" i="1" spc="0" dirty="0" smtClean="0">
                <a:latin typeface="Times New Roman"/>
                <a:cs typeface="Times New Roman"/>
              </a:rPr>
              <a:t>i</a:t>
            </a:r>
            <a:r>
              <a:rPr sz="900" b="1" i="1" spc="-4" dirty="0" smtClean="0">
                <a:latin typeface="Times New Roman"/>
                <a:cs typeface="Times New Roman"/>
              </a:rPr>
              <a:t>m</a:t>
            </a:r>
            <a:r>
              <a:rPr sz="900" b="1" i="1" spc="0" dirty="0" smtClean="0">
                <a:latin typeface="Times New Roman"/>
                <a:cs typeface="Times New Roman"/>
              </a:rPr>
              <a:t>ent</a:t>
            </a:r>
            <a:r>
              <a:rPr sz="900" b="1" i="1" spc="-4" dirty="0" smtClean="0">
                <a:latin typeface="Times New Roman"/>
                <a:cs typeface="Times New Roman"/>
              </a:rPr>
              <a:t>a</a:t>
            </a:r>
            <a:r>
              <a:rPr sz="900" b="1" i="1" spc="4" dirty="0" smtClean="0">
                <a:latin typeface="Times New Roman"/>
                <a:cs typeface="Times New Roman"/>
              </a:rPr>
              <a:t>ţ</a:t>
            </a:r>
            <a:r>
              <a:rPr sz="900" b="1" i="1" spc="-4" dirty="0" smtClean="0">
                <a:latin typeface="Times New Roman"/>
                <a:cs typeface="Times New Roman"/>
              </a:rPr>
              <a:t>i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i şi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a</a:t>
            </a:r>
            <a:r>
              <a:rPr sz="900" b="1" i="1" spc="-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al</a:t>
            </a:r>
            <a:r>
              <a:rPr sz="900" b="1" i="1" spc="-4" dirty="0" smtClean="0">
                <a:latin typeface="Times New Roman"/>
                <a:cs typeface="Times New Roman"/>
              </a:rPr>
              <a:t>i</a:t>
            </a:r>
            <a:r>
              <a:rPr sz="900" b="1" i="1" spc="0" dirty="0" smtClean="0">
                <a:latin typeface="Times New Roman"/>
                <a:cs typeface="Times New Roman"/>
              </a:rPr>
              <a:t>mentului</a:t>
            </a:r>
            <a:endParaRPr sz="900">
              <a:latin typeface="Times New Roman"/>
              <a:cs typeface="Times New Roman"/>
            </a:endParaRPr>
          </a:p>
          <a:p>
            <a:pPr marL="374675">
              <a:lnSpc>
                <a:spcPct val="95825"/>
              </a:lnSpc>
              <a:spcBef>
                <a:spcPts val="103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iecti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if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ce:</a:t>
            </a:r>
            <a:endParaRPr sz="900">
              <a:latin typeface="Times New Roman"/>
              <a:cs typeface="Times New Roman"/>
            </a:endParaRPr>
          </a:p>
          <a:p>
            <a:pPr marL="1076477" marR="368907" indent="-252225" algn="just">
              <a:lnSpc>
                <a:spcPct val="96112"/>
              </a:lnSpc>
              <a:spcBef>
                <a:spcPts val="4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Perfe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oceselor,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procedeelor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tehnologiilor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performant</a:t>
            </a:r>
            <a:r>
              <a:rPr sz="900" spc="9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rific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ive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resurselor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alimentare.</a:t>
            </a:r>
            <a:endParaRPr sz="900">
              <a:latin typeface="Times New Roman"/>
              <a:cs typeface="Times New Roman"/>
            </a:endParaRPr>
          </a:p>
          <a:p>
            <a:pPr marL="1076488" marR="368806" indent="-252237" algn="just">
              <a:lnSpc>
                <a:spcPct val="96112"/>
              </a:lnSpc>
              <a:spcBef>
                <a:spcPts val="60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metode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supraveg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control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resurselor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conte</a:t>
            </a:r>
            <a:r>
              <a:rPr sz="900" spc="-4" dirty="0" smtClean="0">
                <a:latin typeface="Times New Roman"/>
                <a:cs typeface="Times New Roman"/>
              </a:rPr>
              <a:t>x</a:t>
            </a:r>
            <a:r>
              <a:rPr sz="900" spc="0" dirty="0" smtClean="0">
                <a:latin typeface="Times New Roman"/>
                <a:cs typeface="Times New Roman"/>
              </a:rPr>
              <a:t>tul 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</a:t>
            </a:r>
            <a:r>
              <a:rPr sz="900" spc="4" dirty="0" smtClean="0">
                <a:latin typeface="Times New Roman"/>
                <a:cs typeface="Times New Roman"/>
              </a:rPr>
              <a:t>ră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securi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tului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nutri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 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ane.</a:t>
            </a:r>
            <a:endParaRPr sz="900">
              <a:latin typeface="Times New Roman"/>
              <a:cs typeface="Times New Roman"/>
            </a:endParaRPr>
          </a:p>
          <a:p>
            <a:pPr marL="824263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dezvoltarea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era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r,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proceselor,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echipa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telor,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iilor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cesa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055227" marR="1947163" algn="ctr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şi/sau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dep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zitare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alimentare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sponta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523" marR="368541" indent="-252225" algn="just">
              <a:lnSpc>
                <a:spcPct val="95825"/>
              </a:lnSpc>
              <a:spcBef>
                <a:spcPts val="18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tară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icroorg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nis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e,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ase, aditi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ingred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micronutrie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isponibili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iţ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nutri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popula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i.</a:t>
            </a:r>
            <a:endParaRPr sz="900">
              <a:latin typeface="Times New Roman"/>
              <a:cs typeface="Times New Roman"/>
            </a:endParaRPr>
          </a:p>
          <a:p>
            <a:pPr marL="824320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tului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asigu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secu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ii 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iei-nut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popula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i.</a:t>
            </a:r>
            <a:endParaRPr sz="900">
              <a:latin typeface="Times New Roman"/>
              <a:cs typeface="Times New Roman"/>
            </a:endParaRPr>
          </a:p>
          <a:p>
            <a:pPr marL="1076568" marR="369426" indent="-252225" algn="just">
              <a:lnSpc>
                <a:spcPts val="1030"/>
              </a:lnSpc>
              <a:spcBef>
                <a:spcPts val="131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diversi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lă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lă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alimentare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cond</a:t>
            </a:r>
            <a:r>
              <a:rPr sz="900" spc="4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tisf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cerii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 nutri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comportamentului alimentar.</a:t>
            </a:r>
            <a:endParaRPr sz="900">
              <a:latin typeface="Times New Roman"/>
              <a:cs typeface="Times New Roman"/>
            </a:endParaRPr>
          </a:p>
          <a:p>
            <a:pPr marL="1076557" marR="368371" indent="-252214" algn="just">
              <a:lnSpc>
                <a:spcPts val="1030"/>
              </a:lnSpc>
              <a:spcBef>
                <a:spcPts val="7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Investiga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ecos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ciolog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că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pop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iei,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terminarea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facto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risc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nutr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vederea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po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cii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re.</a:t>
            </a:r>
            <a:endParaRPr sz="900">
              <a:latin typeface="Times New Roman"/>
              <a:cs typeface="Times New Roman"/>
            </a:endParaRPr>
          </a:p>
          <a:p>
            <a:pPr marL="824331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management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ucţ</a:t>
            </a:r>
            <a:r>
              <a:rPr sz="900" spc="0" dirty="0" smtClean="0">
                <a:latin typeface="Times New Roman"/>
                <a:cs typeface="Times New Roman"/>
              </a:rPr>
              <a:t>iei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ei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076545" marR="368798" indent="-252225" algn="just">
              <a:lnSpc>
                <a:spcPts val="1030"/>
              </a:lnSpc>
              <a:spcBef>
                <a:spcPts val="136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Diseminarea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cun</a:t>
            </a:r>
            <a:r>
              <a:rPr sz="900" spc="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ez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telor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domeniile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tehnologiilor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şi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i.</a:t>
            </a:r>
            <a:endParaRPr sz="900">
              <a:latin typeface="Times New Roman"/>
              <a:cs typeface="Times New Roman"/>
            </a:endParaRPr>
          </a:p>
          <a:p>
            <a:pPr marL="374755" marR="369915" indent="-11">
              <a:lnSpc>
                <a:spcPct val="96112"/>
              </a:lnSpc>
              <a:spcBef>
                <a:spcPts val="202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</a:t>
            </a:r>
            <a:r>
              <a:rPr sz="900" b="1" spc="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</a:t>
            </a:r>
            <a:r>
              <a:rPr sz="900" b="1" spc="89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“ECOMA”-</a:t>
            </a:r>
            <a:r>
              <a:rPr sz="900" b="1" i="1" spc="8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Sist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me</a:t>
            </a:r>
            <a:r>
              <a:rPr sz="900" b="1" i="1" spc="8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mod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rne,</a:t>
            </a:r>
            <a:r>
              <a:rPr sz="900" b="1" i="1" spc="84" dirty="0" smtClean="0">
                <a:latin typeface="Times New Roman"/>
                <a:cs typeface="Times New Roman"/>
              </a:rPr>
              <a:t> 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ficien</a:t>
            </a:r>
            <a:r>
              <a:rPr sz="900" b="1" i="1" spc="-4" dirty="0" smtClean="0">
                <a:latin typeface="Times New Roman"/>
                <a:cs typeface="Times New Roman"/>
              </a:rPr>
              <a:t>t</a:t>
            </a:r>
            <a:r>
              <a:rPr sz="900" b="1" i="1" spc="0" dirty="0" smtClean="0">
                <a:latin typeface="Times New Roman"/>
                <a:cs typeface="Times New Roman"/>
              </a:rPr>
              <a:t>e</a:t>
            </a:r>
            <a:r>
              <a:rPr sz="900" b="1" i="1" spc="84" dirty="0" smtClean="0">
                <a:latin typeface="Times New Roman"/>
                <a:cs typeface="Times New Roman"/>
              </a:rPr>
              <a:t> </a:t>
            </a:r>
            <a:r>
              <a:rPr sz="900" b="1" i="1" spc="-4" dirty="0" smtClean="0">
                <a:latin typeface="Times New Roman"/>
                <a:cs typeface="Times New Roman"/>
              </a:rPr>
              <a:t>d</a:t>
            </a:r>
            <a:r>
              <a:rPr sz="900" b="1" i="1" spc="0" dirty="0" smtClean="0">
                <a:latin typeface="Times New Roman"/>
                <a:cs typeface="Times New Roman"/>
              </a:rPr>
              <a:t>e</a:t>
            </a:r>
            <a:r>
              <a:rPr sz="900" b="1" i="1" spc="89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organizare,</a:t>
            </a:r>
            <a:r>
              <a:rPr sz="900" b="1" i="1" spc="79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marketing</a:t>
            </a:r>
            <a:r>
              <a:rPr sz="900" b="1" i="1" spc="8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şi</a:t>
            </a:r>
            <a:r>
              <a:rPr sz="900" b="1" i="1" spc="8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manag</a:t>
            </a:r>
            <a:r>
              <a:rPr sz="900" b="1" i="1" spc="-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ment</a:t>
            </a:r>
            <a:r>
              <a:rPr sz="900" b="1" i="1" spc="79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în</a:t>
            </a:r>
            <a:r>
              <a:rPr sz="900" b="1" i="1" spc="8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agricultu</a:t>
            </a:r>
            <a:r>
              <a:rPr sz="900" b="1" i="1" spc="-4" dirty="0" smtClean="0">
                <a:latin typeface="Times New Roman"/>
                <a:cs typeface="Times New Roman"/>
              </a:rPr>
              <a:t>r</a:t>
            </a:r>
            <a:r>
              <a:rPr sz="900" b="1" i="1" spc="0" dirty="0" smtClean="0">
                <a:latin typeface="Times New Roman"/>
                <a:cs typeface="Times New Roman"/>
              </a:rPr>
              <a:t>ă</a:t>
            </a:r>
            <a:r>
              <a:rPr sz="900" b="1" i="1" spc="8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şi</a:t>
            </a:r>
            <a:r>
              <a:rPr sz="900" b="1" i="1" spc="89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industria alimentară.</a:t>
            </a:r>
            <a:endParaRPr sz="900">
              <a:latin typeface="Times New Roman"/>
              <a:cs typeface="Times New Roman"/>
            </a:endParaRPr>
          </a:p>
          <a:p>
            <a:pPr marL="374755">
              <a:lnSpc>
                <a:spcPct val="95825"/>
              </a:lnSpc>
              <a:spcBef>
                <a:spcPts val="1026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iecti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if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ce:</a:t>
            </a:r>
            <a:endParaRPr sz="900">
              <a:latin typeface="Times New Roman"/>
              <a:cs typeface="Times New Roman"/>
            </a:endParaRPr>
          </a:p>
          <a:p>
            <a:pPr marL="1084192" marR="369147" indent="-252237" algn="just">
              <a:lnSpc>
                <a:spcPct val="96112"/>
              </a:lnSpc>
              <a:spcBef>
                <a:spcPts val="45"/>
              </a:spcBef>
              <a:tabLst>
                <a:tab pos="10795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pactul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niei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Uniun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Europ</a:t>
            </a:r>
            <a:r>
              <a:rPr sz="900" spc="4" dirty="0" smtClean="0">
                <a:latin typeface="Times New Roman"/>
                <a:cs typeface="Times New Roman"/>
              </a:rPr>
              <a:t>ea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2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une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gesti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n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lă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agroalimenta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31978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Farmingul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mentul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agricol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sprijinul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1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agro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31989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decizie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management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eţ</a:t>
            </a:r>
            <a:r>
              <a:rPr sz="900" spc="0" dirty="0" smtClean="0">
                <a:latin typeface="Times New Roman"/>
                <a:cs typeface="Times New Roman"/>
              </a:rPr>
              <a:t>elo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831989">
              <a:lnSpc>
                <a:spcPct val="95825"/>
              </a:lnSpc>
              <a:spcBef>
                <a:spcPts val="7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romovare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disemina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cun</a:t>
            </a:r>
            <a:r>
              <a:rPr sz="900" spc="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ştin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rivind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management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fermei.</a:t>
            </a:r>
            <a:endParaRPr sz="900">
              <a:latin typeface="Times New Roman"/>
              <a:cs typeface="Times New Roman"/>
            </a:endParaRPr>
          </a:p>
          <a:p>
            <a:pPr marL="1084226" marR="369628" indent="-252225" algn="just">
              <a:lnSpc>
                <a:spcPts val="1030"/>
              </a:lnSpc>
              <a:spcBef>
                <a:spcPts val="131"/>
              </a:spcBef>
              <a:tabLst>
                <a:tab pos="10795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Proiectarea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costu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eturilor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feri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filierele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ima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agricult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ra,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procesare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rci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656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1</a:t>
            </a:r>
            <a:r>
              <a:rPr sz="1000" spc="0" dirty="0" smtClean="0">
                <a:latin typeface="Times New Roman"/>
                <a:cs typeface="Times New Roman"/>
              </a:rPr>
              <a:t>8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object 193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4135374" y="4572000"/>
            <a:ext cx="2739389" cy="175259"/>
          </a:xfrm>
          <a:custGeom>
            <a:avLst/>
            <a:gdLst/>
            <a:ahLst/>
            <a:cxnLst/>
            <a:rect l="l" t="t" r="r" b="b"/>
            <a:pathLst>
              <a:path w="2739389" h="175259">
                <a:moveTo>
                  <a:pt x="0" y="175259"/>
                </a:moveTo>
                <a:lnTo>
                  <a:pt x="2739389" y="175259"/>
                </a:lnTo>
                <a:lnTo>
                  <a:pt x="2739389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896112" y="4572000"/>
            <a:ext cx="2739390" cy="175259"/>
          </a:xfrm>
          <a:custGeom>
            <a:avLst/>
            <a:gdLst/>
            <a:ahLst/>
            <a:cxnLst/>
            <a:rect l="l" t="t" r="r" b="b"/>
            <a:pathLst>
              <a:path w="2739390" h="175259">
                <a:moveTo>
                  <a:pt x="0" y="175259"/>
                </a:moveTo>
                <a:lnTo>
                  <a:pt x="2739390" y="175259"/>
                </a:lnTo>
                <a:lnTo>
                  <a:pt x="2739390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3635502" y="4572000"/>
            <a:ext cx="499872" cy="175260"/>
          </a:xfrm>
          <a:custGeom>
            <a:avLst/>
            <a:gdLst/>
            <a:ahLst/>
            <a:cxnLst/>
            <a:rect l="l" t="t" r="r" b="b"/>
            <a:pathLst>
              <a:path w="499872" h="175260">
                <a:moveTo>
                  <a:pt x="0" y="0"/>
                </a:moveTo>
                <a:lnTo>
                  <a:pt x="0" y="175260"/>
                </a:lnTo>
                <a:lnTo>
                  <a:pt x="499872" y="175260"/>
                </a:lnTo>
                <a:lnTo>
                  <a:pt x="49987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384554" y="5258562"/>
            <a:ext cx="2494026" cy="131063"/>
          </a:xfrm>
          <a:custGeom>
            <a:avLst/>
            <a:gdLst/>
            <a:ahLst/>
            <a:cxnLst/>
            <a:rect l="l" t="t" r="r" b="b"/>
            <a:pathLst>
              <a:path w="2494026" h="131063">
                <a:moveTo>
                  <a:pt x="0" y="0"/>
                </a:moveTo>
                <a:lnTo>
                  <a:pt x="0" y="131063"/>
                </a:lnTo>
                <a:lnTo>
                  <a:pt x="2494026" y="131063"/>
                </a:lnTo>
                <a:lnTo>
                  <a:pt x="2494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3887724" y="5258562"/>
            <a:ext cx="2497836" cy="131063"/>
          </a:xfrm>
          <a:custGeom>
            <a:avLst/>
            <a:gdLst/>
            <a:ahLst/>
            <a:cxnLst/>
            <a:rect l="l" t="t" r="r" b="b"/>
            <a:pathLst>
              <a:path w="2497836" h="131063">
                <a:moveTo>
                  <a:pt x="0" y="0"/>
                </a:moveTo>
                <a:lnTo>
                  <a:pt x="0" y="131063"/>
                </a:lnTo>
                <a:lnTo>
                  <a:pt x="2497836" y="131063"/>
                </a:lnTo>
                <a:lnTo>
                  <a:pt x="249783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356360" y="5243703"/>
            <a:ext cx="2522219" cy="0"/>
          </a:xfrm>
          <a:custGeom>
            <a:avLst/>
            <a:gdLst/>
            <a:ahLst/>
            <a:cxnLst/>
            <a:rect l="l" t="t" r="r" b="b"/>
            <a:pathLst>
              <a:path w="2522219">
                <a:moveTo>
                  <a:pt x="0" y="0"/>
                </a:moveTo>
                <a:lnTo>
                  <a:pt x="252221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1384554" y="5258181"/>
            <a:ext cx="2494026" cy="0"/>
          </a:xfrm>
          <a:custGeom>
            <a:avLst/>
            <a:gdLst/>
            <a:ahLst/>
            <a:cxnLst/>
            <a:rect l="l" t="t" r="r" b="b"/>
            <a:pathLst>
              <a:path w="2494026">
                <a:moveTo>
                  <a:pt x="0" y="0"/>
                </a:moveTo>
                <a:lnTo>
                  <a:pt x="249402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3887724" y="5258181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3878579" y="5228970"/>
            <a:ext cx="2506979" cy="29464"/>
          </a:xfrm>
          <a:custGeom>
            <a:avLst/>
            <a:gdLst/>
            <a:ahLst/>
            <a:cxnLst/>
            <a:rect l="l" t="t" r="r" b="b"/>
            <a:pathLst>
              <a:path w="2506979" h="29464">
                <a:moveTo>
                  <a:pt x="0" y="29464"/>
                </a:moveTo>
                <a:lnTo>
                  <a:pt x="2506979" y="29464"/>
                </a:lnTo>
                <a:lnTo>
                  <a:pt x="2506979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3906774" y="5258181"/>
            <a:ext cx="2478786" cy="0"/>
          </a:xfrm>
          <a:custGeom>
            <a:avLst/>
            <a:gdLst/>
            <a:ahLst/>
            <a:cxnLst/>
            <a:rect l="l" t="t" r="r" b="b"/>
            <a:pathLst>
              <a:path w="2478786">
                <a:moveTo>
                  <a:pt x="0" y="0"/>
                </a:moveTo>
                <a:lnTo>
                  <a:pt x="247878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1384554" y="5403723"/>
            <a:ext cx="2494026" cy="0"/>
          </a:xfrm>
          <a:custGeom>
            <a:avLst/>
            <a:gdLst/>
            <a:ahLst/>
            <a:cxnLst/>
            <a:rect l="l" t="t" r="r" b="b"/>
            <a:pathLst>
              <a:path w="2494026">
                <a:moveTo>
                  <a:pt x="0" y="0"/>
                </a:moveTo>
                <a:lnTo>
                  <a:pt x="249402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3878579" y="5403723"/>
            <a:ext cx="2506979" cy="0"/>
          </a:xfrm>
          <a:custGeom>
            <a:avLst/>
            <a:gdLst/>
            <a:ahLst/>
            <a:cxnLst/>
            <a:rect l="l" t="t" r="r" b="b"/>
            <a:pathLst>
              <a:path w="2506979">
                <a:moveTo>
                  <a:pt x="0" y="0"/>
                </a:moveTo>
                <a:lnTo>
                  <a:pt x="250697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370457" y="5229986"/>
            <a:ext cx="0" cy="347091"/>
          </a:xfrm>
          <a:custGeom>
            <a:avLst/>
            <a:gdLst/>
            <a:ahLst/>
            <a:cxnLst/>
            <a:rect l="l" t="t" r="r" b="b"/>
            <a:pathLst>
              <a:path h="347091">
                <a:moveTo>
                  <a:pt x="0" y="0"/>
                </a:moveTo>
                <a:lnTo>
                  <a:pt x="0" y="347091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356360" y="5562981"/>
            <a:ext cx="2522219" cy="0"/>
          </a:xfrm>
          <a:custGeom>
            <a:avLst/>
            <a:gdLst/>
            <a:ahLst/>
            <a:cxnLst/>
            <a:rect l="l" t="t" r="r" b="b"/>
            <a:pathLst>
              <a:path w="2522219">
                <a:moveTo>
                  <a:pt x="0" y="0"/>
                </a:moveTo>
                <a:lnTo>
                  <a:pt x="252221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3883152" y="5253608"/>
            <a:ext cx="0" cy="295275"/>
          </a:xfrm>
          <a:custGeom>
            <a:avLst/>
            <a:gdLst/>
            <a:ahLst/>
            <a:cxnLst/>
            <a:rect l="l" t="t" r="r" b="b"/>
            <a:pathLst>
              <a:path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3878579" y="5562981"/>
            <a:ext cx="2506979" cy="0"/>
          </a:xfrm>
          <a:custGeom>
            <a:avLst/>
            <a:gdLst/>
            <a:ahLst/>
            <a:cxnLst/>
            <a:rect l="l" t="t" r="r" b="b"/>
            <a:pathLst>
              <a:path w="2506979">
                <a:moveTo>
                  <a:pt x="0" y="0"/>
                </a:moveTo>
                <a:lnTo>
                  <a:pt x="250697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6399657" y="5229606"/>
            <a:ext cx="0" cy="347472"/>
          </a:xfrm>
          <a:custGeom>
            <a:avLst/>
            <a:gdLst/>
            <a:ahLst/>
            <a:cxnLst/>
            <a:rect l="l" t="t" r="r" b="b"/>
            <a:pathLst>
              <a:path h="347472">
                <a:moveTo>
                  <a:pt x="0" y="0"/>
                </a:moveTo>
                <a:lnTo>
                  <a:pt x="0" y="347472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384554" y="6001512"/>
            <a:ext cx="2494026" cy="131063"/>
          </a:xfrm>
          <a:custGeom>
            <a:avLst/>
            <a:gdLst/>
            <a:ahLst/>
            <a:cxnLst/>
            <a:rect l="l" t="t" r="r" b="b"/>
            <a:pathLst>
              <a:path w="2494026" h="131063">
                <a:moveTo>
                  <a:pt x="0" y="0"/>
                </a:moveTo>
                <a:lnTo>
                  <a:pt x="0" y="131063"/>
                </a:lnTo>
                <a:lnTo>
                  <a:pt x="2494026" y="131063"/>
                </a:lnTo>
                <a:lnTo>
                  <a:pt x="249402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3887724" y="6001512"/>
            <a:ext cx="2497836" cy="131063"/>
          </a:xfrm>
          <a:custGeom>
            <a:avLst/>
            <a:gdLst/>
            <a:ahLst/>
            <a:cxnLst/>
            <a:rect l="l" t="t" r="r" b="b"/>
            <a:pathLst>
              <a:path w="2497836" h="131063">
                <a:moveTo>
                  <a:pt x="0" y="0"/>
                </a:moveTo>
                <a:lnTo>
                  <a:pt x="0" y="131063"/>
                </a:lnTo>
                <a:lnTo>
                  <a:pt x="2497836" y="131063"/>
                </a:lnTo>
                <a:lnTo>
                  <a:pt x="249783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356360" y="5986653"/>
            <a:ext cx="2522219" cy="0"/>
          </a:xfrm>
          <a:custGeom>
            <a:avLst/>
            <a:gdLst/>
            <a:ahLst/>
            <a:cxnLst/>
            <a:rect l="l" t="t" r="r" b="b"/>
            <a:pathLst>
              <a:path w="2522219">
                <a:moveTo>
                  <a:pt x="0" y="0"/>
                </a:moveTo>
                <a:lnTo>
                  <a:pt x="252221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384554" y="6001131"/>
            <a:ext cx="2494026" cy="0"/>
          </a:xfrm>
          <a:custGeom>
            <a:avLst/>
            <a:gdLst/>
            <a:ahLst/>
            <a:cxnLst/>
            <a:rect l="l" t="t" r="r" b="b"/>
            <a:pathLst>
              <a:path w="2494026">
                <a:moveTo>
                  <a:pt x="0" y="0"/>
                </a:moveTo>
                <a:lnTo>
                  <a:pt x="249402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3887724" y="6001131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3878579" y="5971920"/>
            <a:ext cx="2506979" cy="29464"/>
          </a:xfrm>
          <a:custGeom>
            <a:avLst/>
            <a:gdLst/>
            <a:ahLst/>
            <a:cxnLst/>
            <a:rect l="l" t="t" r="r" b="b"/>
            <a:pathLst>
              <a:path w="2506979" h="29464">
                <a:moveTo>
                  <a:pt x="0" y="29464"/>
                </a:moveTo>
                <a:lnTo>
                  <a:pt x="2506979" y="29464"/>
                </a:lnTo>
                <a:lnTo>
                  <a:pt x="2506979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3906774" y="6001131"/>
            <a:ext cx="2478786" cy="0"/>
          </a:xfrm>
          <a:custGeom>
            <a:avLst/>
            <a:gdLst/>
            <a:ahLst/>
            <a:cxnLst/>
            <a:rect l="l" t="t" r="r" b="b"/>
            <a:pathLst>
              <a:path w="2478786">
                <a:moveTo>
                  <a:pt x="0" y="0"/>
                </a:moveTo>
                <a:lnTo>
                  <a:pt x="247878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384554" y="6145911"/>
            <a:ext cx="2494026" cy="0"/>
          </a:xfrm>
          <a:custGeom>
            <a:avLst/>
            <a:gdLst/>
            <a:ahLst/>
            <a:cxnLst/>
            <a:rect l="l" t="t" r="r" b="b"/>
            <a:pathLst>
              <a:path w="2494026">
                <a:moveTo>
                  <a:pt x="0" y="0"/>
                </a:moveTo>
                <a:lnTo>
                  <a:pt x="249402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3878579" y="6145911"/>
            <a:ext cx="2506979" cy="0"/>
          </a:xfrm>
          <a:custGeom>
            <a:avLst/>
            <a:gdLst/>
            <a:ahLst/>
            <a:cxnLst/>
            <a:rect l="l" t="t" r="r" b="b"/>
            <a:pathLst>
              <a:path w="2506979">
                <a:moveTo>
                  <a:pt x="0" y="0"/>
                </a:moveTo>
                <a:lnTo>
                  <a:pt x="250697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370457" y="5972936"/>
            <a:ext cx="0" cy="346329"/>
          </a:xfrm>
          <a:custGeom>
            <a:avLst/>
            <a:gdLst/>
            <a:ahLst/>
            <a:cxnLst/>
            <a:rect l="l" t="t" r="r" b="b"/>
            <a:pathLst>
              <a:path h="346329">
                <a:moveTo>
                  <a:pt x="0" y="0"/>
                </a:moveTo>
                <a:lnTo>
                  <a:pt x="0" y="346329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356360" y="6305169"/>
            <a:ext cx="2522219" cy="0"/>
          </a:xfrm>
          <a:custGeom>
            <a:avLst/>
            <a:gdLst/>
            <a:ahLst/>
            <a:cxnLst/>
            <a:rect l="l" t="t" r="r" b="b"/>
            <a:pathLst>
              <a:path w="2522219">
                <a:moveTo>
                  <a:pt x="0" y="0"/>
                </a:moveTo>
                <a:lnTo>
                  <a:pt x="252221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3883152" y="5996558"/>
            <a:ext cx="0" cy="294513"/>
          </a:xfrm>
          <a:custGeom>
            <a:avLst/>
            <a:gdLst/>
            <a:ahLst/>
            <a:cxnLst/>
            <a:rect l="l" t="t" r="r" b="b"/>
            <a:pathLst>
              <a:path h="294513">
                <a:moveTo>
                  <a:pt x="0" y="0"/>
                </a:moveTo>
                <a:lnTo>
                  <a:pt x="0" y="29451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3878579" y="6305169"/>
            <a:ext cx="2506979" cy="0"/>
          </a:xfrm>
          <a:custGeom>
            <a:avLst/>
            <a:gdLst/>
            <a:ahLst/>
            <a:cxnLst/>
            <a:rect l="l" t="t" r="r" b="b"/>
            <a:pathLst>
              <a:path w="2506979">
                <a:moveTo>
                  <a:pt x="0" y="0"/>
                </a:moveTo>
                <a:lnTo>
                  <a:pt x="250697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6399657" y="5972556"/>
            <a:ext cx="0" cy="346710"/>
          </a:xfrm>
          <a:custGeom>
            <a:avLst/>
            <a:gdLst/>
            <a:ahLst/>
            <a:cxnLst/>
            <a:rect l="l" t="t" r="r" b="b"/>
            <a:pathLst>
              <a:path h="346710">
                <a:moveTo>
                  <a:pt x="0" y="0"/>
                </a:moveTo>
                <a:lnTo>
                  <a:pt x="0" y="34671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236720" y="6918959"/>
            <a:ext cx="2607564" cy="223265"/>
          </a:xfrm>
          <a:custGeom>
            <a:avLst/>
            <a:gdLst/>
            <a:ahLst/>
            <a:cxnLst/>
            <a:rect l="l" t="t" r="r" b="b"/>
            <a:pathLst>
              <a:path w="2607564" h="223265">
                <a:moveTo>
                  <a:pt x="0" y="0"/>
                </a:moveTo>
                <a:lnTo>
                  <a:pt x="0" y="223266"/>
                </a:lnTo>
                <a:lnTo>
                  <a:pt x="2607564" y="223266"/>
                </a:lnTo>
                <a:lnTo>
                  <a:pt x="26075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236720" y="7142226"/>
            <a:ext cx="2607564" cy="90677"/>
          </a:xfrm>
          <a:custGeom>
            <a:avLst/>
            <a:gdLst/>
            <a:ahLst/>
            <a:cxnLst/>
            <a:rect l="l" t="t" r="r" b="b"/>
            <a:pathLst>
              <a:path w="2607564" h="90677">
                <a:moveTo>
                  <a:pt x="0" y="0"/>
                </a:moveTo>
                <a:lnTo>
                  <a:pt x="0" y="90677"/>
                </a:lnTo>
                <a:lnTo>
                  <a:pt x="2607564" y="90677"/>
                </a:lnTo>
                <a:lnTo>
                  <a:pt x="26075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00684" y="6904101"/>
            <a:ext cx="1762505" cy="0"/>
          </a:xfrm>
          <a:custGeom>
            <a:avLst/>
            <a:gdLst/>
            <a:ahLst/>
            <a:cxnLst/>
            <a:rect l="l" t="t" r="r" b="b"/>
            <a:pathLst>
              <a:path w="1762505">
                <a:moveTo>
                  <a:pt x="0" y="0"/>
                </a:moveTo>
                <a:lnTo>
                  <a:pt x="1762505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28878" y="6918579"/>
            <a:ext cx="1734312" cy="0"/>
          </a:xfrm>
          <a:custGeom>
            <a:avLst/>
            <a:gdLst/>
            <a:ahLst/>
            <a:cxnLst/>
            <a:rect l="l" t="t" r="r" b="b"/>
            <a:pathLst>
              <a:path w="1734312">
                <a:moveTo>
                  <a:pt x="0" y="0"/>
                </a:moveTo>
                <a:lnTo>
                  <a:pt x="1734312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672333" y="6918579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663190" y="6889369"/>
            <a:ext cx="922782" cy="29463"/>
          </a:xfrm>
          <a:custGeom>
            <a:avLst/>
            <a:gdLst/>
            <a:ahLst/>
            <a:cxnLst/>
            <a:rect l="l" t="t" r="r" b="b"/>
            <a:pathLst>
              <a:path w="922782" h="29463">
                <a:moveTo>
                  <a:pt x="0" y="29463"/>
                </a:moveTo>
                <a:lnTo>
                  <a:pt x="922782" y="29463"/>
                </a:lnTo>
                <a:lnTo>
                  <a:pt x="922782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691383" y="6918579"/>
            <a:ext cx="894588" cy="0"/>
          </a:xfrm>
          <a:custGeom>
            <a:avLst/>
            <a:gdLst/>
            <a:ahLst/>
            <a:cxnLst/>
            <a:rect l="l" t="t" r="r" b="b"/>
            <a:pathLst>
              <a:path w="894588">
                <a:moveTo>
                  <a:pt x="0" y="0"/>
                </a:moveTo>
                <a:lnTo>
                  <a:pt x="894588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595116" y="6918579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585972" y="6889369"/>
            <a:ext cx="641603" cy="29463"/>
          </a:xfrm>
          <a:custGeom>
            <a:avLst/>
            <a:gdLst/>
            <a:ahLst/>
            <a:cxnLst/>
            <a:rect l="l" t="t" r="r" b="b"/>
            <a:pathLst>
              <a:path w="641603" h="29463">
                <a:moveTo>
                  <a:pt x="0" y="29463"/>
                </a:moveTo>
                <a:lnTo>
                  <a:pt x="641603" y="29463"/>
                </a:lnTo>
                <a:lnTo>
                  <a:pt x="641603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614166" y="6918579"/>
            <a:ext cx="613410" cy="0"/>
          </a:xfrm>
          <a:custGeom>
            <a:avLst/>
            <a:gdLst/>
            <a:ahLst/>
            <a:cxnLst/>
            <a:rect l="l" t="t" r="r" b="b"/>
            <a:pathLst>
              <a:path w="613410">
                <a:moveTo>
                  <a:pt x="0" y="0"/>
                </a:moveTo>
                <a:lnTo>
                  <a:pt x="61341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236720" y="6918579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227576" y="6889369"/>
            <a:ext cx="2616707" cy="29463"/>
          </a:xfrm>
          <a:custGeom>
            <a:avLst/>
            <a:gdLst/>
            <a:ahLst/>
            <a:cxnLst/>
            <a:rect l="l" t="t" r="r" b="b"/>
            <a:pathLst>
              <a:path w="2616707" h="29463">
                <a:moveTo>
                  <a:pt x="0" y="29463"/>
                </a:moveTo>
                <a:lnTo>
                  <a:pt x="2616707" y="29463"/>
                </a:lnTo>
                <a:lnTo>
                  <a:pt x="2616707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255770" y="6918579"/>
            <a:ext cx="2588514" cy="0"/>
          </a:xfrm>
          <a:custGeom>
            <a:avLst/>
            <a:gdLst/>
            <a:ahLst/>
            <a:cxnLst/>
            <a:rect l="l" t="t" r="r" b="b"/>
            <a:pathLst>
              <a:path w="2588514">
                <a:moveTo>
                  <a:pt x="0" y="0"/>
                </a:moveTo>
                <a:lnTo>
                  <a:pt x="2588514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28878" y="6918959"/>
            <a:ext cx="1734312" cy="357377"/>
          </a:xfrm>
          <a:custGeom>
            <a:avLst/>
            <a:gdLst/>
            <a:ahLst/>
            <a:cxnLst/>
            <a:rect l="l" t="t" r="r" b="b"/>
            <a:pathLst>
              <a:path w="1734312" h="357377">
                <a:moveTo>
                  <a:pt x="0" y="0"/>
                </a:moveTo>
                <a:lnTo>
                  <a:pt x="0" y="357378"/>
                </a:lnTo>
                <a:lnTo>
                  <a:pt x="1734312" y="357378"/>
                </a:lnTo>
                <a:lnTo>
                  <a:pt x="17343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28878" y="7276338"/>
            <a:ext cx="1734312" cy="225551"/>
          </a:xfrm>
          <a:custGeom>
            <a:avLst/>
            <a:gdLst/>
            <a:ahLst/>
            <a:cxnLst/>
            <a:rect l="l" t="t" r="r" b="b"/>
            <a:pathLst>
              <a:path w="1734312" h="225551">
                <a:moveTo>
                  <a:pt x="0" y="0"/>
                </a:moveTo>
                <a:lnTo>
                  <a:pt x="0" y="225551"/>
                </a:lnTo>
                <a:lnTo>
                  <a:pt x="1734312" y="225551"/>
                </a:lnTo>
                <a:lnTo>
                  <a:pt x="17343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672333" y="6918959"/>
            <a:ext cx="913638" cy="291845"/>
          </a:xfrm>
          <a:custGeom>
            <a:avLst/>
            <a:gdLst/>
            <a:ahLst/>
            <a:cxnLst/>
            <a:rect l="l" t="t" r="r" b="b"/>
            <a:pathLst>
              <a:path w="913638" h="291846">
                <a:moveTo>
                  <a:pt x="0" y="0"/>
                </a:moveTo>
                <a:lnTo>
                  <a:pt x="0" y="291846"/>
                </a:lnTo>
                <a:lnTo>
                  <a:pt x="913638" y="291846"/>
                </a:lnTo>
                <a:lnTo>
                  <a:pt x="91363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672333" y="7210806"/>
            <a:ext cx="913638" cy="131063"/>
          </a:xfrm>
          <a:custGeom>
            <a:avLst/>
            <a:gdLst/>
            <a:ahLst/>
            <a:cxnLst/>
            <a:rect l="l" t="t" r="r" b="b"/>
            <a:pathLst>
              <a:path w="913638" h="131063">
                <a:moveTo>
                  <a:pt x="0" y="0"/>
                </a:moveTo>
                <a:lnTo>
                  <a:pt x="0" y="131064"/>
                </a:lnTo>
                <a:lnTo>
                  <a:pt x="913638" y="131064"/>
                </a:lnTo>
                <a:lnTo>
                  <a:pt x="91363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672333" y="7341870"/>
            <a:ext cx="913638" cy="160019"/>
          </a:xfrm>
          <a:custGeom>
            <a:avLst/>
            <a:gdLst/>
            <a:ahLst/>
            <a:cxnLst/>
            <a:rect l="l" t="t" r="r" b="b"/>
            <a:pathLst>
              <a:path w="913638" h="160020">
                <a:moveTo>
                  <a:pt x="0" y="0"/>
                </a:moveTo>
                <a:lnTo>
                  <a:pt x="0" y="160019"/>
                </a:lnTo>
                <a:lnTo>
                  <a:pt x="913638" y="160019"/>
                </a:lnTo>
                <a:lnTo>
                  <a:pt x="91363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595116" y="6918959"/>
            <a:ext cx="632460" cy="291845"/>
          </a:xfrm>
          <a:custGeom>
            <a:avLst/>
            <a:gdLst/>
            <a:ahLst/>
            <a:cxnLst/>
            <a:rect l="l" t="t" r="r" b="b"/>
            <a:pathLst>
              <a:path w="632460" h="291846">
                <a:moveTo>
                  <a:pt x="0" y="0"/>
                </a:moveTo>
                <a:lnTo>
                  <a:pt x="0" y="291846"/>
                </a:lnTo>
                <a:lnTo>
                  <a:pt x="632460" y="291846"/>
                </a:lnTo>
                <a:lnTo>
                  <a:pt x="63246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595116" y="7210806"/>
            <a:ext cx="632460" cy="131063"/>
          </a:xfrm>
          <a:custGeom>
            <a:avLst/>
            <a:gdLst/>
            <a:ahLst/>
            <a:cxnLst/>
            <a:rect l="l" t="t" r="r" b="b"/>
            <a:pathLst>
              <a:path w="632460" h="131063">
                <a:moveTo>
                  <a:pt x="0" y="0"/>
                </a:moveTo>
                <a:lnTo>
                  <a:pt x="0" y="131064"/>
                </a:lnTo>
                <a:lnTo>
                  <a:pt x="632460" y="131064"/>
                </a:lnTo>
                <a:lnTo>
                  <a:pt x="63246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595116" y="7341870"/>
            <a:ext cx="632460" cy="160019"/>
          </a:xfrm>
          <a:custGeom>
            <a:avLst/>
            <a:gdLst/>
            <a:ahLst/>
            <a:cxnLst/>
            <a:rect l="l" t="t" r="r" b="b"/>
            <a:pathLst>
              <a:path w="632460" h="160020">
                <a:moveTo>
                  <a:pt x="0" y="0"/>
                </a:moveTo>
                <a:lnTo>
                  <a:pt x="0" y="160019"/>
                </a:lnTo>
                <a:lnTo>
                  <a:pt x="632460" y="160019"/>
                </a:lnTo>
                <a:lnTo>
                  <a:pt x="63246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236720" y="7239000"/>
            <a:ext cx="785622" cy="131825"/>
          </a:xfrm>
          <a:custGeom>
            <a:avLst/>
            <a:gdLst/>
            <a:ahLst/>
            <a:cxnLst/>
            <a:rect l="l" t="t" r="r" b="b"/>
            <a:pathLst>
              <a:path w="785622" h="131825">
                <a:moveTo>
                  <a:pt x="0" y="0"/>
                </a:moveTo>
                <a:lnTo>
                  <a:pt x="0" y="131825"/>
                </a:lnTo>
                <a:lnTo>
                  <a:pt x="785622" y="131825"/>
                </a:lnTo>
                <a:lnTo>
                  <a:pt x="7856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236720" y="7370826"/>
            <a:ext cx="785622" cy="131063"/>
          </a:xfrm>
          <a:custGeom>
            <a:avLst/>
            <a:gdLst/>
            <a:ahLst/>
            <a:cxnLst/>
            <a:rect l="l" t="t" r="r" b="b"/>
            <a:pathLst>
              <a:path w="785622" h="131064">
                <a:moveTo>
                  <a:pt x="0" y="0"/>
                </a:moveTo>
                <a:lnTo>
                  <a:pt x="0" y="131063"/>
                </a:lnTo>
                <a:lnTo>
                  <a:pt x="785622" y="131063"/>
                </a:lnTo>
                <a:lnTo>
                  <a:pt x="7856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031486" y="7239000"/>
            <a:ext cx="908303" cy="131825"/>
          </a:xfrm>
          <a:custGeom>
            <a:avLst/>
            <a:gdLst/>
            <a:ahLst/>
            <a:cxnLst/>
            <a:rect l="l" t="t" r="r" b="b"/>
            <a:pathLst>
              <a:path w="908303" h="131825">
                <a:moveTo>
                  <a:pt x="0" y="0"/>
                </a:moveTo>
                <a:lnTo>
                  <a:pt x="0" y="131825"/>
                </a:lnTo>
                <a:lnTo>
                  <a:pt x="908303" y="131825"/>
                </a:lnTo>
                <a:lnTo>
                  <a:pt x="90830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031486" y="7370826"/>
            <a:ext cx="908303" cy="131063"/>
          </a:xfrm>
          <a:custGeom>
            <a:avLst/>
            <a:gdLst/>
            <a:ahLst/>
            <a:cxnLst/>
            <a:rect l="l" t="t" r="r" b="b"/>
            <a:pathLst>
              <a:path w="908303" h="131064">
                <a:moveTo>
                  <a:pt x="0" y="0"/>
                </a:moveTo>
                <a:lnTo>
                  <a:pt x="0" y="131063"/>
                </a:lnTo>
                <a:lnTo>
                  <a:pt x="908303" y="131063"/>
                </a:lnTo>
                <a:lnTo>
                  <a:pt x="90830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948934" y="7239761"/>
            <a:ext cx="895350" cy="196595"/>
          </a:xfrm>
          <a:custGeom>
            <a:avLst/>
            <a:gdLst/>
            <a:ahLst/>
            <a:cxnLst/>
            <a:rect l="l" t="t" r="r" b="b"/>
            <a:pathLst>
              <a:path w="895350" h="196596">
                <a:moveTo>
                  <a:pt x="0" y="0"/>
                </a:moveTo>
                <a:lnTo>
                  <a:pt x="0" y="196596"/>
                </a:lnTo>
                <a:lnTo>
                  <a:pt x="895350" y="196596"/>
                </a:lnTo>
                <a:lnTo>
                  <a:pt x="895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948934" y="7436358"/>
            <a:ext cx="895350" cy="66293"/>
          </a:xfrm>
          <a:custGeom>
            <a:avLst/>
            <a:gdLst/>
            <a:ahLst/>
            <a:cxnLst/>
            <a:rect l="l" t="t" r="r" b="b"/>
            <a:pathLst>
              <a:path w="895350" h="66294">
                <a:moveTo>
                  <a:pt x="0" y="0"/>
                </a:moveTo>
                <a:lnTo>
                  <a:pt x="0" y="66294"/>
                </a:lnTo>
                <a:lnTo>
                  <a:pt x="895350" y="66294"/>
                </a:lnTo>
                <a:lnTo>
                  <a:pt x="89535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227576" y="7235952"/>
            <a:ext cx="800862" cy="0"/>
          </a:xfrm>
          <a:custGeom>
            <a:avLst/>
            <a:gdLst/>
            <a:ahLst/>
            <a:cxnLst/>
            <a:rect l="l" t="t" r="r" b="b"/>
            <a:pathLst>
              <a:path w="800862">
                <a:moveTo>
                  <a:pt x="0" y="0"/>
                </a:moveTo>
                <a:lnTo>
                  <a:pt x="800862" y="0"/>
                </a:lnTo>
              </a:path>
            </a:pathLst>
          </a:custGeom>
          <a:ln w="73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028438" y="7235952"/>
            <a:ext cx="911351" cy="0"/>
          </a:xfrm>
          <a:custGeom>
            <a:avLst/>
            <a:gdLst/>
            <a:ahLst/>
            <a:cxnLst/>
            <a:rect l="l" t="t" r="r" b="b"/>
            <a:pathLst>
              <a:path w="911351">
                <a:moveTo>
                  <a:pt x="0" y="0"/>
                </a:moveTo>
                <a:lnTo>
                  <a:pt x="911351" y="0"/>
                </a:lnTo>
              </a:path>
            </a:pathLst>
          </a:custGeom>
          <a:ln w="73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939790" y="7235952"/>
            <a:ext cx="932688" cy="0"/>
          </a:xfrm>
          <a:custGeom>
            <a:avLst/>
            <a:gdLst/>
            <a:ahLst/>
            <a:cxnLst/>
            <a:rect l="l" t="t" r="r" b="b"/>
            <a:pathLst>
              <a:path w="932688">
                <a:moveTo>
                  <a:pt x="0" y="0"/>
                </a:moveTo>
                <a:lnTo>
                  <a:pt x="932688" y="0"/>
                </a:lnTo>
              </a:path>
            </a:pathLst>
          </a:custGeom>
          <a:ln w="736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928878" y="7516749"/>
            <a:ext cx="1734312" cy="0"/>
          </a:xfrm>
          <a:custGeom>
            <a:avLst/>
            <a:gdLst/>
            <a:ahLst/>
            <a:cxnLst/>
            <a:rect l="l" t="t" r="r" b="b"/>
            <a:pathLst>
              <a:path w="1734312">
                <a:moveTo>
                  <a:pt x="0" y="0"/>
                </a:moveTo>
                <a:lnTo>
                  <a:pt x="173431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663190" y="7516749"/>
            <a:ext cx="922782" cy="0"/>
          </a:xfrm>
          <a:custGeom>
            <a:avLst/>
            <a:gdLst/>
            <a:ahLst/>
            <a:cxnLst/>
            <a:rect l="l" t="t" r="r" b="b"/>
            <a:pathLst>
              <a:path w="922782">
                <a:moveTo>
                  <a:pt x="0" y="0"/>
                </a:moveTo>
                <a:lnTo>
                  <a:pt x="92278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585972" y="7516749"/>
            <a:ext cx="641603" cy="0"/>
          </a:xfrm>
          <a:custGeom>
            <a:avLst/>
            <a:gdLst/>
            <a:ahLst/>
            <a:cxnLst/>
            <a:rect l="l" t="t" r="r" b="b"/>
            <a:pathLst>
              <a:path w="641603">
                <a:moveTo>
                  <a:pt x="0" y="0"/>
                </a:moveTo>
                <a:lnTo>
                  <a:pt x="64160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227576" y="751674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255770" y="7516749"/>
            <a:ext cx="766572" cy="0"/>
          </a:xfrm>
          <a:custGeom>
            <a:avLst/>
            <a:gdLst/>
            <a:ahLst/>
            <a:cxnLst/>
            <a:rect l="l" t="t" r="r" b="b"/>
            <a:pathLst>
              <a:path w="766572">
                <a:moveTo>
                  <a:pt x="0" y="0"/>
                </a:moveTo>
                <a:lnTo>
                  <a:pt x="76657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022342" y="751674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050536" y="7516749"/>
            <a:ext cx="889253" cy="0"/>
          </a:xfrm>
          <a:custGeom>
            <a:avLst/>
            <a:gdLst/>
            <a:ahLst/>
            <a:cxnLst/>
            <a:rect l="l" t="t" r="r" b="b"/>
            <a:pathLst>
              <a:path w="889253">
                <a:moveTo>
                  <a:pt x="0" y="0"/>
                </a:moveTo>
                <a:lnTo>
                  <a:pt x="88925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939790" y="7516749"/>
            <a:ext cx="904493" cy="0"/>
          </a:xfrm>
          <a:custGeom>
            <a:avLst/>
            <a:gdLst/>
            <a:ahLst/>
            <a:cxnLst/>
            <a:rect l="l" t="t" r="r" b="b"/>
            <a:pathLst>
              <a:path w="904493">
                <a:moveTo>
                  <a:pt x="0" y="0"/>
                </a:moveTo>
                <a:lnTo>
                  <a:pt x="90449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928878" y="7831836"/>
            <a:ext cx="1734312" cy="0"/>
          </a:xfrm>
          <a:custGeom>
            <a:avLst/>
            <a:gdLst/>
            <a:ahLst/>
            <a:cxnLst/>
            <a:rect l="l" t="t" r="r" b="b"/>
            <a:pathLst>
              <a:path w="1734312">
                <a:moveTo>
                  <a:pt x="0" y="0"/>
                </a:moveTo>
                <a:lnTo>
                  <a:pt x="17343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672333" y="7831836"/>
            <a:ext cx="913638" cy="0"/>
          </a:xfrm>
          <a:custGeom>
            <a:avLst/>
            <a:gdLst/>
            <a:ahLst/>
            <a:cxnLst/>
            <a:rect l="l" t="t" r="r" b="b"/>
            <a:pathLst>
              <a:path w="913638">
                <a:moveTo>
                  <a:pt x="0" y="0"/>
                </a:moveTo>
                <a:lnTo>
                  <a:pt x="913638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595116" y="7831836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46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236720" y="7831836"/>
            <a:ext cx="785622" cy="0"/>
          </a:xfrm>
          <a:custGeom>
            <a:avLst/>
            <a:gdLst/>
            <a:ahLst/>
            <a:cxnLst/>
            <a:rect l="l" t="t" r="r" b="b"/>
            <a:pathLst>
              <a:path w="785622">
                <a:moveTo>
                  <a:pt x="0" y="0"/>
                </a:moveTo>
                <a:lnTo>
                  <a:pt x="78562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031486" y="7831836"/>
            <a:ext cx="908303" cy="0"/>
          </a:xfrm>
          <a:custGeom>
            <a:avLst/>
            <a:gdLst/>
            <a:ahLst/>
            <a:cxnLst/>
            <a:rect l="l" t="t" r="r" b="b"/>
            <a:pathLst>
              <a:path w="908303">
                <a:moveTo>
                  <a:pt x="0" y="0"/>
                </a:moveTo>
                <a:lnTo>
                  <a:pt x="908303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948934" y="7831836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>
                <a:moveTo>
                  <a:pt x="0" y="0"/>
                </a:moveTo>
                <a:lnTo>
                  <a:pt x="8953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928878" y="8093963"/>
            <a:ext cx="1734312" cy="0"/>
          </a:xfrm>
          <a:custGeom>
            <a:avLst/>
            <a:gdLst/>
            <a:ahLst/>
            <a:cxnLst/>
            <a:rect l="l" t="t" r="r" b="b"/>
            <a:pathLst>
              <a:path w="1734312">
                <a:moveTo>
                  <a:pt x="0" y="0"/>
                </a:moveTo>
                <a:lnTo>
                  <a:pt x="17343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672333" y="8093963"/>
            <a:ext cx="913638" cy="0"/>
          </a:xfrm>
          <a:custGeom>
            <a:avLst/>
            <a:gdLst/>
            <a:ahLst/>
            <a:cxnLst/>
            <a:rect l="l" t="t" r="r" b="b"/>
            <a:pathLst>
              <a:path w="913638">
                <a:moveTo>
                  <a:pt x="0" y="0"/>
                </a:moveTo>
                <a:lnTo>
                  <a:pt x="913638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595116" y="8093963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46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236720" y="8093963"/>
            <a:ext cx="785622" cy="0"/>
          </a:xfrm>
          <a:custGeom>
            <a:avLst/>
            <a:gdLst/>
            <a:ahLst/>
            <a:cxnLst/>
            <a:rect l="l" t="t" r="r" b="b"/>
            <a:pathLst>
              <a:path w="785622">
                <a:moveTo>
                  <a:pt x="0" y="0"/>
                </a:moveTo>
                <a:lnTo>
                  <a:pt x="78562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031486" y="8093963"/>
            <a:ext cx="908303" cy="0"/>
          </a:xfrm>
          <a:custGeom>
            <a:avLst/>
            <a:gdLst/>
            <a:ahLst/>
            <a:cxnLst/>
            <a:rect l="l" t="t" r="r" b="b"/>
            <a:pathLst>
              <a:path w="908303">
                <a:moveTo>
                  <a:pt x="0" y="0"/>
                </a:moveTo>
                <a:lnTo>
                  <a:pt x="908303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948934" y="8093963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>
                <a:moveTo>
                  <a:pt x="0" y="0"/>
                </a:moveTo>
                <a:lnTo>
                  <a:pt x="8953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928878" y="8365998"/>
            <a:ext cx="1734312" cy="0"/>
          </a:xfrm>
          <a:custGeom>
            <a:avLst/>
            <a:gdLst/>
            <a:ahLst/>
            <a:cxnLst/>
            <a:rect l="l" t="t" r="r" b="b"/>
            <a:pathLst>
              <a:path w="1734312">
                <a:moveTo>
                  <a:pt x="0" y="0"/>
                </a:moveTo>
                <a:lnTo>
                  <a:pt x="17343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672333" y="8365998"/>
            <a:ext cx="913638" cy="0"/>
          </a:xfrm>
          <a:custGeom>
            <a:avLst/>
            <a:gdLst/>
            <a:ahLst/>
            <a:cxnLst/>
            <a:rect l="l" t="t" r="r" b="b"/>
            <a:pathLst>
              <a:path w="913638">
                <a:moveTo>
                  <a:pt x="0" y="0"/>
                </a:moveTo>
                <a:lnTo>
                  <a:pt x="913638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595116" y="8365998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46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4236720" y="8365998"/>
            <a:ext cx="785622" cy="0"/>
          </a:xfrm>
          <a:custGeom>
            <a:avLst/>
            <a:gdLst/>
            <a:ahLst/>
            <a:cxnLst/>
            <a:rect l="l" t="t" r="r" b="b"/>
            <a:pathLst>
              <a:path w="785622">
                <a:moveTo>
                  <a:pt x="0" y="0"/>
                </a:moveTo>
                <a:lnTo>
                  <a:pt x="78562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031486" y="8365998"/>
            <a:ext cx="908303" cy="0"/>
          </a:xfrm>
          <a:custGeom>
            <a:avLst/>
            <a:gdLst/>
            <a:ahLst/>
            <a:cxnLst/>
            <a:rect l="l" t="t" r="r" b="b"/>
            <a:pathLst>
              <a:path w="908303">
                <a:moveTo>
                  <a:pt x="0" y="0"/>
                </a:moveTo>
                <a:lnTo>
                  <a:pt x="908303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948934" y="8365998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>
                <a:moveTo>
                  <a:pt x="0" y="0"/>
                </a:moveTo>
                <a:lnTo>
                  <a:pt x="8953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928878" y="8675370"/>
            <a:ext cx="1734312" cy="0"/>
          </a:xfrm>
          <a:custGeom>
            <a:avLst/>
            <a:gdLst/>
            <a:ahLst/>
            <a:cxnLst/>
            <a:rect l="l" t="t" r="r" b="b"/>
            <a:pathLst>
              <a:path w="1734312">
                <a:moveTo>
                  <a:pt x="0" y="0"/>
                </a:moveTo>
                <a:lnTo>
                  <a:pt x="17343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672333" y="8675370"/>
            <a:ext cx="913638" cy="0"/>
          </a:xfrm>
          <a:custGeom>
            <a:avLst/>
            <a:gdLst/>
            <a:ahLst/>
            <a:cxnLst/>
            <a:rect l="l" t="t" r="r" b="b"/>
            <a:pathLst>
              <a:path w="913638">
                <a:moveTo>
                  <a:pt x="0" y="0"/>
                </a:moveTo>
                <a:lnTo>
                  <a:pt x="913638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595116" y="8675370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46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236720" y="8675370"/>
            <a:ext cx="785622" cy="0"/>
          </a:xfrm>
          <a:custGeom>
            <a:avLst/>
            <a:gdLst/>
            <a:ahLst/>
            <a:cxnLst/>
            <a:rect l="l" t="t" r="r" b="b"/>
            <a:pathLst>
              <a:path w="785622">
                <a:moveTo>
                  <a:pt x="0" y="0"/>
                </a:moveTo>
                <a:lnTo>
                  <a:pt x="78562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031486" y="8675370"/>
            <a:ext cx="908303" cy="0"/>
          </a:xfrm>
          <a:custGeom>
            <a:avLst/>
            <a:gdLst/>
            <a:ahLst/>
            <a:cxnLst/>
            <a:rect l="l" t="t" r="r" b="b"/>
            <a:pathLst>
              <a:path w="908303">
                <a:moveTo>
                  <a:pt x="0" y="0"/>
                </a:moveTo>
                <a:lnTo>
                  <a:pt x="908303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948934" y="8675370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>
                <a:moveTo>
                  <a:pt x="0" y="0"/>
                </a:moveTo>
                <a:lnTo>
                  <a:pt x="8953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928878" y="8952738"/>
            <a:ext cx="1734312" cy="0"/>
          </a:xfrm>
          <a:custGeom>
            <a:avLst/>
            <a:gdLst/>
            <a:ahLst/>
            <a:cxnLst/>
            <a:rect l="l" t="t" r="r" b="b"/>
            <a:pathLst>
              <a:path w="1734312">
                <a:moveTo>
                  <a:pt x="0" y="0"/>
                </a:moveTo>
                <a:lnTo>
                  <a:pt x="17343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2672333" y="8952738"/>
            <a:ext cx="913638" cy="0"/>
          </a:xfrm>
          <a:custGeom>
            <a:avLst/>
            <a:gdLst/>
            <a:ahLst/>
            <a:cxnLst/>
            <a:rect l="l" t="t" r="r" b="b"/>
            <a:pathLst>
              <a:path w="913638">
                <a:moveTo>
                  <a:pt x="0" y="0"/>
                </a:moveTo>
                <a:lnTo>
                  <a:pt x="913638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595116" y="8952738"/>
            <a:ext cx="632460" cy="0"/>
          </a:xfrm>
          <a:custGeom>
            <a:avLst/>
            <a:gdLst/>
            <a:ahLst/>
            <a:cxnLst/>
            <a:rect l="l" t="t" r="r" b="b"/>
            <a:pathLst>
              <a:path w="632460">
                <a:moveTo>
                  <a:pt x="0" y="0"/>
                </a:moveTo>
                <a:lnTo>
                  <a:pt x="63246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236720" y="8952738"/>
            <a:ext cx="785622" cy="0"/>
          </a:xfrm>
          <a:custGeom>
            <a:avLst/>
            <a:gdLst/>
            <a:ahLst/>
            <a:cxnLst/>
            <a:rect l="l" t="t" r="r" b="b"/>
            <a:pathLst>
              <a:path w="785622">
                <a:moveTo>
                  <a:pt x="0" y="0"/>
                </a:moveTo>
                <a:lnTo>
                  <a:pt x="78562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031486" y="8952738"/>
            <a:ext cx="908303" cy="0"/>
          </a:xfrm>
          <a:custGeom>
            <a:avLst/>
            <a:gdLst/>
            <a:ahLst/>
            <a:cxnLst/>
            <a:rect l="l" t="t" r="r" b="b"/>
            <a:pathLst>
              <a:path w="908303">
                <a:moveTo>
                  <a:pt x="0" y="0"/>
                </a:moveTo>
                <a:lnTo>
                  <a:pt x="908303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948934" y="8952738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>
                <a:moveTo>
                  <a:pt x="0" y="0"/>
                </a:moveTo>
                <a:lnTo>
                  <a:pt x="8953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928878" y="9216771"/>
            <a:ext cx="1734312" cy="0"/>
          </a:xfrm>
          <a:custGeom>
            <a:avLst/>
            <a:gdLst/>
            <a:ahLst/>
            <a:cxnLst/>
            <a:rect l="l" t="t" r="r" b="b"/>
            <a:pathLst>
              <a:path w="1734312">
                <a:moveTo>
                  <a:pt x="0" y="0"/>
                </a:moveTo>
                <a:lnTo>
                  <a:pt x="173431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663190" y="9216771"/>
            <a:ext cx="922782" cy="0"/>
          </a:xfrm>
          <a:custGeom>
            <a:avLst/>
            <a:gdLst/>
            <a:ahLst/>
            <a:cxnLst/>
            <a:rect l="l" t="t" r="r" b="b"/>
            <a:pathLst>
              <a:path w="922782">
                <a:moveTo>
                  <a:pt x="0" y="0"/>
                </a:moveTo>
                <a:lnTo>
                  <a:pt x="92278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585972" y="9216771"/>
            <a:ext cx="641603" cy="0"/>
          </a:xfrm>
          <a:custGeom>
            <a:avLst/>
            <a:gdLst/>
            <a:ahLst/>
            <a:cxnLst/>
            <a:rect l="l" t="t" r="r" b="b"/>
            <a:pathLst>
              <a:path w="641603">
                <a:moveTo>
                  <a:pt x="0" y="0"/>
                </a:moveTo>
                <a:lnTo>
                  <a:pt x="64160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4227576" y="921677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4255770" y="9216771"/>
            <a:ext cx="766572" cy="0"/>
          </a:xfrm>
          <a:custGeom>
            <a:avLst/>
            <a:gdLst/>
            <a:ahLst/>
            <a:cxnLst/>
            <a:rect l="l" t="t" r="r" b="b"/>
            <a:pathLst>
              <a:path w="766572">
                <a:moveTo>
                  <a:pt x="0" y="0"/>
                </a:moveTo>
                <a:lnTo>
                  <a:pt x="76657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022342" y="921677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050536" y="9216771"/>
            <a:ext cx="889253" cy="0"/>
          </a:xfrm>
          <a:custGeom>
            <a:avLst/>
            <a:gdLst/>
            <a:ahLst/>
            <a:cxnLst/>
            <a:rect l="l" t="t" r="r" b="b"/>
            <a:pathLst>
              <a:path w="889253">
                <a:moveTo>
                  <a:pt x="0" y="0"/>
                </a:moveTo>
                <a:lnTo>
                  <a:pt x="88925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939790" y="9216771"/>
            <a:ext cx="904493" cy="0"/>
          </a:xfrm>
          <a:custGeom>
            <a:avLst/>
            <a:gdLst/>
            <a:ahLst/>
            <a:cxnLst/>
            <a:rect l="l" t="t" r="r" b="b"/>
            <a:pathLst>
              <a:path w="904493">
                <a:moveTo>
                  <a:pt x="0" y="0"/>
                </a:moveTo>
                <a:lnTo>
                  <a:pt x="90449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914781" y="6890385"/>
            <a:ext cx="0" cy="2615564"/>
          </a:xfrm>
          <a:custGeom>
            <a:avLst/>
            <a:gdLst/>
            <a:ahLst/>
            <a:cxnLst/>
            <a:rect l="l" t="t" r="r" b="b"/>
            <a:pathLst>
              <a:path h="2615564">
                <a:moveTo>
                  <a:pt x="0" y="0"/>
                </a:moveTo>
                <a:lnTo>
                  <a:pt x="0" y="2615564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900684" y="9491853"/>
            <a:ext cx="1762505" cy="0"/>
          </a:xfrm>
          <a:custGeom>
            <a:avLst/>
            <a:gdLst/>
            <a:ahLst/>
            <a:cxnLst/>
            <a:rect l="l" t="t" r="r" b="b"/>
            <a:pathLst>
              <a:path w="1762505">
                <a:moveTo>
                  <a:pt x="0" y="0"/>
                </a:moveTo>
                <a:lnTo>
                  <a:pt x="1762505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2667762" y="6914007"/>
            <a:ext cx="0" cy="2563749"/>
          </a:xfrm>
          <a:custGeom>
            <a:avLst/>
            <a:gdLst/>
            <a:ahLst/>
            <a:cxnLst/>
            <a:rect l="l" t="t" r="r" b="b"/>
            <a:pathLst>
              <a:path h="2563749">
                <a:moveTo>
                  <a:pt x="0" y="0"/>
                </a:moveTo>
                <a:lnTo>
                  <a:pt x="0" y="2563749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2663190" y="9491853"/>
            <a:ext cx="922782" cy="0"/>
          </a:xfrm>
          <a:custGeom>
            <a:avLst/>
            <a:gdLst/>
            <a:ahLst/>
            <a:cxnLst/>
            <a:rect l="l" t="t" r="r" b="b"/>
            <a:pathLst>
              <a:path w="922782">
                <a:moveTo>
                  <a:pt x="0" y="0"/>
                </a:moveTo>
                <a:lnTo>
                  <a:pt x="92278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3590544" y="6914007"/>
            <a:ext cx="0" cy="2563749"/>
          </a:xfrm>
          <a:custGeom>
            <a:avLst/>
            <a:gdLst/>
            <a:ahLst/>
            <a:cxnLst/>
            <a:rect l="l" t="t" r="r" b="b"/>
            <a:pathLst>
              <a:path h="2563749">
                <a:moveTo>
                  <a:pt x="0" y="0"/>
                </a:moveTo>
                <a:lnTo>
                  <a:pt x="0" y="256374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3585972" y="9491853"/>
            <a:ext cx="641603" cy="0"/>
          </a:xfrm>
          <a:custGeom>
            <a:avLst/>
            <a:gdLst/>
            <a:ahLst/>
            <a:cxnLst/>
            <a:rect l="l" t="t" r="r" b="b"/>
            <a:pathLst>
              <a:path w="641603">
                <a:moveTo>
                  <a:pt x="0" y="0"/>
                </a:moveTo>
                <a:lnTo>
                  <a:pt x="64160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4232148" y="6914007"/>
            <a:ext cx="0" cy="2563749"/>
          </a:xfrm>
          <a:custGeom>
            <a:avLst/>
            <a:gdLst/>
            <a:ahLst/>
            <a:cxnLst/>
            <a:rect l="l" t="t" r="r" b="b"/>
            <a:pathLst>
              <a:path h="2563749">
                <a:moveTo>
                  <a:pt x="0" y="0"/>
                </a:moveTo>
                <a:lnTo>
                  <a:pt x="0" y="256374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4227576" y="9491853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4255770" y="9491853"/>
            <a:ext cx="766572" cy="0"/>
          </a:xfrm>
          <a:custGeom>
            <a:avLst/>
            <a:gdLst/>
            <a:ahLst/>
            <a:cxnLst/>
            <a:rect l="l" t="t" r="r" b="b"/>
            <a:pathLst>
              <a:path w="766572">
                <a:moveTo>
                  <a:pt x="0" y="0"/>
                </a:moveTo>
                <a:lnTo>
                  <a:pt x="76657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026914" y="7239000"/>
            <a:ext cx="0" cy="2238756"/>
          </a:xfrm>
          <a:custGeom>
            <a:avLst/>
            <a:gdLst/>
            <a:ahLst/>
            <a:cxnLst/>
            <a:rect l="l" t="t" r="r" b="b"/>
            <a:pathLst>
              <a:path h="2238755">
                <a:moveTo>
                  <a:pt x="0" y="0"/>
                </a:moveTo>
                <a:lnTo>
                  <a:pt x="0" y="2238756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5022342" y="9491853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5050536" y="9491853"/>
            <a:ext cx="889253" cy="0"/>
          </a:xfrm>
          <a:custGeom>
            <a:avLst/>
            <a:gdLst/>
            <a:ahLst/>
            <a:cxnLst/>
            <a:rect l="l" t="t" r="r" b="b"/>
            <a:pathLst>
              <a:path w="889253">
                <a:moveTo>
                  <a:pt x="0" y="0"/>
                </a:moveTo>
                <a:lnTo>
                  <a:pt x="88925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944362" y="7239000"/>
            <a:ext cx="0" cy="2238756"/>
          </a:xfrm>
          <a:custGeom>
            <a:avLst/>
            <a:gdLst/>
            <a:ahLst/>
            <a:cxnLst/>
            <a:rect l="l" t="t" r="r" b="b"/>
            <a:pathLst>
              <a:path h="2238755">
                <a:moveTo>
                  <a:pt x="0" y="0"/>
                </a:moveTo>
                <a:lnTo>
                  <a:pt x="0" y="2238756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939790" y="9491853"/>
            <a:ext cx="904493" cy="0"/>
          </a:xfrm>
          <a:custGeom>
            <a:avLst/>
            <a:gdLst/>
            <a:ahLst/>
            <a:cxnLst/>
            <a:rect l="l" t="t" r="r" b="b"/>
            <a:pathLst>
              <a:path w="904493">
                <a:moveTo>
                  <a:pt x="0" y="0"/>
                </a:moveTo>
                <a:lnTo>
                  <a:pt x="90449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6858381" y="6890004"/>
            <a:ext cx="0" cy="2615946"/>
          </a:xfrm>
          <a:custGeom>
            <a:avLst/>
            <a:gdLst/>
            <a:ahLst/>
            <a:cxnLst/>
            <a:rect l="l" t="t" r="r" b="b"/>
            <a:pathLst>
              <a:path h="2615946">
                <a:moveTo>
                  <a:pt x="0" y="0"/>
                </a:moveTo>
                <a:lnTo>
                  <a:pt x="0" y="261594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914781" y="6904101"/>
            <a:ext cx="1752981" cy="612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42"/>
              </a:spcBef>
            </a:pPr>
            <a:endParaRPr sz="850"/>
          </a:p>
          <a:p>
            <a:pPr marL="362331">
              <a:lnSpc>
                <a:spcPct val="95825"/>
              </a:lnSpc>
              <a:spcBef>
                <a:spcPts val="100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Forma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organi</a:t>
            </a:r>
            <a:r>
              <a:rPr sz="900" b="1" spc="-9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are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667762" y="6904101"/>
            <a:ext cx="922782" cy="612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76"/>
              </a:spcBef>
            </a:pPr>
            <a:endParaRPr sz="1300"/>
          </a:p>
          <a:p>
            <a:pPr marL="204215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N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unităţi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590544" y="6904101"/>
            <a:ext cx="641603" cy="6126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76"/>
              </a:spcBef>
            </a:pPr>
            <a:endParaRPr sz="1300"/>
          </a:p>
          <a:p>
            <a:pPr marL="213842" marR="213433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Nr.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232148" y="6904101"/>
            <a:ext cx="2626232" cy="3318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56"/>
          <p:cNvSpPr txBox="1"/>
          <p:nvPr/>
        </p:nvSpPr>
        <p:spPr>
          <a:xfrm>
            <a:off x="4232148" y="7235952"/>
            <a:ext cx="794765" cy="2807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55"/>
              </a:spcBef>
            </a:pPr>
            <a:endParaRPr sz="1000"/>
          </a:p>
          <a:p>
            <a:pPr marL="257555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totală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026914" y="7235952"/>
            <a:ext cx="917448" cy="2807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55"/>
              </a:spcBef>
            </a:pPr>
            <a:endParaRPr sz="1000"/>
          </a:p>
          <a:p>
            <a:pPr marL="261365">
              <a:lnSpc>
                <a:spcPct val="95825"/>
              </a:lnSpc>
            </a:pP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oiec</a:t>
            </a:r>
            <a:r>
              <a:rPr sz="900" b="1" spc="-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944362" y="7235952"/>
            <a:ext cx="914018" cy="2807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9"/>
              </a:spcBef>
            </a:pPr>
            <a:endParaRPr sz="500"/>
          </a:p>
          <a:p>
            <a:pPr marL="161543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Cofina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ţare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14781" y="7516749"/>
            <a:ext cx="1752981" cy="3150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2667762" y="7516749"/>
            <a:ext cx="922782" cy="3150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3590544" y="7516749"/>
            <a:ext cx="641603" cy="3150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4232148" y="7516749"/>
            <a:ext cx="794765" cy="3150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5026914" y="7516749"/>
            <a:ext cx="917448" cy="3150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5944362" y="7516749"/>
            <a:ext cx="914018" cy="3150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914781" y="7831836"/>
            <a:ext cx="1752981" cy="262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2667762" y="7831836"/>
            <a:ext cx="922782" cy="262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3590544" y="7831836"/>
            <a:ext cx="641603" cy="262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4232148" y="7831836"/>
            <a:ext cx="794765" cy="262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5026914" y="7831836"/>
            <a:ext cx="917448" cy="262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5944362" y="7831836"/>
            <a:ext cx="914018" cy="262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914781" y="8093963"/>
            <a:ext cx="1752981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73"/>
              </a:spcBef>
            </a:pPr>
            <a:endParaRPr sz="1000"/>
          </a:p>
          <a:p>
            <a:pPr marL="68949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cu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acti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itate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cercet</a:t>
            </a:r>
            <a:r>
              <a:rPr sz="900" b="1" spc="-4" dirty="0" smtClean="0">
                <a:latin typeface="Times New Roman"/>
                <a:cs typeface="Times New Roman"/>
              </a:rPr>
              <a:t>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67762" y="8093963"/>
            <a:ext cx="922782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"/>
              </a:spcBef>
            </a:pPr>
            <a:endParaRPr sz="550"/>
          </a:p>
          <a:p>
            <a:pPr marL="382579" marR="383357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17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90544" y="8093963"/>
            <a:ext cx="641603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1"/>
              </a:spcBef>
            </a:pPr>
            <a:endParaRPr sz="550"/>
          </a:p>
          <a:p>
            <a:pPr marL="242375" marR="242383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26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32148" y="8093963"/>
            <a:ext cx="794765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3"/>
              </a:spcBef>
            </a:pPr>
            <a:endParaRPr sz="500"/>
          </a:p>
          <a:p>
            <a:pPr marL="68568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12.128.83</a:t>
            </a:r>
            <a:r>
              <a:rPr sz="900" spc="-4" dirty="0" smtClean="0">
                <a:latin typeface="Times New Roman"/>
                <a:cs typeface="Times New Roman"/>
              </a:rPr>
              <a:t>9</a:t>
            </a:r>
            <a:r>
              <a:rPr sz="900" spc="0" dirty="0" smtClean="0">
                <a:latin typeface="Times New Roman"/>
                <a:cs typeface="Times New Roman"/>
              </a:rPr>
              <a:t>,06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26914" y="8093963"/>
            <a:ext cx="917448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3"/>
              </a:spcBef>
            </a:pPr>
            <a:endParaRPr sz="500"/>
          </a:p>
          <a:p>
            <a:pPr marL="202661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9.037.50</a:t>
            </a:r>
            <a:r>
              <a:rPr sz="900" spc="-4" dirty="0" smtClean="0">
                <a:latin typeface="Times New Roman"/>
                <a:cs typeface="Times New Roman"/>
              </a:rPr>
              <a:t>7</a:t>
            </a:r>
            <a:r>
              <a:rPr sz="900" spc="0" dirty="0" smtClean="0">
                <a:latin typeface="Times New Roman"/>
                <a:cs typeface="Times New Roman"/>
              </a:rPr>
              <a:t>,56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44362" y="8093963"/>
            <a:ext cx="914018" cy="2720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3"/>
              </a:spcBef>
            </a:pPr>
            <a:endParaRPr sz="500"/>
          </a:p>
          <a:p>
            <a:pPr marL="227582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3.091.331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781" y="8365998"/>
            <a:ext cx="1752981" cy="3093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2667762" y="8365998"/>
            <a:ext cx="922782" cy="3093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3590544" y="8365998"/>
            <a:ext cx="641603" cy="3093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4232148" y="8365998"/>
            <a:ext cx="794765" cy="3093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5026914" y="8365998"/>
            <a:ext cx="917448" cy="3093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5944362" y="8365998"/>
            <a:ext cx="914018" cy="3093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914781" y="8675370"/>
            <a:ext cx="1752981" cy="2773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2667762" y="8675370"/>
            <a:ext cx="922782" cy="2773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3590544" y="8675370"/>
            <a:ext cx="641603" cy="2773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4232148" y="8675370"/>
            <a:ext cx="794765" cy="2773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5026914" y="8675370"/>
            <a:ext cx="917448" cy="2773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5944362" y="8675370"/>
            <a:ext cx="914018" cy="2773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914781" y="8952738"/>
            <a:ext cx="1752981" cy="264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2667762" y="8952738"/>
            <a:ext cx="922782" cy="264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3590544" y="8952738"/>
            <a:ext cx="641603" cy="264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4232148" y="8952738"/>
            <a:ext cx="794765" cy="264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5026914" y="8952738"/>
            <a:ext cx="917448" cy="264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5944362" y="8952738"/>
            <a:ext cx="914018" cy="264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914781" y="9216771"/>
            <a:ext cx="1752981" cy="275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667762" y="9216771"/>
            <a:ext cx="922782" cy="275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590544" y="9216771"/>
            <a:ext cx="641603" cy="275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232148" y="9216771"/>
            <a:ext cx="794765" cy="275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026914" y="9216771"/>
            <a:ext cx="917448" cy="275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5944362" y="9216771"/>
            <a:ext cx="914018" cy="2750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1370457" y="5986716"/>
            <a:ext cx="2512695" cy="1591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883152" y="5986716"/>
            <a:ext cx="2516505" cy="1591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1370457" y="6145911"/>
            <a:ext cx="2512695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3883152" y="6145911"/>
            <a:ext cx="2516505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1370457" y="5243766"/>
            <a:ext cx="2512695" cy="1599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3883152" y="5243766"/>
            <a:ext cx="2516505" cy="1599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1370457" y="5403723"/>
            <a:ext cx="2512695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3883152" y="5403723"/>
            <a:ext cx="2516505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896112" y="4572000"/>
            <a:ext cx="5978651" cy="1752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374522">
              <a:lnSpc>
                <a:spcPct val="95825"/>
              </a:lnSpc>
              <a:spcBef>
                <a:spcPts val="138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</a:t>
            </a:r>
            <a:r>
              <a:rPr sz="900" b="1" spc="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SIMAGRO Sist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m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, maşini,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u</a:t>
            </a:r>
            <a:r>
              <a:rPr sz="900" b="1" i="1" spc="-4" dirty="0" smtClean="0">
                <a:latin typeface="Times New Roman"/>
                <a:cs typeface="Times New Roman"/>
              </a:rPr>
              <a:t>t</a:t>
            </a:r>
            <a:r>
              <a:rPr sz="900" b="1" i="1" spc="0" dirty="0" smtClean="0">
                <a:latin typeface="Times New Roman"/>
                <a:cs typeface="Times New Roman"/>
              </a:rPr>
              <a:t>ila</a:t>
            </a:r>
            <a:r>
              <a:rPr sz="900" b="1" i="1" spc="-4" dirty="0" smtClean="0">
                <a:latin typeface="Times New Roman"/>
                <a:cs typeface="Times New Roman"/>
              </a:rPr>
              <a:t>j</a:t>
            </a:r>
            <a:r>
              <a:rPr sz="900" b="1" i="1" spc="0" dirty="0" smtClean="0">
                <a:latin typeface="Times New Roman"/>
                <a:cs typeface="Times New Roman"/>
              </a:rPr>
              <a:t>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şi </a:t>
            </a:r>
            <a:r>
              <a:rPr sz="900" b="1" i="1" spc="-4" dirty="0" smtClean="0">
                <a:latin typeface="Times New Roman"/>
                <a:cs typeface="Times New Roman"/>
              </a:rPr>
              <a:t>e</a:t>
            </a:r>
            <a:r>
              <a:rPr sz="900" b="1" i="1" spc="4" dirty="0" smtClean="0">
                <a:latin typeface="Times New Roman"/>
                <a:cs typeface="Times New Roman"/>
              </a:rPr>
              <a:t>c</a:t>
            </a:r>
            <a:r>
              <a:rPr sz="900" b="1" i="1" spc="0" dirty="0" smtClean="0">
                <a:latin typeface="Times New Roman"/>
                <a:cs typeface="Times New Roman"/>
              </a:rPr>
              <a:t>hipamente </a:t>
            </a:r>
            <a:r>
              <a:rPr sz="900" b="1" i="1" spc="-4" dirty="0" smtClean="0">
                <a:latin typeface="Times New Roman"/>
                <a:cs typeface="Times New Roman"/>
              </a:rPr>
              <a:t>p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ntru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agricultu</a:t>
            </a:r>
            <a:r>
              <a:rPr sz="900" b="1" i="1" spc="-9" dirty="0" smtClean="0">
                <a:latin typeface="Times New Roman"/>
                <a:cs typeface="Times New Roman"/>
              </a:rPr>
              <a:t>r</a:t>
            </a:r>
            <a:r>
              <a:rPr sz="900" b="1" i="1" spc="0" dirty="0" smtClean="0">
                <a:latin typeface="Times New Roman"/>
                <a:cs typeface="Times New Roman"/>
              </a:rPr>
              <a:t>ă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şi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industrie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a</a:t>
            </a:r>
            <a:r>
              <a:rPr sz="900" b="1" i="1" spc="-4" dirty="0" smtClean="0">
                <a:latin typeface="Times New Roman"/>
                <a:cs typeface="Times New Roman"/>
              </a:rPr>
              <a:t>l</a:t>
            </a:r>
            <a:r>
              <a:rPr sz="900" b="1" i="1" spc="0" dirty="0" smtClean="0">
                <a:latin typeface="Times New Roman"/>
                <a:cs typeface="Times New Roman"/>
              </a:rPr>
              <a:t>i</a:t>
            </a:r>
            <a:r>
              <a:rPr sz="900" b="1" i="1" spc="-4" dirty="0" smtClean="0">
                <a:latin typeface="Times New Roman"/>
                <a:cs typeface="Times New Roman"/>
              </a:rPr>
              <a:t>m</a:t>
            </a:r>
            <a:r>
              <a:rPr sz="900" b="1" i="1" spc="0" dirty="0" smtClean="0">
                <a:latin typeface="Times New Roman"/>
                <a:cs typeface="Times New Roman"/>
              </a:rPr>
              <a:t>enta</a:t>
            </a:r>
            <a:r>
              <a:rPr sz="900" b="1" i="1" spc="-4" dirty="0" smtClean="0">
                <a:latin typeface="Times New Roman"/>
                <a:cs typeface="Times New Roman"/>
              </a:rPr>
              <a:t>r</a:t>
            </a:r>
            <a:r>
              <a:rPr sz="900" b="1" i="1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374534">
              <a:lnSpc>
                <a:spcPct val="95825"/>
              </a:lnSpc>
              <a:spcBef>
                <a:spcPts val="103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iecti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if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ce:</a:t>
            </a:r>
            <a:endParaRPr sz="900">
              <a:latin typeface="Times New Roman"/>
              <a:cs typeface="Times New Roman"/>
            </a:endParaRPr>
          </a:p>
          <a:p>
            <a:pPr marL="824110">
              <a:lnSpc>
                <a:spcPct val="95825"/>
              </a:lnSpc>
              <a:spcBef>
                <a:spcPts val="45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mecaniza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stinate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tale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lantele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câmp,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adaptate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rselor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cond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055063" marR="2866127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rimii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exploata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 un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lturi 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endParaRPr sz="900">
              <a:latin typeface="Times New Roman"/>
              <a:cs typeface="Times New Roman"/>
            </a:endParaRPr>
          </a:p>
          <a:p>
            <a:pPr marL="1076347" marR="369848" indent="-252225">
              <a:lnSpc>
                <a:spcPct val="96112"/>
              </a:lnSpc>
              <a:spcBef>
                <a:spcPts val="60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Perfe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luc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înfii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col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cultur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tivi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elu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rarea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liv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cţ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1076370" marR="369107" indent="-252237">
              <a:lnSpc>
                <a:spcPts val="1030"/>
              </a:lnSpc>
              <a:spcBef>
                <a:spcPts val="126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me</a:t>
            </a:r>
            <a:r>
              <a:rPr sz="900" spc="0" dirty="0" smtClean="0">
                <a:latin typeface="Times New Roman"/>
                <a:cs typeface="Times New Roman"/>
              </a:rPr>
              <a:t>can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auto</a:t>
            </a:r>
            <a:r>
              <a:rPr sz="900" spc="-4" dirty="0" smtClean="0">
                <a:latin typeface="Times New Roman"/>
                <a:cs typeface="Times New Roman"/>
              </a:rPr>
              <a:t>ma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luc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loat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ooteh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ate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rselor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categorii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animale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corespun</a:t>
            </a:r>
            <a:r>
              <a:rPr sz="900" spc="-9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iverselor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expl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endParaRPr sz="900">
              <a:latin typeface="Times New Roman"/>
              <a:cs typeface="Times New Roman"/>
            </a:endParaRPr>
          </a:p>
          <a:p>
            <a:pPr marL="824144">
              <a:lnSpc>
                <a:spcPct val="95825"/>
              </a:lnSpc>
              <a:spcBef>
                <a:spcPts val="3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ec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0" dirty="0" smtClean="0">
                <a:latin typeface="Times New Roman"/>
                <a:cs typeface="Times New Roman"/>
              </a:rPr>
              <a:t>ipa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şi 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elor de dep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zi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cesare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roduselor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agroalimentare</a:t>
            </a:r>
            <a:endParaRPr sz="900">
              <a:latin typeface="Times New Roman"/>
              <a:cs typeface="Times New Roman"/>
            </a:endParaRPr>
          </a:p>
          <a:p>
            <a:pPr marL="1076382" marR="369095" indent="-252225">
              <a:lnSpc>
                <a:spcPts val="1030"/>
              </a:lnSpc>
              <a:spcBef>
                <a:spcPts val="131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Eli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toril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risc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ind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curi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unc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tarea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mentelor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tehnice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ltura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industrie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1076405" marR="369838" indent="-252248">
              <a:lnSpc>
                <a:spcPts val="1030"/>
              </a:lnSpc>
              <a:spcBef>
                <a:spcPts val="7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Diseminarea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cun</a:t>
            </a:r>
            <a:r>
              <a:rPr sz="900" spc="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ez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telor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ile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aşinilor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entelor 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tura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industrie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374614">
              <a:lnSpc>
                <a:spcPct val="95825"/>
              </a:lnSpc>
              <a:spcBef>
                <a:spcPts val="972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</a:t>
            </a:r>
            <a:r>
              <a:rPr sz="900" b="1" spc="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i="1" spc="0" dirty="0" smtClean="0">
                <a:latin typeface="Times New Roman"/>
                <a:cs typeface="Times New Roman"/>
              </a:rPr>
              <a:t>“AGROTURISM”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alua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valori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poten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lului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turist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ltarea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turismului</a:t>
            </a:r>
            <a:endParaRPr sz="900">
              <a:latin typeface="Times New Roman"/>
              <a:cs typeface="Times New Roman"/>
            </a:endParaRPr>
          </a:p>
          <a:p>
            <a:pPr marL="374614">
              <a:lnSpc>
                <a:spcPct val="95825"/>
              </a:lnSpc>
              <a:spcBef>
                <a:spcPts val="105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iecti</a:t>
            </a:r>
            <a:r>
              <a:rPr sz="900" b="1" spc="-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if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ce:</a:t>
            </a:r>
            <a:endParaRPr sz="900">
              <a:latin typeface="Times New Roman"/>
              <a:cs typeface="Times New Roman"/>
            </a:endParaRPr>
          </a:p>
          <a:p>
            <a:pPr marL="1076416" marR="429345" indent="-252225">
              <a:lnSpc>
                <a:spcPct val="96112"/>
              </a:lnSpc>
              <a:spcBef>
                <a:spcPts val="45"/>
              </a:spcBef>
              <a:tabLst>
                <a:tab pos="1066800" algn="l"/>
              </a:tabLst>
            </a:pPr>
            <a:r>
              <a:rPr sz="900" spc="0" dirty="0" smtClean="0">
                <a:latin typeface="Times New Roman"/>
                <a:cs typeface="Times New Roman"/>
              </a:rPr>
              <a:t>•	Identi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 eval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rifica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surselor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locale şi regio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turism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concor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nta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dezvoltarea rurala</a:t>
            </a:r>
            <a:endParaRPr sz="900">
              <a:latin typeface="Times New Roman"/>
              <a:cs typeface="Times New Roman"/>
            </a:endParaRPr>
          </a:p>
          <a:p>
            <a:pPr marL="824190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ge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 al 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turis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ului</a:t>
            </a:r>
            <a:endParaRPr sz="900">
              <a:latin typeface="Times New Roman"/>
              <a:cs typeface="Times New Roman"/>
            </a:endParaRPr>
          </a:p>
          <a:p>
            <a:pPr marL="824190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elor de 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ii de 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turism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spe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onta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a,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a.)</a:t>
            </a:r>
            <a:endParaRPr sz="900">
              <a:latin typeface="Times New Roman"/>
              <a:cs typeface="Times New Roman"/>
            </a:endParaRPr>
          </a:p>
          <a:p>
            <a:pPr marL="824190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 infrastr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afere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 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turis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ului</a:t>
            </a:r>
            <a:endParaRPr sz="900">
              <a:latin typeface="Times New Roman"/>
              <a:cs typeface="Times New Roman"/>
            </a:endParaRPr>
          </a:p>
          <a:p>
            <a:pPr marL="824202">
              <a:lnSpc>
                <a:spcPct val="95825"/>
              </a:lnSpc>
              <a:spcBef>
                <a:spcPts val="7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Marketing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ei de agrot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rism</a:t>
            </a:r>
            <a:endParaRPr sz="900">
              <a:latin typeface="Times New Roman"/>
              <a:cs typeface="Times New Roman"/>
            </a:endParaRPr>
          </a:p>
          <a:p>
            <a:pPr marL="824202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ivind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diversi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of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agroturistice</a:t>
            </a:r>
            <a:endParaRPr sz="900">
              <a:latin typeface="Times New Roman"/>
              <a:cs typeface="Times New Roman"/>
            </a:endParaRPr>
          </a:p>
          <a:p>
            <a:pPr marL="824213">
              <a:lnSpc>
                <a:spcPct val="95825"/>
              </a:lnSpc>
              <a:spcBef>
                <a:spcPts val="60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•    </a:t>
            </a:r>
            <a:r>
              <a:rPr sz="900" spc="101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romovare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disemina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cun</a:t>
            </a:r>
            <a:r>
              <a:rPr sz="900" spc="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ştin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rivind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management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roturism</a:t>
            </a:r>
            <a:endParaRPr sz="900">
              <a:latin typeface="Times New Roman"/>
              <a:cs typeface="Times New Roman"/>
            </a:endParaRPr>
          </a:p>
          <a:p>
            <a:pPr marL="3070733" marR="3085634" algn="ctr">
              <a:lnSpc>
                <a:spcPct val="95825"/>
              </a:lnSpc>
              <a:spcBef>
                <a:spcPts val="3466"/>
              </a:spcBef>
            </a:pPr>
            <a:r>
              <a:rPr sz="1200" b="1" i="1" spc="0" dirty="0" smtClean="0">
                <a:latin typeface="Times New Roman"/>
                <a:cs typeface="Times New Roman"/>
              </a:rPr>
              <a:t>Resurse</a:t>
            </a:r>
            <a:endParaRPr sz="1200">
              <a:latin typeface="Times New Roman"/>
              <a:cs typeface="Times New Roman"/>
            </a:endParaRPr>
          </a:p>
          <a:p>
            <a:pPr marL="374522">
              <a:lnSpc>
                <a:spcPct val="95825"/>
              </a:lnSpc>
              <a:spcBef>
                <a:spcPts val="1384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Competiţie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2002:</a:t>
            </a:r>
            <a:endParaRPr sz="900">
              <a:latin typeface="Times New Roman"/>
              <a:cs typeface="Times New Roman"/>
            </a:endParaRPr>
          </a:p>
          <a:p>
            <a:pPr marL="1295082" marR="1334068" algn="ctr">
              <a:lnSpc>
                <a:spcPct val="95825"/>
              </a:lnSpc>
              <a:spcBef>
                <a:spcPts val="160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Număr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d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ecte 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art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a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te                                 </a:t>
            </a:r>
            <a:r>
              <a:rPr sz="900" b="1" spc="200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Număr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d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ecte co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tr</a:t>
            </a:r>
            <a:r>
              <a:rPr sz="900" b="1" spc="-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ctate</a:t>
            </a:r>
            <a:endParaRPr sz="900">
              <a:latin typeface="Times New Roman"/>
              <a:cs typeface="Times New Roman"/>
            </a:endParaRPr>
          </a:p>
          <a:p>
            <a:pPr marL="1979358" marR="2025455" algn="ctr">
              <a:lnSpc>
                <a:spcPct val="95825"/>
              </a:lnSpc>
              <a:spcBef>
                <a:spcPts val="204"/>
              </a:spcBef>
            </a:pPr>
            <a:r>
              <a:rPr sz="900" spc="0" dirty="0" smtClean="0">
                <a:latin typeface="Times New Roman"/>
                <a:cs typeface="Times New Roman"/>
              </a:rPr>
              <a:t>337                                                     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27</a:t>
            </a:r>
            <a:endParaRPr sz="900">
              <a:latin typeface="Times New Roman"/>
              <a:cs typeface="Times New Roman"/>
            </a:endParaRPr>
          </a:p>
          <a:p>
            <a:pPr marL="374522">
              <a:lnSpc>
                <a:spcPct val="95825"/>
              </a:lnSpc>
              <a:spcBef>
                <a:spcPts val="127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Licitaţie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2002:</a:t>
            </a:r>
            <a:endParaRPr sz="900">
              <a:latin typeface="Times New Roman"/>
              <a:cs typeface="Times New Roman"/>
            </a:endParaRPr>
          </a:p>
          <a:p>
            <a:pPr marL="1592262" marR="1334068" algn="ctr">
              <a:lnSpc>
                <a:spcPct val="95825"/>
              </a:lnSpc>
              <a:spcBef>
                <a:spcPts val="126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Număr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oferta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ţi                                            </a:t>
            </a:r>
            <a:r>
              <a:rPr sz="900" b="1" spc="59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Număr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d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ecte co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tr</a:t>
            </a:r>
            <a:r>
              <a:rPr sz="900" b="1" spc="-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ctate</a:t>
            </a:r>
            <a:endParaRPr sz="900">
              <a:latin typeface="Times New Roman"/>
              <a:cs typeface="Times New Roman"/>
            </a:endParaRPr>
          </a:p>
          <a:p>
            <a:pPr marL="2008314" marR="2025463" algn="ctr">
              <a:lnSpc>
                <a:spcPct val="95825"/>
              </a:lnSpc>
              <a:spcBef>
                <a:spcPts val="204"/>
              </a:spcBef>
            </a:pPr>
            <a:r>
              <a:rPr sz="900" spc="0" dirty="0" smtClean="0">
                <a:latin typeface="Times New Roman"/>
                <a:cs typeface="Times New Roman"/>
              </a:rPr>
              <a:t>20                                                      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10</a:t>
            </a:r>
            <a:endParaRPr sz="900">
              <a:latin typeface="Times New Roman"/>
              <a:cs typeface="Times New Roman"/>
            </a:endParaRPr>
          </a:p>
          <a:p>
            <a:pPr marL="374522">
              <a:lnSpc>
                <a:spcPct val="95825"/>
              </a:lnSpc>
              <a:spcBef>
                <a:spcPts val="265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Unităţi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parti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ipante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la</a:t>
            </a:r>
            <a:r>
              <a:rPr sz="900" b="1" spc="-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re</a:t>
            </a:r>
            <a:r>
              <a:rPr sz="900" b="1" spc="-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li</a:t>
            </a:r>
            <a:r>
              <a:rPr sz="900" b="1" spc="-9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area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programului:</a:t>
            </a:r>
            <a:endParaRPr sz="900">
              <a:latin typeface="Times New Roman"/>
              <a:cs typeface="Times New Roman"/>
            </a:endParaRPr>
          </a:p>
          <a:p>
            <a:pPr marR="1173291" algn="r">
              <a:lnSpc>
                <a:spcPct val="95825"/>
              </a:lnSpc>
              <a:spcBef>
                <a:spcPts val="198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Valoare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2002</a:t>
            </a:r>
            <a:r>
              <a:rPr sz="900" b="1" spc="-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(mii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lei)</a:t>
            </a:r>
            <a:endParaRPr sz="900">
              <a:latin typeface="Times New Roman"/>
              <a:cs typeface="Times New Roman"/>
            </a:endParaRPr>
          </a:p>
          <a:p>
            <a:pPr marL="2232279">
              <a:lnSpc>
                <a:spcPts val="1034"/>
              </a:lnSpc>
              <a:spcBef>
                <a:spcPts val="537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coordonatoare     </a:t>
            </a:r>
            <a:r>
              <a:rPr sz="900" b="1" spc="210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co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tracte         </a:t>
            </a:r>
            <a:r>
              <a:rPr sz="900" b="1" spc="75" dirty="0" smtClean="0">
                <a:latin typeface="Times New Roman"/>
                <a:cs typeface="Times New Roman"/>
              </a:rPr>
              <a:t> </a:t>
            </a:r>
            <a:r>
              <a:rPr sz="1350" b="1" spc="0" baseline="-16104" dirty="0" smtClean="0">
                <a:latin typeface="Times New Roman"/>
                <a:cs typeface="Times New Roman"/>
              </a:rPr>
              <a:t>Valoare          </a:t>
            </a:r>
            <a:r>
              <a:rPr sz="1350" b="1" spc="29" baseline="-16104" dirty="0" smtClean="0">
                <a:latin typeface="Times New Roman"/>
                <a:cs typeface="Times New Roman"/>
              </a:rPr>
              <a:t> </a:t>
            </a:r>
            <a:r>
              <a:rPr sz="1350" b="1" spc="0" baseline="-16104" dirty="0" smtClean="0">
                <a:latin typeface="Times New Roman"/>
                <a:cs typeface="Times New Roman"/>
              </a:rPr>
              <a:t>Valoare</a:t>
            </a:r>
            <a:r>
              <a:rPr sz="1350" b="1" spc="4" baseline="-16104" dirty="0" smtClean="0">
                <a:latin typeface="Times New Roman"/>
                <a:cs typeface="Times New Roman"/>
              </a:rPr>
              <a:t> </a:t>
            </a:r>
            <a:r>
              <a:rPr sz="1350" b="1" spc="-4" baseline="-16104" dirty="0" smtClean="0">
                <a:latin typeface="Times New Roman"/>
                <a:cs typeface="Times New Roman"/>
              </a:rPr>
              <a:t>bu</a:t>
            </a:r>
            <a:r>
              <a:rPr sz="1350" b="1" spc="0" baseline="-16104" dirty="0" smtClean="0">
                <a:latin typeface="Times New Roman"/>
                <a:cs typeface="Times New Roman"/>
              </a:rPr>
              <a:t>get</a:t>
            </a:r>
            <a:endParaRPr sz="900">
              <a:latin typeface="Times New Roman"/>
              <a:cs typeface="Times New Roman"/>
            </a:endParaRPr>
          </a:p>
          <a:p>
            <a:pPr marL="443102">
              <a:lnSpc>
                <a:spcPct val="95825"/>
              </a:lnSpc>
              <a:spcBef>
                <a:spcPts val="213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Institute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naţionale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CD                       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9                       </a:t>
            </a:r>
            <a:r>
              <a:rPr sz="900" b="1" spc="8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18       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10.762.06</a:t>
            </a:r>
            <a:r>
              <a:rPr sz="900" spc="-4" dirty="0" smtClean="0">
                <a:latin typeface="Times New Roman"/>
                <a:cs typeface="Times New Roman"/>
              </a:rPr>
              <a:t>6</a:t>
            </a:r>
            <a:r>
              <a:rPr sz="900" spc="0" dirty="0" smtClean="0">
                <a:latin typeface="Times New Roman"/>
                <a:cs typeface="Times New Roman"/>
              </a:rPr>
              <a:t>,31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9.107.66</a:t>
            </a:r>
            <a:r>
              <a:rPr sz="900" spc="-4" dirty="0" smtClean="0">
                <a:latin typeface="Times New Roman"/>
                <a:cs typeface="Times New Roman"/>
              </a:rPr>
              <a:t>6</a:t>
            </a:r>
            <a:r>
              <a:rPr sz="900" spc="0" dirty="0" smtClean="0">
                <a:latin typeface="Times New Roman"/>
                <a:cs typeface="Times New Roman"/>
              </a:rPr>
              <a:t>,31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1.654.400</a:t>
            </a:r>
            <a:endParaRPr sz="900">
              <a:latin typeface="Times New Roman"/>
              <a:cs typeface="Times New Roman"/>
            </a:endParaRPr>
          </a:p>
          <a:p>
            <a:pPr marL="443102">
              <a:lnSpc>
                <a:spcPct val="95825"/>
              </a:lnSpc>
              <a:spcBef>
                <a:spcPts val="1197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stit</a:t>
            </a:r>
            <a:r>
              <a:rPr sz="900" b="1" spc="-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te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pub</a:t>
            </a:r>
            <a:r>
              <a:rPr sz="900" b="1" spc="0" dirty="0" smtClean="0">
                <a:latin typeface="Times New Roman"/>
                <a:cs typeface="Times New Roman"/>
              </a:rPr>
              <a:t>lice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(ex</a:t>
            </a:r>
            <a:r>
              <a:rPr sz="900" b="1" spc="-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ra</a:t>
            </a:r>
            <a:r>
              <a:rPr sz="900" b="1" spc="-4" dirty="0" smtClean="0">
                <a:latin typeface="Times New Roman"/>
                <a:cs typeface="Times New Roman"/>
              </a:rPr>
              <a:t>bu</a:t>
            </a:r>
            <a:r>
              <a:rPr sz="900" b="1" spc="0" dirty="0" smtClean="0">
                <a:latin typeface="Times New Roman"/>
                <a:cs typeface="Times New Roman"/>
              </a:rPr>
              <a:t>getare)          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49                      </a:t>
            </a:r>
            <a:r>
              <a:rPr sz="900" b="1" spc="8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97       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54.511.62</a:t>
            </a:r>
            <a:r>
              <a:rPr sz="900" spc="-4" dirty="0" smtClean="0">
                <a:latin typeface="Times New Roman"/>
                <a:cs typeface="Times New Roman"/>
              </a:rPr>
              <a:t>8</a:t>
            </a:r>
            <a:r>
              <a:rPr sz="900" spc="0" dirty="0" smtClean="0">
                <a:latin typeface="Times New Roman"/>
                <a:cs typeface="Times New Roman"/>
              </a:rPr>
              <a:t>,42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44.905.50</a:t>
            </a:r>
            <a:r>
              <a:rPr sz="900" spc="-4" dirty="0" smtClean="0">
                <a:latin typeface="Times New Roman"/>
                <a:cs typeface="Times New Roman"/>
              </a:rPr>
              <a:t>1</a:t>
            </a:r>
            <a:r>
              <a:rPr sz="900" spc="0" dirty="0" smtClean="0">
                <a:latin typeface="Times New Roman"/>
                <a:cs typeface="Times New Roman"/>
              </a:rPr>
              <a:t>.42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9.606.127</a:t>
            </a:r>
            <a:endParaRPr sz="900">
              <a:latin typeface="Times New Roman"/>
              <a:cs typeface="Times New Roman"/>
            </a:endParaRPr>
          </a:p>
          <a:p>
            <a:pPr marL="443102">
              <a:lnSpc>
                <a:spcPct val="95825"/>
              </a:lnSpc>
              <a:spcBef>
                <a:spcPts val="555"/>
              </a:spcBef>
            </a:pPr>
            <a:r>
              <a:rPr sz="900" b="1" spc="-4" dirty="0" smtClean="0">
                <a:latin typeface="Times New Roman"/>
                <a:cs typeface="Times New Roman"/>
              </a:rPr>
              <a:t>S</a:t>
            </a:r>
            <a:r>
              <a:rPr sz="900" b="1" spc="0" dirty="0" smtClean="0">
                <a:latin typeface="Times New Roman"/>
                <a:cs typeface="Times New Roman"/>
              </a:rPr>
              <a:t>ocietăţi co</a:t>
            </a:r>
            <a:r>
              <a:rPr sz="900" b="1" spc="-4" dirty="0" smtClean="0">
                <a:latin typeface="Times New Roman"/>
                <a:cs typeface="Times New Roman"/>
              </a:rPr>
              <a:t>m</a:t>
            </a:r>
            <a:r>
              <a:rPr sz="900" b="1" spc="0" dirty="0" smtClean="0">
                <a:latin typeface="Times New Roman"/>
                <a:cs typeface="Times New Roman"/>
              </a:rPr>
              <a:t>er</a:t>
            </a:r>
            <a:r>
              <a:rPr sz="900" b="1" spc="-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ia</a:t>
            </a:r>
            <a:r>
              <a:rPr sz="900" b="1" spc="-4" dirty="0" smtClean="0">
                <a:latin typeface="Times New Roman"/>
                <a:cs typeface="Times New Roman"/>
              </a:rPr>
              <a:t>l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p</a:t>
            </a:r>
            <a:r>
              <a:rPr sz="900" b="1" spc="0" dirty="0" smtClean="0">
                <a:latin typeface="Times New Roman"/>
                <a:cs typeface="Times New Roman"/>
              </a:rPr>
              <a:t>e acţiuni</a:t>
            </a:r>
            <a:endParaRPr sz="900">
              <a:latin typeface="Times New Roman"/>
              <a:cs typeface="Times New Roman"/>
            </a:endParaRPr>
          </a:p>
          <a:p>
            <a:pPr marL="443102">
              <a:lnSpc>
                <a:spcPct val="95825"/>
              </a:lnSpc>
              <a:spcBef>
                <a:spcPts val="177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Organi</a:t>
            </a:r>
            <a:r>
              <a:rPr sz="900" b="1" spc="-9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aţii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nonguve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am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tale                  </a:t>
            </a:r>
            <a:r>
              <a:rPr sz="900" b="1" spc="120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2                        </a:t>
            </a:r>
            <a:r>
              <a:rPr sz="900" b="1" spc="8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2                </a:t>
            </a:r>
            <a:r>
              <a:rPr sz="900" b="1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320.000,00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210.000,00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110.000</a:t>
            </a:r>
            <a:endParaRPr sz="900">
              <a:latin typeface="Times New Roman"/>
              <a:cs typeface="Times New Roman"/>
            </a:endParaRPr>
          </a:p>
          <a:p>
            <a:pPr marL="443102">
              <a:lnSpc>
                <a:spcPct val="95825"/>
              </a:lnSpc>
              <a:spcBef>
                <a:spcPts val="1275"/>
              </a:spcBef>
            </a:pPr>
            <a:r>
              <a:rPr sz="900" b="1" spc="-4" dirty="0" smtClean="0">
                <a:latin typeface="Times New Roman"/>
                <a:cs typeface="Times New Roman"/>
              </a:rPr>
              <a:t>S</a:t>
            </a:r>
            <a:r>
              <a:rPr sz="900" b="1" spc="0" dirty="0" smtClean="0">
                <a:latin typeface="Times New Roman"/>
                <a:cs typeface="Times New Roman"/>
              </a:rPr>
              <a:t>ocietăţi 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u</a:t>
            </a:r>
            <a:r>
              <a:rPr sz="900" b="1" spc="-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răspundere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limitată            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3                        </a:t>
            </a:r>
            <a:r>
              <a:rPr sz="900" b="1" spc="8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3          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2.146.26</a:t>
            </a:r>
            <a:r>
              <a:rPr sz="900" spc="-4" dirty="0" smtClean="0">
                <a:latin typeface="Times New Roman"/>
                <a:cs typeface="Times New Roman"/>
              </a:rPr>
              <a:t>0</a:t>
            </a:r>
            <a:r>
              <a:rPr sz="900" spc="0" dirty="0" smtClean="0">
                <a:latin typeface="Times New Roman"/>
                <a:cs typeface="Times New Roman"/>
              </a:rPr>
              <a:t>,37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1.428.24</a:t>
            </a:r>
            <a:r>
              <a:rPr sz="900" spc="-4" dirty="0" smtClean="0">
                <a:latin typeface="Times New Roman"/>
                <a:cs typeface="Times New Roman"/>
              </a:rPr>
              <a:t>4</a:t>
            </a:r>
            <a:r>
              <a:rPr sz="900" spc="0" dirty="0" smtClean="0">
                <a:latin typeface="Times New Roman"/>
                <a:cs typeface="Times New Roman"/>
              </a:rPr>
              <a:t>,37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718.016</a:t>
            </a:r>
            <a:endParaRPr sz="900">
              <a:latin typeface="Times New Roman"/>
              <a:cs typeface="Times New Roman"/>
            </a:endParaRPr>
          </a:p>
          <a:p>
            <a:pPr marL="443102">
              <a:lnSpc>
                <a:spcPct val="95825"/>
              </a:lnSpc>
              <a:spcBef>
                <a:spcPts val="105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Universităţi                                                    </a:t>
            </a:r>
            <a:r>
              <a:rPr sz="900" b="1" spc="189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3                        </a:t>
            </a:r>
            <a:r>
              <a:rPr sz="900" b="1" spc="8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3          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3.510.37</a:t>
            </a:r>
            <a:r>
              <a:rPr sz="900" spc="-4" dirty="0" smtClean="0">
                <a:latin typeface="Times New Roman"/>
                <a:cs typeface="Times New Roman"/>
              </a:rPr>
              <a:t>3</a:t>
            </a:r>
            <a:r>
              <a:rPr sz="900" spc="0" dirty="0" smtClean="0">
                <a:latin typeface="Times New Roman"/>
                <a:cs typeface="Times New Roman"/>
              </a:rPr>
              <a:t>,33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1.943.17</a:t>
            </a:r>
            <a:r>
              <a:rPr sz="900" spc="-4" dirty="0" smtClean="0">
                <a:latin typeface="Times New Roman"/>
                <a:cs typeface="Times New Roman"/>
              </a:rPr>
              <a:t>3</a:t>
            </a:r>
            <a:r>
              <a:rPr sz="900" spc="0" dirty="0" smtClean="0">
                <a:latin typeface="Times New Roman"/>
                <a:cs typeface="Times New Roman"/>
              </a:rPr>
              <a:t>,33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1.567.200</a:t>
            </a:r>
            <a:endParaRPr sz="900">
              <a:latin typeface="Times New Roman"/>
              <a:cs typeface="Times New Roman"/>
            </a:endParaRPr>
          </a:p>
          <a:p>
            <a:pPr marL="443102">
              <a:lnSpc>
                <a:spcPct val="95825"/>
              </a:lnSpc>
              <a:spcBef>
                <a:spcPts val="113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Total                                                              </a:t>
            </a:r>
            <a:r>
              <a:rPr sz="900" b="1" spc="215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83                     </a:t>
            </a:r>
            <a:r>
              <a:rPr sz="900" b="1" spc="89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149      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83.379.16</a:t>
            </a:r>
            <a:r>
              <a:rPr sz="900" b="1" spc="-4" dirty="0" smtClean="0">
                <a:latin typeface="Times New Roman"/>
                <a:cs typeface="Times New Roman"/>
              </a:rPr>
              <a:t>7</a:t>
            </a:r>
            <a:r>
              <a:rPr sz="900" b="1" spc="0" dirty="0" smtClean="0">
                <a:latin typeface="Times New Roman"/>
                <a:cs typeface="Times New Roman"/>
              </a:rPr>
              <a:t>,50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66.632.09</a:t>
            </a:r>
            <a:r>
              <a:rPr sz="900" b="1" spc="-4" dirty="0" smtClean="0">
                <a:latin typeface="Times New Roman"/>
                <a:cs typeface="Times New Roman"/>
              </a:rPr>
              <a:t>3</a:t>
            </a:r>
            <a:r>
              <a:rPr sz="900" b="1" spc="0" dirty="0" smtClean="0">
                <a:latin typeface="Times New Roman"/>
                <a:cs typeface="Times New Roman"/>
              </a:rPr>
              <a:t>,00        </a:t>
            </a:r>
            <a:r>
              <a:rPr sz="900" b="1" spc="220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16.747.074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2531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1</a:t>
            </a:r>
            <a:r>
              <a:rPr sz="1000" spc="0" dirty="0" smtClean="0">
                <a:latin typeface="Times New Roman"/>
                <a:cs typeface="Times New Roman"/>
              </a:rPr>
              <a:t>9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object 318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2526030" y="1047750"/>
            <a:ext cx="4318254" cy="131825"/>
          </a:xfrm>
          <a:custGeom>
            <a:avLst/>
            <a:gdLst/>
            <a:ahLst/>
            <a:cxnLst/>
            <a:rect l="l" t="t" r="r" b="b"/>
            <a:pathLst>
              <a:path w="4318254" h="131825">
                <a:moveTo>
                  <a:pt x="0" y="0"/>
                </a:moveTo>
                <a:lnTo>
                  <a:pt x="0" y="131825"/>
                </a:lnTo>
                <a:lnTo>
                  <a:pt x="4318254" y="131825"/>
                </a:lnTo>
                <a:lnTo>
                  <a:pt x="431825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900684" y="1032891"/>
            <a:ext cx="1616202" cy="0"/>
          </a:xfrm>
          <a:custGeom>
            <a:avLst/>
            <a:gdLst/>
            <a:ahLst/>
            <a:cxnLst/>
            <a:rect l="l" t="t" r="r" b="b"/>
            <a:pathLst>
              <a:path w="1616202">
                <a:moveTo>
                  <a:pt x="0" y="0"/>
                </a:moveTo>
                <a:lnTo>
                  <a:pt x="161620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928878" y="1047369"/>
            <a:ext cx="1588008" cy="0"/>
          </a:xfrm>
          <a:custGeom>
            <a:avLst/>
            <a:gdLst/>
            <a:ahLst/>
            <a:cxnLst/>
            <a:rect l="l" t="t" r="r" b="b"/>
            <a:pathLst>
              <a:path w="1588008">
                <a:moveTo>
                  <a:pt x="0" y="0"/>
                </a:moveTo>
                <a:lnTo>
                  <a:pt x="1588008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2526030" y="1047369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2516886" y="1018159"/>
            <a:ext cx="4327398" cy="29463"/>
          </a:xfrm>
          <a:custGeom>
            <a:avLst/>
            <a:gdLst/>
            <a:ahLst/>
            <a:cxnLst/>
            <a:rect l="l" t="t" r="r" b="b"/>
            <a:pathLst>
              <a:path w="4327398" h="29463">
                <a:moveTo>
                  <a:pt x="0" y="29463"/>
                </a:moveTo>
                <a:lnTo>
                  <a:pt x="4327398" y="29463"/>
                </a:lnTo>
                <a:lnTo>
                  <a:pt x="4327398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2545080" y="1047369"/>
            <a:ext cx="4299204" cy="0"/>
          </a:xfrm>
          <a:custGeom>
            <a:avLst/>
            <a:gdLst/>
            <a:ahLst/>
            <a:cxnLst/>
            <a:rect l="l" t="t" r="r" b="b"/>
            <a:pathLst>
              <a:path w="4299204">
                <a:moveTo>
                  <a:pt x="0" y="0"/>
                </a:moveTo>
                <a:lnTo>
                  <a:pt x="4299204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928878" y="1047750"/>
            <a:ext cx="1588008" cy="136398"/>
          </a:xfrm>
          <a:custGeom>
            <a:avLst/>
            <a:gdLst/>
            <a:ahLst/>
            <a:cxnLst/>
            <a:rect l="l" t="t" r="r" b="b"/>
            <a:pathLst>
              <a:path w="1588008" h="136398">
                <a:moveTo>
                  <a:pt x="0" y="0"/>
                </a:moveTo>
                <a:lnTo>
                  <a:pt x="0" y="136398"/>
                </a:lnTo>
                <a:lnTo>
                  <a:pt x="1588008" y="136398"/>
                </a:lnTo>
                <a:lnTo>
                  <a:pt x="158800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928878" y="1184148"/>
            <a:ext cx="1588008" cy="131064"/>
          </a:xfrm>
          <a:custGeom>
            <a:avLst/>
            <a:gdLst/>
            <a:ahLst/>
            <a:cxnLst/>
            <a:rect l="l" t="t" r="r" b="b"/>
            <a:pathLst>
              <a:path w="1588008" h="131064">
                <a:moveTo>
                  <a:pt x="0" y="0"/>
                </a:moveTo>
                <a:lnTo>
                  <a:pt x="0" y="131064"/>
                </a:lnTo>
                <a:lnTo>
                  <a:pt x="1588008" y="131064"/>
                </a:lnTo>
                <a:lnTo>
                  <a:pt x="158800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928878" y="1315211"/>
            <a:ext cx="1588008" cy="131825"/>
          </a:xfrm>
          <a:custGeom>
            <a:avLst/>
            <a:gdLst/>
            <a:ahLst/>
            <a:cxnLst/>
            <a:rect l="l" t="t" r="r" b="b"/>
            <a:pathLst>
              <a:path w="1588008" h="131825">
                <a:moveTo>
                  <a:pt x="0" y="0"/>
                </a:moveTo>
                <a:lnTo>
                  <a:pt x="0" y="131825"/>
                </a:lnTo>
                <a:lnTo>
                  <a:pt x="1588008" y="131825"/>
                </a:lnTo>
                <a:lnTo>
                  <a:pt x="158800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928878" y="1448943"/>
            <a:ext cx="1588008" cy="0"/>
          </a:xfrm>
          <a:custGeom>
            <a:avLst/>
            <a:gdLst/>
            <a:ahLst/>
            <a:cxnLst/>
            <a:rect l="l" t="t" r="r" b="b"/>
            <a:pathLst>
              <a:path w="1588008">
                <a:moveTo>
                  <a:pt x="0" y="0"/>
                </a:moveTo>
                <a:lnTo>
                  <a:pt x="1588008" y="0"/>
                </a:lnTo>
              </a:path>
            </a:pathLst>
          </a:custGeom>
          <a:ln w="5079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2526030" y="1188720"/>
            <a:ext cx="1356359" cy="197357"/>
          </a:xfrm>
          <a:custGeom>
            <a:avLst/>
            <a:gdLst/>
            <a:ahLst/>
            <a:cxnLst/>
            <a:rect l="l" t="t" r="r" b="b"/>
            <a:pathLst>
              <a:path w="1356359" h="197357">
                <a:moveTo>
                  <a:pt x="0" y="0"/>
                </a:moveTo>
                <a:lnTo>
                  <a:pt x="0" y="197357"/>
                </a:lnTo>
                <a:lnTo>
                  <a:pt x="1356359" y="197357"/>
                </a:lnTo>
                <a:lnTo>
                  <a:pt x="135635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2526030" y="1386077"/>
            <a:ext cx="1356359" cy="64770"/>
          </a:xfrm>
          <a:custGeom>
            <a:avLst/>
            <a:gdLst/>
            <a:ahLst/>
            <a:cxnLst/>
            <a:rect l="l" t="t" r="r" b="b"/>
            <a:pathLst>
              <a:path w="1356359" h="64770">
                <a:moveTo>
                  <a:pt x="0" y="0"/>
                </a:moveTo>
                <a:lnTo>
                  <a:pt x="0" y="64770"/>
                </a:lnTo>
                <a:lnTo>
                  <a:pt x="1356359" y="64770"/>
                </a:lnTo>
                <a:lnTo>
                  <a:pt x="135635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3891534" y="1188720"/>
            <a:ext cx="1476756" cy="131825"/>
          </a:xfrm>
          <a:custGeom>
            <a:avLst/>
            <a:gdLst/>
            <a:ahLst/>
            <a:cxnLst/>
            <a:rect l="l" t="t" r="r" b="b"/>
            <a:pathLst>
              <a:path w="1476756" h="131825">
                <a:moveTo>
                  <a:pt x="0" y="0"/>
                </a:moveTo>
                <a:lnTo>
                  <a:pt x="0" y="131825"/>
                </a:lnTo>
                <a:lnTo>
                  <a:pt x="1476756" y="131825"/>
                </a:lnTo>
                <a:lnTo>
                  <a:pt x="147675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3891534" y="1320546"/>
            <a:ext cx="1476756" cy="131064"/>
          </a:xfrm>
          <a:custGeom>
            <a:avLst/>
            <a:gdLst/>
            <a:ahLst/>
            <a:cxnLst/>
            <a:rect l="l" t="t" r="r" b="b"/>
            <a:pathLst>
              <a:path w="1476756" h="131064">
                <a:moveTo>
                  <a:pt x="0" y="0"/>
                </a:moveTo>
                <a:lnTo>
                  <a:pt x="0" y="131064"/>
                </a:lnTo>
                <a:lnTo>
                  <a:pt x="1476756" y="131064"/>
                </a:lnTo>
                <a:lnTo>
                  <a:pt x="147675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5377434" y="1188720"/>
            <a:ext cx="1466850" cy="65531"/>
          </a:xfrm>
          <a:custGeom>
            <a:avLst/>
            <a:gdLst/>
            <a:ahLst/>
            <a:cxnLst/>
            <a:rect l="l" t="t" r="r" b="b"/>
            <a:pathLst>
              <a:path w="1466850" h="65531">
                <a:moveTo>
                  <a:pt x="0" y="0"/>
                </a:moveTo>
                <a:lnTo>
                  <a:pt x="0" y="65531"/>
                </a:lnTo>
                <a:lnTo>
                  <a:pt x="1466850" y="65531"/>
                </a:lnTo>
                <a:lnTo>
                  <a:pt x="146685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5377434" y="1254252"/>
            <a:ext cx="1466850" cy="131825"/>
          </a:xfrm>
          <a:custGeom>
            <a:avLst/>
            <a:gdLst/>
            <a:ahLst/>
            <a:cxnLst/>
            <a:rect l="l" t="t" r="r" b="b"/>
            <a:pathLst>
              <a:path w="1466850" h="131825">
                <a:moveTo>
                  <a:pt x="0" y="0"/>
                </a:moveTo>
                <a:lnTo>
                  <a:pt x="0" y="131825"/>
                </a:lnTo>
                <a:lnTo>
                  <a:pt x="1466850" y="131825"/>
                </a:lnTo>
                <a:lnTo>
                  <a:pt x="146685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5377434" y="1386077"/>
            <a:ext cx="1466850" cy="64770"/>
          </a:xfrm>
          <a:custGeom>
            <a:avLst/>
            <a:gdLst/>
            <a:ahLst/>
            <a:cxnLst/>
            <a:rect l="l" t="t" r="r" b="b"/>
            <a:pathLst>
              <a:path w="1466850" h="64770">
                <a:moveTo>
                  <a:pt x="0" y="0"/>
                </a:moveTo>
                <a:lnTo>
                  <a:pt x="0" y="64770"/>
                </a:lnTo>
                <a:lnTo>
                  <a:pt x="1466850" y="64770"/>
                </a:lnTo>
                <a:lnTo>
                  <a:pt x="146685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2526030" y="1183386"/>
            <a:ext cx="1356359" cy="0"/>
          </a:xfrm>
          <a:custGeom>
            <a:avLst/>
            <a:gdLst/>
            <a:ahLst/>
            <a:cxnLst/>
            <a:rect l="l" t="t" r="r" b="b"/>
            <a:pathLst>
              <a:path w="1356359">
                <a:moveTo>
                  <a:pt x="0" y="0"/>
                </a:moveTo>
                <a:lnTo>
                  <a:pt x="1356359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2526030" y="1188338"/>
            <a:ext cx="1356359" cy="0"/>
          </a:xfrm>
          <a:custGeom>
            <a:avLst/>
            <a:gdLst/>
            <a:ahLst/>
            <a:cxnLst/>
            <a:rect l="l" t="t" r="r" b="b"/>
            <a:pathLst>
              <a:path w="1356359">
                <a:moveTo>
                  <a:pt x="0" y="0"/>
                </a:moveTo>
                <a:lnTo>
                  <a:pt x="1356359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3891534" y="1183386"/>
            <a:ext cx="1476756" cy="0"/>
          </a:xfrm>
          <a:custGeom>
            <a:avLst/>
            <a:gdLst/>
            <a:ahLst/>
            <a:cxnLst/>
            <a:rect l="l" t="t" r="r" b="b"/>
            <a:pathLst>
              <a:path w="1476756">
                <a:moveTo>
                  <a:pt x="0" y="0"/>
                </a:moveTo>
                <a:lnTo>
                  <a:pt x="14767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3891534" y="1188338"/>
            <a:ext cx="1476756" cy="0"/>
          </a:xfrm>
          <a:custGeom>
            <a:avLst/>
            <a:gdLst/>
            <a:ahLst/>
            <a:cxnLst/>
            <a:rect l="l" t="t" r="r" b="b"/>
            <a:pathLst>
              <a:path w="1476756">
                <a:moveTo>
                  <a:pt x="0" y="0"/>
                </a:moveTo>
                <a:lnTo>
                  <a:pt x="1476756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5377434" y="1183386"/>
            <a:ext cx="1466850" cy="0"/>
          </a:xfrm>
          <a:custGeom>
            <a:avLst/>
            <a:gdLst/>
            <a:ahLst/>
            <a:cxnLst/>
            <a:rect l="l" t="t" r="r" b="b"/>
            <a:pathLst>
              <a:path w="1466850">
                <a:moveTo>
                  <a:pt x="0" y="0"/>
                </a:moveTo>
                <a:lnTo>
                  <a:pt x="14668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5377434" y="1188338"/>
            <a:ext cx="1466850" cy="0"/>
          </a:xfrm>
          <a:custGeom>
            <a:avLst/>
            <a:gdLst/>
            <a:ahLst/>
            <a:cxnLst/>
            <a:rect l="l" t="t" r="r" b="b"/>
            <a:pathLst>
              <a:path w="1466850">
                <a:moveTo>
                  <a:pt x="0" y="0"/>
                </a:moveTo>
                <a:lnTo>
                  <a:pt x="1466850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928878" y="1465706"/>
            <a:ext cx="1588008" cy="0"/>
          </a:xfrm>
          <a:custGeom>
            <a:avLst/>
            <a:gdLst/>
            <a:ahLst/>
            <a:cxnLst/>
            <a:rect l="l" t="t" r="r" b="b"/>
            <a:pathLst>
              <a:path w="1588008">
                <a:moveTo>
                  <a:pt x="0" y="0"/>
                </a:moveTo>
                <a:lnTo>
                  <a:pt x="158800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2516886" y="1465706"/>
            <a:ext cx="1365503" cy="0"/>
          </a:xfrm>
          <a:custGeom>
            <a:avLst/>
            <a:gdLst/>
            <a:ahLst/>
            <a:cxnLst/>
            <a:rect l="l" t="t" r="r" b="b"/>
            <a:pathLst>
              <a:path w="1365503">
                <a:moveTo>
                  <a:pt x="0" y="0"/>
                </a:moveTo>
                <a:lnTo>
                  <a:pt x="1365503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3882390" y="1465706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5368290" y="1465706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5396484" y="1465706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914781" y="1019175"/>
            <a:ext cx="0" cy="619887"/>
          </a:xfrm>
          <a:custGeom>
            <a:avLst/>
            <a:gdLst/>
            <a:ahLst/>
            <a:cxnLst/>
            <a:rect l="l" t="t" r="r" b="b"/>
            <a:pathLst>
              <a:path h="619887">
                <a:moveTo>
                  <a:pt x="0" y="0"/>
                </a:moveTo>
                <a:lnTo>
                  <a:pt x="0" y="619887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900684" y="1624965"/>
            <a:ext cx="1616202" cy="0"/>
          </a:xfrm>
          <a:custGeom>
            <a:avLst/>
            <a:gdLst/>
            <a:ahLst/>
            <a:cxnLst/>
            <a:rect l="l" t="t" r="r" b="b"/>
            <a:pathLst>
              <a:path w="1616202">
                <a:moveTo>
                  <a:pt x="0" y="0"/>
                </a:moveTo>
                <a:lnTo>
                  <a:pt x="161620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2521458" y="1042797"/>
            <a:ext cx="0" cy="568071"/>
          </a:xfrm>
          <a:custGeom>
            <a:avLst/>
            <a:gdLst/>
            <a:ahLst/>
            <a:cxnLst/>
            <a:rect l="l" t="t" r="r" b="b"/>
            <a:pathLst>
              <a:path h="568071">
                <a:moveTo>
                  <a:pt x="0" y="0"/>
                </a:moveTo>
                <a:lnTo>
                  <a:pt x="0" y="568071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2516886" y="1624965"/>
            <a:ext cx="1365503" cy="0"/>
          </a:xfrm>
          <a:custGeom>
            <a:avLst/>
            <a:gdLst/>
            <a:ahLst/>
            <a:cxnLst/>
            <a:rect l="l" t="t" r="r" b="b"/>
            <a:pathLst>
              <a:path w="1365503">
                <a:moveTo>
                  <a:pt x="0" y="0"/>
                </a:moveTo>
                <a:lnTo>
                  <a:pt x="1365503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3886962" y="1179195"/>
            <a:ext cx="0" cy="431673"/>
          </a:xfrm>
          <a:custGeom>
            <a:avLst/>
            <a:gdLst/>
            <a:ahLst/>
            <a:cxnLst/>
            <a:rect l="l" t="t" r="r" b="b"/>
            <a:pathLst>
              <a:path h="431673">
                <a:moveTo>
                  <a:pt x="0" y="0"/>
                </a:moveTo>
                <a:lnTo>
                  <a:pt x="0" y="43167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3882390" y="1624965"/>
            <a:ext cx="1485900" cy="0"/>
          </a:xfrm>
          <a:custGeom>
            <a:avLst/>
            <a:gdLst/>
            <a:ahLst/>
            <a:cxnLst/>
            <a:rect l="l" t="t" r="r" b="b"/>
            <a:pathLst>
              <a:path w="1485900">
                <a:moveTo>
                  <a:pt x="0" y="0"/>
                </a:moveTo>
                <a:lnTo>
                  <a:pt x="14859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5372862" y="1179195"/>
            <a:ext cx="0" cy="431673"/>
          </a:xfrm>
          <a:custGeom>
            <a:avLst/>
            <a:gdLst/>
            <a:ahLst/>
            <a:cxnLst/>
            <a:rect l="l" t="t" r="r" b="b"/>
            <a:pathLst>
              <a:path h="431673">
                <a:moveTo>
                  <a:pt x="0" y="0"/>
                </a:moveTo>
                <a:lnTo>
                  <a:pt x="0" y="43167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5368290" y="1624965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5396484" y="1624965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6858381" y="1018794"/>
            <a:ext cx="0" cy="620268"/>
          </a:xfrm>
          <a:custGeom>
            <a:avLst/>
            <a:gdLst/>
            <a:ahLst/>
            <a:cxnLst/>
            <a:rect l="l" t="t" r="r" b="b"/>
            <a:pathLst>
              <a:path h="620268">
                <a:moveTo>
                  <a:pt x="0" y="0"/>
                </a:moveTo>
                <a:lnTo>
                  <a:pt x="0" y="620268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4174236" y="2413254"/>
            <a:ext cx="2670048" cy="166116"/>
          </a:xfrm>
          <a:custGeom>
            <a:avLst/>
            <a:gdLst/>
            <a:ahLst/>
            <a:cxnLst/>
            <a:rect l="l" t="t" r="r" b="b"/>
            <a:pathLst>
              <a:path w="2670048" h="166116">
                <a:moveTo>
                  <a:pt x="0" y="0"/>
                </a:moveTo>
                <a:lnTo>
                  <a:pt x="0" y="166116"/>
                </a:lnTo>
                <a:lnTo>
                  <a:pt x="2670048" y="166116"/>
                </a:lnTo>
                <a:lnTo>
                  <a:pt x="2670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4174236" y="2596134"/>
            <a:ext cx="2670048" cy="0"/>
          </a:xfrm>
          <a:custGeom>
            <a:avLst/>
            <a:gdLst/>
            <a:ahLst/>
            <a:cxnLst/>
            <a:rect l="l" t="t" r="r" b="b"/>
            <a:pathLst>
              <a:path w="2670048">
                <a:moveTo>
                  <a:pt x="0" y="0"/>
                </a:moveTo>
                <a:lnTo>
                  <a:pt x="2670048" y="0"/>
                </a:lnTo>
              </a:path>
            </a:pathLst>
          </a:custGeom>
          <a:ln w="34797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2500884" y="2399156"/>
            <a:ext cx="1664208" cy="0"/>
          </a:xfrm>
          <a:custGeom>
            <a:avLst/>
            <a:gdLst/>
            <a:ahLst/>
            <a:cxnLst/>
            <a:rect l="l" t="t" r="r" b="b"/>
            <a:pathLst>
              <a:path w="1664208">
                <a:moveTo>
                  <a:pt x="0" y="0"/>
                </a:moveTo>
                <a:lnTo>
                  <a:pt x="166420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2529078" y="2413634"/>
            <a:ext cx="1636014" cy="0"/>
          </a:xfrm>
          <a:custGeom>
            <a:avLst/>
            <a:gdLst/>
            <a:ahLst/>
            <a:cxnLst/>
            <a:rect l="l" t="t" r="r" b="b"/>
            <a:pathLst>
              <a:path w="1636014">
                <a:moveTo>
                  <a:pt x="0" y="0"/>
                </a:moveTo>
                <a:lnTo>
                  <a:pt x="1636014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4174236" y="2413634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4165091" y="2384425"/>
            <a:ext cx="2679191" cy="29463"/>
          </a:xfrm>
          <a:custGeom>
            <a:avLst/>
            <a:gdLst/>
            <a:ahLst/>
            <a:cxnLst/>
            <a:rect l="l" t="t" r="r" b="b"/>
            <a:pathLst>
              <a:path w="2679191" h="29463">
                <a:moveTo>
                  <a:pt x="0" y="29463"/>
                </a:moveTo>
                <a:lnTo>
                  <a:pt x="2679191" y="29463"/>
                </a:lnTo>
                <a:lnTo>
                  <a:pt x="2679191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4193286" y="2413634"/>
            <a:ext cx="2650998" cy="0"/>
          </a:xfrm>
          <a:custGeom>
            <a:avLst/>
            <a:gdLst/>
            <a:ahLst/>
            <a:cxnLst/>
            <a:rect l="l" t="t" r="r" b="b"/>
            <a:pathLst>
              <a:path w="2650998">
                <a:moveTo>
                  <a:pt x="0" y="0"/>
                </a:moveTo>
                <a:lnTo>
                  <a:pt x="2650998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2529078" y="2413254"/>
            <a:ext cx="1636014" cy="275844"/>
          </a:xfrm>
          <a:custGeom>
            <a:avLst/>
            <a:gdLst/>
            <a:ahLst/>
            <a:cxnLst/>
            <a:rect l="l" t="t" r="r" b="b"/>
            <a:pathLst>
              <a:path w="1636014" h="275844">
                <a:moveTo>
                  <a:pt x="0" y="0"/>
                </a:moveTo>
                <a:lnTo>
                  <a:pt x="0" y="275844"/>
                </a:lnTo>
                <a:lnTo>
                  <a:pt x="1636014" y="275844"/>
                </a:lnTo>
                <a:lnTo>
                  <a:pt x="163601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2529078" y="2689098"/>
            <a:ext cx="1636014" cy="143255"/>
          </a:xfrm>
          <a:custGeom>
            <a:avLst/>
            <a:gdLst/>
            <a:ahLst/>
            <a:cxnLst/>
            <a:rect l="l" t="t" r="r" b="b"/>
            <a:pathLst>
              <a:path w="1636014" h="143255">
                <a:moveTo>
                  <a:pt x="0" y="0"/>
                </a:moveTo>
                <a:lnTo>
                  <a:pt x="0" y="143255"/>
                </a:lnTo>
                <a:lnTo>
                  <a:pt x="1636014" y="143255"/>
                </a:lnTo>
                <a:lnTo>
                  <a:pt x="163601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4174236" y="2622804"/>
            <a:ext cx="1248156" cy="170688"/>
          </a:xfrm>
          <a:custGeom>
            <a:avLst/>
            <a:gdLst/>
            <a:ahLst/>
            <a:cxnLst/>
            <a:rect l="l" t="t" r="r" b="b"/>
            <a:pathLst>
              <a:path w="1248156" h="170688">
                <a:moveTo>
                  <a:pt x="0" y="0"/>
                </a:moveTo>
                <a:lnTo>
                  <a:pt x="0" y="170688"/>
                </a:lnTo>
                <a:lnTo>
                  <a:pt x="1248156" y="170688"/>
                </a:lnTo>
                <a:lnTo>
                  <a:pt x="124815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4174236" y="2792857"/>
            <a:ext cx="1248156" cy="40131"/>
          </a:xfrm>
          <a:custGeom>
            <a:avLst/>
            <a:gdLst/>
            <a:ahLst/>
            <a:cxnLst/>
            <a:rect l="l" t="t" r="r" b="b"/>
            <a:pathLst>
              <a:path w="1248156" h="40131">
                <a:moveTo>
                  <a:pt x="0" y="40131"/>
                </a:moveTo>
                <a:lnTo>
                  <a:pt x="1248156" y="40131"/>
                </a:lnTo>
                <a:lnTo>
                  <a:pt x="1248156" y="0"/>
                </a:lnTo>
                <a:lnTo>
                  <a:pt x="0" y="0"/>
                </a:lnTo>
                <a:lnTo>
                  <a:pt x="0" y="40131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5431536" y="2622168"/>
            <a:ext cx="1412747" cy="40894"/>
          </a:xfrm>
          <a:custGeom>
            <a:avLst/>
            <a:gdLst/>
            <a:ahLst/>
            <a:cxnLst/>
            <a:rect l="l" t="t" r="r" b="b"/>
            <a:pathLst>
              <a:path w="1412747" h="40894">
                <a:moveTo>
                  <a:pt x="0" y="40894"/>
                </a:moveTo>
                <a:lnTo>
                  <a:pt x="1412747" y="40894"/>
                </a:lnTo>
                <a:lnTo>
                  <a:pt x="1412747" y="0"/>
                </a:lnTo>
                <a:lnTo>
                  <a:pt x="0" y="0"/>
                </a:lnTo>
                <a:lnTo>
                  <a:pt x="0" y="40894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5431536" y="2662428"/>
            <a:ext cx="1412747" cy="131064"/>
          </a:xfrm>
          <a:custGeom>
            <a:avLst/>
            <a:gdLst/>
            <a:ahLst/>
            <a:cxnLst/>
            <a:rect l="l" t="t" r="r" b="b"/>
            <a:pathLst>
              <a:path w="1412747" h="131064">
                <a:moveTo>
                  <a:pt x="0" y="0"/>
                </a:moveTo>
                <a:lnTo>
                  <a:pt x="0" y="131064"/>
                </a:lnTo>
                <a:lnTo>
                  <a:pt x="1412747" y="131064"/>
                </a:lnTo>
                <a:lnTo>
                  <a:pt x="1412747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5431536" y="2792857"/>
            <a:ext cx="1412747" cy="40131"/>
          </a:xfrm>
          <a:custGeom>
            <a:avLst/>
            <a:gdLst/>
            <a:ahLst/>
            <a:cxnLst/>
            <a:rect l="l" t="t" r="r" b="b"/>
            <a:pathLst>
              <a:path w="1412747" h="40131">
                <a:moveTo>
                  <a:pt x="0" y="40131"/>
                </a:moveTo>
                <a:lnTo>
                  <a:pt x="1412747" y="40131"/>
                </a:lnTo>
                <a:lnTo>
                  <a:pt x="1412747" y="0"/>
                </a:lnTo>
                <a:lnTo>
                  <a:pt x="0" y="0"/>
                </a:lnTo>
                <a:lnTo>
                  <a:pt x="0" y="40131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4174236" y="2618231"/>
            <a:ext cx="1248156" cy="0"/>
          </a:xfrm>
          <a:custGeom>
            <a:avLst/>
            <a:gdLst/>
            <a:ahLst/>
            <a:cxnLst/>
            <a:rect l="l" t="t" r="r" b="b"/>
            <a:pathLst>
              <a:path w="1248156">
                <a:moveTo>
                  <a:pt x="0" y="0"/>
                </a:moveTo>
                <a:lnTo>
                  <a:pt x="12481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4174236" y="2623184"/>
            <a:ext cx="1248156" cy="0"/>
          </a:xfrm>
          <a:custGeom>
            <a:avLst/>
            <a:gdLst/>
            <a:ahLst/>
            <a:cxnLst/>
            <a:rect l="l" t="t" r="r" b="b"/>
            <a:pathLst>
              <a:path w="1248156">
                <a:moveTo>
                  <a:pt x="0" y="0"/>
                </a:moveTo>
                <a:lnTo>
                  <a:pt x="1248156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5431536" y="2613025"/>
            <a:ext cx="1412747" cy="10413"/>
          </a:xfrm>
          <a:custGeom>
            <a:avLst/>
            <a:gdLst/>
            <a:ahLst/>
            <a:cxnLst/>
            <a:rect l="l" t="t" r="r" b="b"/>
            <a:pathLst>
              <a:path w="1412747" h="10413">
                <a:moveTo>
                  <a:pt x="0" y="10413"/>
                </a:moveTo>
                <a:lnTo>
                  <a:pt x="1412747" y="10413"/>
                </a:lnTo>
                <a:lnTo>
                  <a:pt x="1412747" y="0"/>
                </a:lnTo>
                <a:lnTo>
                  <a:pt x="0" y="0"/>
                </a:lnTo>
                <a:lnTo>
                  <a:pt x="0" y="10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5431536" y="2622169"/>
            <a:ext cx="1412747" cy="2031"/>
          </a:xfrm>
          <a:custGeom>
            <a:avLst/>
            <a:gdLst/>
            <a:ahLst/>
            <a:cxnLst/>
            <a:rect l="l" t="t" r="r" b="b"/>
            <a:pathLst>
              <a:path w="1412747" h="2031">
                <a:moveTo>
                  <a:pt x="0" y="2031"/>
                </a:moveTo>
                <a:lnTo>
                  <a:pt x="1412747" y="2031"/>
                </a:lnTo>
                <a:lnTo>
                  <a:pt x="1412747" y="0"/>
                </a:lnTo>
                <a:lnTo>
                  <a:pt x="0" y="0"/>
                </a:lnTo>
                <a:lnTo>
                  <a:pt x="0" y="2031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928878" y="2861309"/>
            <a:ext cx="1572006" cy="180594"/>
          </a:xfrm>
          <a:custGeom>
            <a:avLst/>
            <a:gdLst/>
            <a:ahLst/>
            <a:cxnLst/>
            <a:rect l="l" t="t" r="r" b="b"/>
            <a:pathLst>
              <a:path w="1572006" h="180594">
                <a:moveTo>
                  <a:pt x="0" y="0"/>
                </a:moveTo>
                <a:lnTo>
                  <a:pt x="0" y="180594"/>
                </a:lnTo>
                <a:lnTo>
                  <a:pt x="1572006" y="180594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928878" y="3041904"/>
            <a:ext cx="1572006" cy="131064"/>
          </a:xfrm>
          <a:custGeom>
            <a:avLst/>
            <a:gdLst/>
            <a:ahLst/>
            <a:cxnLst/>
            <a:rect l="l" t="t" r="r" b="b"/>
            <a:pathLst>
              <a:path w="1572006" h="131064">
                <a:moveTo>
                  <a:pt x="0" y="0"/>
                </a:moveTo>
                <a:lnTo>
                  <a:pt x="0" y="131064"/>
                </a:lnTo>
                <a:lnTo>
                  <a:pt x="1572006" y="131064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928878" y="3172332"/>
            <a:ext cx="1572006" cy="50038"/>
          </a:xfrm>
          <a:custGeom>
            <a:avLst/>
            <a:gdLst/>
            <a:ahLst/>
            <a:cxnLst/>
            <a:rect l="l" t="t" r="r" b="b"/>
            <a:pathLst>
              <a:path w="1572006" h="50038">
                <a:moveTo>
                  <a:pt x="0" y="50038"/>
                </a:moveTo>
                <a:lnTo>
                  <a:pt x="1572006" y="50038"/>
                </a:lnTo>
                <a:lnTo>
                  <a:pt x="1572006" y="0"/>
                </a:lnTo>
                <a:lnTo>
                  <a:pt x="0" y="0"/>
                </a:lnTo>
                <a:lnTo>
                  <a:pt x="0" y="50038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928878" y="2860929"/>
            <a:ext cx="28193" cy="0"/>
          </a:xfrm>
          <a:custGeom>
            <a:avLst/>
            <a:gdLst/>
            <a:ahLst/>
            <a:cxnLst/>
            <a:rect l="l" t="t" r="r" b="b"/>
            <a:pathLst>
              <a:path w="28193">
                <a:moveTo>
                  <a:pt x="0" y="0"/>
                </a:moveTo>
                <a:lnTo>
                  <a:pt x="28193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928878" y="2831719"/>
            <a:ext cx="1572006" cy="29463"/>
          </a:xfrm>
          <a:custGeom>
            <a:avLst/>
            <a:gdLst/>
            <a:ahLst/>
            <a:cxnLst/>
            <a:rect l="l" t="t" r="r" b="b"/>
            <a:pathLst>
              <a:path w="1572006" h="29463">
                <a:moveTo>
                  <a:pt x="0" y="29463"/>
                </a:moveTo>
                <a:lnTo>
                  <a:pt x="1572006" y="29463"/>
                </a:lnTo>
                <a:lnTo>
                  <a:pt x="1572006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957072" y="2860929"/>
            <a:ext cx="1543812" cy="0"/>
          </a:xfrm>
          <a:custGeom>
            <a:avLst/>
            <a:gdLst/>
            <a:ahLst/>
            <a:cxnLst/>
            <a:rect l="l" t="t" r="r" b="b"/>
            <a:pathLst>
              <a:path w="1543812">
                <a:moveTo>
                  <a:pt x="0" y="0"/>
                </a:moveTo>
                <a:lnTo>
                  <a:pt x="1543812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2529078" y="2846451"/>
            <a:ext cx="1636014" cy="0"/>
          </a:xfrm>
          <a:custGeom>
            <a:avLst/>
            <a:gdLst/>
            <a:ahLst/>
            <a:cxnLst/>
            <a:rect l="l" t="t" r="r" b="b"/>
            <a:pathLst>
              <a:path w="1636014">
                <a:moveTo>
                  <a:pt x="0" y="0"/>
                </a:moveTo>
                <a:lnTo>
                  <a:pt x="163601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4165091" y="2831719"/>
            <a:ext cx="1257300" cy="29463"/>
          </a:xfrm>
          <a:custGeom>
            <a:avLst/>
            <a:gdLst/>
            <a:ahLst/>
            <a:cxnLst/>
            <a:rect l="l" t="t" r="r" b="b"/>
            <a:pathLst>
              <a:path w="1257300" h="29463">
                <a:moveTo>
                  <a:pt x="0" y="29463"/>
                </a:moveTo>
                <a:lnTo>
                  <a:pt x="1257300" y="29463"/>
                </a:lnTo>
                <a:lnTo>
                  <a:pt x="1257300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5422392" y="2831719"/>
            <a:ext cx="1421891" cy="29463"/>
          </a:xfrm>
          <a:custGeom>
            <a:avLst/>
            <a:gdLst/>
            <a:ahLst/>
            <a:cxnLst/>
            <a:rect l="l" t="t" r="r" b="b"/>
            <a:pathLst>
              <a:path w="1421891" h="29463">
                <a:moveTo>
                  <a:pt x="0" y="29463"/>
                </a:moveTo>
                <a:lnTo>
                  <a:pt x="1421891" y="29463"/>
                </a:lnTo>
                <a:lnTo>
                  <a:pt x="1421891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928878" y="3230879"/>
            <a:ext cx="1572006" cy="166116"/>
          </a:xfrm>
          <a:custGeom>
            <a:avLst/>
            <a:gdLst/>
            <a:ahLst/>
            <a:cxnLst/>
            <a:rect l="l" t="t" r="r" b="b"/>
            <a:pathLst>
              <a:path w="1572006" h="166116">
                <a:moveTo>
                  <a:pt x="0" y="0"/>
                </a:moveTo>
                <a:lnTo>
                  <a:pt x="0" y="166116"/>
                </a:lnTo>
                <a:lnTo>
                  <a:pt x="1572006" y="166116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928878" y="3396996"/>
            <a:ext cx="1572006" cy="131825"/>
          </a:xfrm>
          <a:custGeom>
            <a:avLst/>
            <a:gdLst/>
            <a:ahLst/>
            <a:cxnLst/>
            <a:rect l="l" t="t" r="r" b="b"/>
            <a:pathLst>
              <a:path w="1572006" h="131825">
                <a:moveTo>
                  <a:pt x="0" y="0"/>
                </a:moveTo>
                <a:lnTo>
                  <a:pt x="0" y="131825"/>
                </a:lnTo>
                <a:lnTo>
                  <a:pt x="1572006" y="131825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928878" y="3528187"/>
            <a:ext cx="1572006" cy="34798"/>
          </a:xfrm>
          <a:custGeom>
            <a:avLst/>
            <a:gdLst/>
            <a:ahLst/>
            <a:cxnLst/>
            <a:rect l="l" t="t" r="r" b="b"/>
            <a:pathLst>
              <a:path w="1572006" h="34798">
                <a:moveTo>
                  <a:pt x="0" y="34798"/>
                </a:moveTo>
                <a:lnTo>
                  <a:pt x="1572006" y="34798"/>
                </a:lnTo>
                <a:lnTo>
                  <a:pt x="1572006" y="0"/>
                </a:lnTo>
                <a:lnTo>
                  <a:pt x="0" y="0"/>
                </a:lnTo>
                <a:lnTo>
                  <a:pt x="0" y="34798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928878" y="3221101"/>
            <a:ext cx="1572006" cy="10413"/>
          </a:xfrm>
          <a:custGeom>
            <a:avLst/>
            <a:gdLst/>
            <a:ahLst/>
            <a:cxnLst/>
            <a:rect l="l" t="t" r="r" b="b"/>
            <a:pathLst>
              <a:path w="1572006" h="10413">
                <a:moveTo>
                  <a:pt x="0" y="10413"/>
                </a:moveTo>
                <a:lnTo>
                  <a:pt x="1572006" y="10413"/>
                </a:lnTo>
                <a:lnTo>
                  <a:pt x="1572006" y="0"/>
                </a:lnTo>
                <a:lnTo>
                  <a:pt x="0" y="0"/>
                </a:lnTo>
                <a:lnTo>
                  <a:pt x="0" y="104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928878" y="3231260"/>
            <a:ext cx="1572006" cy="0"/>
          </a:xfrm>
          <a:custGeom>
            <a:avLst/>
            <a:gdLst/>
            <a:ahLst/>
            <a:cxnLst/>
            <a:rect l="l" t="t" r="r" b="b"/>
            <a:pathLst>
              <a:path w="1572006">
                <a:moveTo>
                  <a:pt x="0" y="0"/>
                </a:moveTo>
                <a:lnTo>
                  <a:pt x="1572006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2529078" y="3226307"/>
            <a:ext cx="1636014" cy="0"/>
          </a:xfrm>
          <a:custGeom>
            <a:avLst/>
            <a:gdLst/>
            <a:ahLst/>
            <a:cxnLst/>
            <a:rect l="l" t="t" r="r" b="b"/>
            <a:pathLst>
              <a:path w="1636014">
                <a:moveTo>
                  <a:pt x="0" y="0"/>
                </a:moveTo>
                <a:lnTo>
                  <a:pt x="163601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4174236" y="3226307"/>
            <a:ext cx="1248156" cy="0"/>
          </a:xfrm>
          <a:custGeom>
            <a:avLst/>
            <a:gdLst/>
            <a:ahLst/>
            <a:cxnLst/>
            <a:rect l="l" t="t" r="r" b="b"/>
            <a:pathLst>
              <a:path w="1248156">
                <a:moveTo>
                  <a:pt x="0" y="0"/>
                </a:moveTo>
                <a:lnTo>
                  <a:pt x="12481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5431536" y="3226307"/>
            <a:ext cx="1412747" cy="0"/>
          </a:xfrm>
          <a:custGeom>
            <a:avLst/>
            <a:gdLst/>
            <a:ahLst/>
            <a:cxnLst/>
            <a:rect l="l" t="t" r="r" b="b"/>
            <a:pathLst>
              <a:path w="1412747">
                <a:moveTo>
                  <a:pt x="0" y="0"/>
                </a:moveTo>
                <a:lnTo>
                  <a:pt x="141274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928878" y="3573017"/>
            <a:ext cx="1572006" cy="234696"/>
          </a:xfrm>
          <a:custGeom>
            <a:avLst/>
            <a:gdLst/>
            <a:ahLst/>
            <a:cxnLst/>
            <a:rect l="l" t="t" r="r" b="b"/>
            <a:pathLst>
              <a:path w="1572006" h="234696">
                <a:moveTo>
                  <a:pt x="0" y="0"/>
                </a:moveTo>
                <a:lnTo>
                  <a:pt x="0" y="234696"/>
                </a:lnTo>
                <a:lnTo>
                  <a:pt x="1572006" y="234696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928878" y="3807714"/>
            <a:ext cx="1572006" cy="102870"/>
          </a:xfrm>
          <a:custGeom>
            <a:avLst/>
            <a:gdLst/>
            <a:ahLst/>
            <a:cxnLst/>
            <a:rect l="l" t="t" r="r" b="b"/>
            <a:pathLst>
              <a:path w="1572006" h="102870">
                <a:moveTo>
                  <a:pt x="0" y="0"/>
                </a:moveTo>
                <a:lnTo>
                  <a:pt x="0" y="102870"/>
                </a:lnTo>
                <a:lnTo>
                  <a:pt x="1572006" y="102870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928878" y="3562477"/>
            <a:ext cx="1572006" cy="10414"/>
          </a:xfrm>
          <a:custGeom>
            <a:avLst/>
            <a:gdLst/>
            <a:ahLst/>
            <a:cxnLst/>
            <a:rect l="l" t="t" r="r" b="b"/>
            <a:pathLst>
              <a:path w="1572006" h="10414">
                <a:moveTo>
                  <a:pt x="0" y="10414"/>
                </a:moveTo>
                <a:lnTo>
                  <a:pt x="1572006" y="10414"/>
                </a:lnTo>
                <a:lnTo>
                  <a:pt x="1572006" y="0"/>
                </a:lnTo>
                <a:lnTo>
                  <a:pt x="0" y="0"/>
                </a:lnTo>
                <a:lnTo>
                  <a:pt x="0" y="10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928878" y="3572636"/>
            <a:ext cx="1572006" cy="0"/>
          </a:xfrm>
          <a:custGeom>
            <a:avLst/>
            <a:gdLst/>
            <a:ahLst/>
            <a:cxnLst/>
            <a:rect l="l" t="t" r="r" b="b"/>
            <a:pathLst>
              <a:path w="1572006">
                <a:moveTo>
                  <a:pt x="0" y="0"/>
                </a:moveTo>
                <a:lnTo>
                  <a:pt x="157200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2529078" y="3567684"/>
            <a:ext cx="1636014" cy="0"/>
          </a:xfrm>
          <a:custGeom>
            <a:avLst/>
            <a:gdLst/>
            <a:ahLst/>
            <a:cxnLst/>
            <a:rect l="l" t="t" r="r" b="b"/>
            <a:pathLst>
              <a:path w="1636014">
                <a:moveTo>
                  <a:pt x="0" y="0"/>
                </a:moveTo>
                <a:lnTo>
                  <a:pt x="163601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4174236" y="3567684"/>
            <a:ext cx="1248156" cy="0"/>
          </a:xfrm>
          <a:custGeom>
            <a:avLst/>
            <a:gdLst/>
            <a:ahLst/>
            <a:cxnLst/>
            <a:rect l="l" t="t" r="r" b="b"/>
            <a:pathLst>
              <a:path w="1248156">
                <a:moveTo>
                  <a:pt x="0" y="0"/>
                </a:moveTo>
                <a:lnTo>
                  <a:pt x="12481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431536" y="3567684"/>
            <a:ext cx="1412747" cy="0"/>
          </a:xfrm>
          <a:custGeom>
            <a:avLst/>
            <a:gdLst/>
            <a:ahLst/>
            <a:cxnLst/>
            <a:rect l="l" t="t" r="r" b="b"/>
            <a:pathLst>
              <a:path w="1412747">
                <a:moveTo>
                  <a:pt x="0" y="0"/>
                </a:moveTo>
                <a:lnTo>
                  <a:pt x="141274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928878" y="3920490"/>
            <a:ext cx="1572006" cy="220217"/>
          </a:xfrm>
          <a:custGeom>
            <a:avLst/>
            <a:gdLst/>
            <a:ahLst/>
            <a:cxnLst/>
            <a:rect l="l" t="t" r="r" b="b"/>
            <a:pathLst>
              <a:path w="1572006" h="220217">
                <a:moveTo>
                  <a:pt x="0" y="0"/>
                </a:moveTo>
                <a:lnTo>
                  <a:pt x="0" y="220217"/>
                </a:lnTo>
                <a:lnTo>
                  <a:pt x="1572006" y="220217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928878" y="4140708"/>
            <a:ext cx="1572006" cy="131063"/>
          </a:xfrm>
          <a:custGeom>
            <a:avLst/>
            <a:gdLst/>
            <a:ahLst/>
            <a:cxnLst/>
            <a:rect l="l" t="t" r="r" b="b"/>
            <a:pathLst>
              <a:path w="1572006" h="131063">
                <a:moveTo>
                  <a:pt x="0" y="0"/>
                </a:moveTo>
                <a:lnTo>
                  <a:pt x="0" y="131063"/>
                </a:lnTo>
                <a:lnTo>
                  <a:pt x="1572006" y="131063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928878" y="4271772"/>
            <a:ext cx="1572006" cy="88391"/>
          </a:xfrm>
          <a:custGeom>
            <a:avLst/>
            <a:gdLst/>
            <a:ahLst/>
            <a:cxnLst/>
            <a:rect l="l" t="t" r="r" b="b"/>
            <a:pathLst>
              <a:path w="1572006" h="88391">
                <a:moveTo>
                  <a:pt x="0" y="0"/>
                </a:moveTo>
                <a:lnTo>
                  <a:pt x="0" y="88391"/>
                </a:lnTo>
                <a:lnTo>
                  <a:pt x="1572006" y="88391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928878" y="3915156"/>
            <a:ext cx="1572006" cy="0"/>
          </a:xfrm>
          <a:custGeom>
            <a:avLst/>
            <a:gdLst/>
            <a:ahLst/>
            <a:cxnLst/>
            <a:rect l="l" t="t" r="r" b="b"/>
            <a:pathLst>
              <a:path w="1572006">
                <a:moveTo>
                  <a:pt x="0" y="0"/>
                </a:moveTo>
                <a:lnTo>
                  <a:pt x="157200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928878" y="3920108"/>
            <a:ext cx="1572006" cy="0"/>
          </a:xfrm>
          <a:custGeom>
            <a:avLst/>
            <a:gdLst/>
            <a:ahLst/>
            <a:cxnLst/>
            <a:rect l="l" t="t" r="r" b="b"/>
            <a:pathLst>
              <a:path w="1572006">
                <a:moveTo>
                  <a:pt x="0" y="0"/>
                </a:moveTo>
                <a:lnTo>
                  <a:pt x="157200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2529078" y="3915156"/>
            <a:ext cx="1636014" cy="0"/>
          </a:xfrm>
          <a:custGeom>
            <a:avLst/>
            <a:gdLst/>
            <a:ahLst/>
            <a:cxnLst/>
            <a:rect l="l" t="t" r="r" b="b"/>
            <a:pathLst>
              <a:path w="1636014">
                <a:moveTo>
                  <a:pt x="0" y="0"/>
                </a:moveTo>
                <a:lnTo>
                  <a:pt x="163601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4174236" y="3915156"/>
            <a:ext cx="1248156" cy="0"/>
          </a:xfrm>
          <a:custGeom>
            <a:avLst/>
            <a:gdLst/>
            <a:ahLst/>
            <a:cxnLst/>
            <a:rect l="l" t="t" r="r" b="b"/>
            <a:pathLst>
              <a:path w="1248156">
                <a:moveTo>
                  <a:pt x="0" y="0"/>
                </a:moveTo>
                <a:lnTo>
                  <a:pt x="12481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5431536" y="3915156"/>
            <a:ext cx="1412747" cy="0"/>
          </a:xfrm>
          <a:custGeom>
            <a:avLst/>
            <a:gdLst/>
            <a:ahLst/>
            <a:cxnLst/>
            <a:rect l="l" t="t" r="r" b="b"/>
            <a:pathLst>
              <a:path w="1412747">
                <a:moveTo>
                  <a:pt x="0" y="0"/>
                </a:moveTo>
                <a:lnTo>
                  <a:pt x="141274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928878" y="4370070"/>
            <a:ext cx="1572006" cy="169163"/>
          </a:xfrm>
          <a:custGeom>
            <a:avLst/>
            <a:gdLst/>
            <a:ahLst/>
            <a:cxnLst/>
            <a:rect l="l" t="t" r="r" b="b"/>
            <a:pathLst>
              <a:path w="1572006" h="169163">
                <a:moveTo>
                  <a:pt x="0" y="0"/>
                </a:moveTo>
                <a:lnTo>
                  <a:pt x="0" y="169163"/>
                </a:lnTo>
                <a:lnTo>
                  <a:pt x="1572006" y="169163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928878" y="4539234"/>
            <a:ext cx="1572006" cy="131063"/>
          </a:xfrm>
          <a:custGeom>
            <a:avLst/>
            <a:gdLst/>
            <a:ahLst/>
            <a:cxnLst/>
            <a:rect l="l" t="t" r="r" b="b"/>
            <a:pathLst>
              <a:path w="1572006" h="131063">
                <a:moveTo>
                  <a:pt x="0" y="0"/>
                </a:moveTo>
                <a:lnTo>
                  <a:pt x="0" y="131063"/>
                </a:lnTo>
                <a:lnTo>
                  <a:pt x="1572006" y="131063"/>
                </a:lnTo>
                <a:lnTo>
                  <a:pt x="1572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928878" y="4689348"/>
            <a:ext cx="1572006" cy="0"/>
          </a:xfrm>
          <a:custGeom>
            <a:avLst/>
            <a:gdLst/>
            <a:ahLst/>
            <a:cxnLst/>
            <a:rect l="l" t="t" r="r" b="b"/>
            <a:pathLst>
              <a:path w="1572006">
                <a:moveTo>
                  <a:pt x="0" y="0"/>
                </a:moveTo>
                <a:lnTo>
                  <a:pt x="1572006" y="0"/>
                </a:lnTo>
              </a:path>
            </a:pathLst>
          </a:custGeom>
          <a:ln w="39370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928878" y="4364736"/>
            <a:ext cx="1572006" cy="0"/>
          </a:xfrm>
          <a:custGeom>
            <a:avLst/>
            <a:gdLst/>
            <a:ahLst/>
            <a:cxnLst/>
            <a:rect l="l" t="t" r="r" b="b"/>
            <a:pathLst>
              <a:path w="1572006">
                <a:moveTo>
                  <a:pt x="0" y="0"/>
                </a:moveTo>
                <a:lnTo>
                  <a:pt x="157200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928878" y="4369689"/>
            <a:ext cx="1572006" cy="0"/>
          </a:xfrm>
          <a:custGeom>
            <a:avLst/>
            <a:gdLst/>
            <a:ahLst/>
            <a:cxnLst/>
            <a:rect l="l" t="t" r="r" b="b"/>
            <a:pathLst>
              <a:path w="1572006">
                <a:moveTo>
                  <a:pt x="0" y="0"/>
                </a:moveTo>
                <a:lnTo>
                  <a:pt x="157200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2529078" y="4364736"/>
            <a:ext cx="1636014" cy="0"/>
          </a:xfrm>
          <a:custGeom>
            <a:avLst/>
            <a:gdLst/>
            <a:ahLst/>
            <a:cxnLst/>
            <a:rect l="l" t="t" r="r" b="b"/>
            <a:pathLst>
              <a:path w="1636014">
                <a:moveTo>
                  <a:pt x="0" y="0"/>
                </a:moveTo>
                <a:lnTo>
                  <a:pt x="163601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4174236" y="4364736"/>
            <a:ext cx="1248156" cy="0"/>
          </a:xfrm>
          <a:custGeom>
            <a:avLst/>
            <a:gdLst/>
            <a:ahLst/>
            <a:cxnLst/>
            <a:rect l="l" t="t" r="r" b="b"/>
            <a:pathLst>
              <a:path w="1248156">
                <a:moveTo>
                  <a:pt x="0" y="0"/>
                </a:moveTo>
                <a:lnTo>
                  <a:pt x="12481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5431536" y="4364736"/>
            <a:ext cx="1412747" cy="0"/>
          </a:xfrm>
          <a:custGeom>
            <a:avLst/>
            <a:gdLst/>
            <a:ahLst/>
            <a:cxnLst/>
            <a:rect l="l" t="t" r="r" b="b"/>
            <a:pathLst>
              <a:path w="1412747">
                <a:moveTo>
                  <a:pt x="0" y="0"/>
                </a:moveTo>
                <a:lnTo>
                  <a:pt x="141274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914781" y="2832354"/>
            <a:ext cx="0" cy="1904238"/>
          </a:xfrm>
          <a:custGeom>
            <a:avLst/>
            <a:gdLst/>
            <a:ahLst/>
            <a:cxnLst/>
            <a:rect l="l" t="t" r="r" b="b"/>
            <a:pathLst>
              <a:path h="1904238">
                <a:moveTo>
                  <a:pt x="0" y="0"/>
                </a:moveTo>
                <a:lnTo>
                  <a:pt x="0" y="190423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900684" y="4722495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2514980" y="2385440"/>
            <a:ext cx="0" cy="2351151"/>
          </a:xfrm>
          <a:custGeom>
            <a:avLst/>
            <a:gdLst/>
            <a:ahLst/>
            <a:cxnLst/>
            <a:rect l="l" t="t" r="r" b="b"/>
            <a:pathLst>
              <a:path h="2351151">
                <a:moveTo>
                  <a:pt x="0" y="0"/>
                </a:moveTo>
                <a:lnTo>
                  <a:pt x="0" y="2351151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2529078" y="4722495"/>
            <a:ext cx="1636014" cy="0"/>
          </a:xfrm>
          <a:custGeom>
            <a:avLst/>
            <a:gdLst/>
            <a:ahLst/>
            <a:cxnLst/>
            <a:rect l="l" t="t" r="r" b="b"/>
            <a:pathLst>
              <a:path w="1636014">
                <a:moveTo>
                  <a:pt x="0" y="0"/>
                </a:moveTo>
                <a:lnTo>
                  <a:pt x="163601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4169664" y="2409062"/>
            <a:ext cx="0" cy="2299335"/>
          </a:xfrm>
          <a:custGeom>
            <a:avLst/>
            <a:gdLst/>
            <a:ahLst/>
            <a:cxnLst/>
            <a:rect l="l" t="t" r="r" b="b"/>
            <a:pathLst>
              <a:path h="2299335">
                <a:moveTo>
                  <a:pt x="0" y="0"/>
                </a:moveTo>
                <a:lnTo>
                  <a:pt x="0" y="229933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4165091" y="4722495"/>
            <a:ext cx="1257300" cy="0"/>
          </a:xfrm>
          <a:custGeom>
            <a:avLst/>
            <a:gdLst/>
            <a:ahLst/>
            <a:cxnLst/>
            <a:rect l="l" t="t" r="r" b="b"/>
            <a:pathLst>
              <a:path w="1257300">
                <a:moveTo>
                  <a:pt x="0" y="0"/>
                </a:moveTo>
                <a:lnTo>
                  <a:pt x="12573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5426964" y="2614040"/>
            <a:ext cx="0" cy="2094357"/>
          </a:xfrm>
          <a:custGeom>
            <a:avLst/>
            <a:gdLst/>
            <a:ahLst/>
            <a:cxnLst/>
            <a:rect l="l" t="t" r="r" b="b"/>
            <a:pathLst>
              <a:path h="2094357">
                <a:moveTo>
                  <a:pt x="0" y="0"/>
                </a:moveTo>
                <a:lnTo>
                  <a:pt x="0" y="2094357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5422392" y="4722495"/>
            <a:ext cx="1421891" cy="0"/>
          </a:xfrm>
          <a:custGeom>
            <a:avLst/>
            <a:gdLst/>
            <a:ahLst/>
            <a:cxnLst/>
            <a:rect l="l" t="t" r="r" b="b"/>
            <a:pathLst>
              <a:path w="1421891">
                <a:moveTo>
                  <a:pt x="0" y="0"/>
                </a:moveTo>
                <a:lnTo>
                  <a:pt x="1421891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6858381" y="2385059"/>
            <a:ext cx="0" cy="2351532"/>
          </a:xfrm>
          <a:custGeom>
            <a:avLst/>
            <a:gdLst/>
            <a:ahLst/>
            <a:cxnLst/>
            <a:rect l="l" t="t" r="r" b="b"/>
            <a:pathLst>
              <a:path h="2351532">
                <a:moveTo>
                  <a:pt x="0" y="0"/>
                </a:moveTo>
                <a:lnTo>
                  <a:pt x="0" y="2351532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4472178" y="5379720"/>
            <a:ext cx="2402585" cy="175259"/>
          </a:xfrm>
          <a:custGeom>
            <a:avLst/>
            <a:gdLst/>
            <a:ahLst/>
            <a:cxnLst/>
            <a:rect l="l" t="t" r="r" b="b"/>
            <a:pathLst>
              <a:path w="2402585" h="175259">
                <a:moveTo>
                  <a:pt x="0" y="175259"/>
                </a:moveTo>
                <a:lnTo>
                  <a:pt x="2402585" y="175259"/>
                </a:lnTo>
                <a:lnTo>
                  <a:pt x="2402585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896112" y="5379720"/>
            <a:ext cx="2402586" cy="175259"/>
          </a:xfrm>
          <a:custGeom>
            <a:avLst/>
            <a:gdLst/>
            <a:ahLst/>
            <a:cxnLst/>
            <a:rect l="l" t="t" r="r" b="b"/>
            <a:pathLst>
              <a:path w="2402586" h="175259">
                <a:moveTo>
                  <a:pt x="0" y="175259"/>
                </a:moveTo>
                <a:lnTo>
                  <a:pt x="2402586" y="175259"/>
                </a:lnTo>
                <a:lnTo>
                  <a:pt x="2402586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3298698" y="5379720"/>
            <a:ext cx="1173479" cy="175260"/>
          </a:xfrm>
          <a:custGeom>
            <a:avLst/>
            <a:gdLst/>
            <a:ahLst/>
            <a:cxnLst/>
            <a:rect l="l" t="t" r="r" b="b"/>
            <a:pathLst>
              <a:path w="1173479" h="175260">
                <a:moveTo>
                  <a:pt x="0" y="0"/>
                </a:moveTo>
                <a:lnTo>
                  <a:pt x="0" y="175260"/>
                </a:lnTo>
                <a:lnTo>
                  <a:pt x="1173479" y="175260"/>
                </a:lnTo>
                <a:lnTo>
                  <a:pt x="117347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728977" y="5904738"/>
            <a:ext cx="438912" cy="152400"/>
          </a:xfrm>
          <a:custGeom>
            <a:avLst/>
            <a:gdLst/>
            <a:ahLst/>
            <a:cxnLst/>
            <a:rect l="l" t="t" r="r" b="b"/>
            <a:pathLst>
              <a:path w="438912" h="152400">
                <a:moveTo>
                  <a:pt x="0" y="0"/>
                </a:moveTo>
                <a:lnTo>
                  <a:pt x="0" y="152400"/>
                </a:lnTo>
                <a:lnTo>
                  <a:pt x="438912" y="152400"/>
                </a:lnTo>
                <a:lnTo>
                  <a:pt x="438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728977" y="6057138"/>
            <a:ext cx="438912" cy="131825"/>
          </a:xfrm>
          <a:custGeom>
            <a:avLst/>
            <a:gdLst/>
            <a:ahLst/>
            <a:cxnLst/>
            <a:rect l="l" t="t" r="r" b="b"/>
            <a:pathLst>
              <a:path w="438912" h="131825">
                <a:moveTo>
                  <a:pt x="0" y="0"/>
                </a:moveTo>
                <a:lnTo>
                  <a:pt x="0" y="131825"/>
                </a:lnTo>
                <a:lnTo>
                  <a:pt x="438912" y="131825"/>
                </a:lnTo>
                <a:lnTo>
                  <a:pt x="438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728977" y="6199251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21844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177034" y="5904738"/>
            <a:ext cx="2848356" cy="218693"/>
          </a:xfrm>
          <a:custGeom>
            <a:avLst/>
            <a:gdLst/>
            <a:ahLst/>
            <a:cxnLst/>
            <a:rect l="l" t="t" r="r" b="b"/>
            <a:pathLst>
              <a:path w="2848356" h="218693">
                <a:moveTo>
                  <a:pt x="0" y="0"/>
                </a:moveTo>
                <a:lnTo>
                  <a:pt x="0" y="218693"/>
                </a:lnTo>
                <a:lnTo>
                  <a:pt x="2848356" y="218693"/>
                </a:lnTo>
                <a:lnTo>
                  <a:pt x="284835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177034" y="6123432"/>
            <a:ext cx="2848356" cy="86105"/>
          </a:xfrm>
          <a:custGeom>
            <a:avLst/>
            <a:gdLst/>
            <a:ahLst/>
            <a:cxnLst/>
            <a:rect l="l" t="t" r="r" b="b"/>
            <a:pathLst>
              <a:path w="2848356" h="86105">
                <a:moveTo>
                  <a:pt x="0" y="0"/>
                </a:moveTo>
                <a:lnTo>
                  <a:pt x="0" y="86105"/>
                </a:lnTo>
                <a:lnTo>
                  <a:pt x="2848356" y="86105"/>
                </a:lnTo>
                <a:lnTo>
                  <a:pt x="284835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034534" y="5915406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22606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034534" y="5926074"/>
            <a:ext cx="1238250" cy="131063"/>
          </a:xfrm>
          <a:custGeom>
            <a:avLst/>
            <a:gdLst/>
            <a:ahLst/>
            <a:cxnLst/>
            <a:rect l="l" t="t" r="r" b="b"/>
            <a:pathLst>
              <a:path w="1238250" h="131063">
                <a:moveTo>
                  <a:pt x="0" y="0"/>
                </a:moveTo>
                <a:lnTo>
                  <a:pt x="0" y="131063"/>
                </a:lnTo>
                <a:lnTo>
                  <a:pt x="1238250" y="131063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034534" y="6057138"/>
            <a:ext cx="1238250" cy="131825"/>
          </a:xfrm>
          <a:custGeom>
            <a:avLst/>
            <a:gdLst/>
            <a:ahLst/>
            <a:cxnLst/>
            <a:rect l="l" t="t" r="r" b="b"/>
            <a:pathLst>
              <a:path w="1238250" h="131825">
                <a:moveTo>
                  <a:pt x="0" y="0"/>
                </a:moveTo>
                <a:lnTo>
                  <a:pt x="0" y="131825"/>
                </a:lnTo>
                <a:lnTo>
                  <a:pt x="1238250" y="13182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034534" y="6199251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21844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700783" y="5890641"/>
            <a:ext cx="467106" cy="0"/>
          </a:xfrm>
          <a:custGeom>
            <a:avLst/>
            <a:gdLst/>
            <a:ahLst/>
            <a:cxnLst/>
            <a:rect l="l" t="t" r="r" b="b"/>
            <a:pathLst>
              <a:path w="467106">
                <a:moveTo>
                  <a:pt x="0" y="0"/>
                </a:moveTo>
                <a:lnTo>
                  <a:pt x="46710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728977" y="5905119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177034" y="5905119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167890" y="5875909"/>
            <a:ext cx="2857500" cy="29464"/>
          </a:xfrm>
          <a:custGeom>
            <a:avLst/>
            <a:gdLst/>
            <a:ahLst/>
            <a:cxnLst/>
            <a:rect l="l" t="t" r="r" b="b"/>
            <a:pathLst>
              <a:path w="2857500" h="29464">
                <a:moveTo>
                  <a:pt x="0" y="29464"/>
                </a:moveTo>
                <a:lnTo>
                  <a:pt x="2857500" y="29464"/>
                </a:lnTo>
                <a:lnTo>
                  <a:pt x="2857500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196084" y="5905119"/>
            <a:ext cx="2829306" cy="0"/>
          </a:xfrm>
          <a:custGeom>
            <a:avLst/>
            <a:gdLst/>
            <a:ahLst/>
            <a:cxnLst/>
            <a:rect l="l" t="t" r="r" b="b"/>
            <a:pathLst>
              <a:path w="2829306">
                <a:moveTo>
                  <a:pt x="0" y="0"/>
                </a:moveTo>
                <a:lnTo>
                  <a:pt x="282930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034534" y="5905119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025390" y="589064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053584" y="5875909"/>
            <a:ext cx="1219200" cy="29464"/>
          </a:xfrm>
          <a:custGeom>
            <a:avLst/>
            <a:gdLst/>
            <a:ahLst/>
            <a:cxnLst/>
            <a:rect l="l" t="t" r="r" b="b"/>
            <a:pathLst>
              <a:path w="1219200" h="29464">
                <a:moveTo>
                  <a:pt x="0" y="29464"/>
                </a:moveTo>
                <a:lnTo>
                  <a:pt x="1219200" y="29464"/>
                </a:lnTo>
                <a:lnTo>
                  <a:pt x="1219200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053584" y="5904103"/>
            <a:ext cx="1219200" cy="2031"/>
          </a:xfrm>
          <a:custGeom>
            <a:avLst/>
            <a:gdLst/>
            <a:ahLst/>
            <a:cxnLst/>
            <a:rect l="l" t="t" r="r" b="b"/>
            <a:pathLst>
              <a:path w="1219200" h="2031">
                <a:moveTo>
                  <a:pt x="0" y="2031"/>
                </a:moveTo>
                <a:lnTo>
                  <a:pt x="1219200" y="2031"/>
                </a:lnTo>
                <a:lnTo>
                  <a:pt x="1219200" y="0"/>
                </a:lnTo>
                <a:lnTo>
                  <a:pt x="0" y="0"/>
                </a:lnTo>
                <a:lnTo>
                  <a:pt x="0" y="2031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728977" y="6223635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167890" y="6223635"/>
            <a:ext cx="2857500" cy="0"/>
          </a:xfrm>
          <a:custGeom>
            <a:avLst/>
            <a:gdLst/>
            <a:ahLst/>
            <a:cxnLst/>
            <a:rect l="l" t="t" r="r" b="b"/>
            <a:pathLst>
              <a:path w="2857500">
                <a:moveTo>
                  <a:pt x="0" y="0"/>
                </a:moveTo>
                <a:lnTo>
                  <a:pt x="28575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025390" y="6223635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053584" y="6223635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1728977" y="637413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177034" y="637413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034534" y="637413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728977" y="651510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177034" y="651510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034534" y="651510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728977" y="665607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177034" y="665607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034534" y="665607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728977" y="679704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2177034" y="679704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034534" y="679704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728977" y="6938009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2177034" y="6938009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5034534" y="6938009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728977" y="707898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2177034" y="707898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034534" y="707898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728977" y="721995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177034" y="721995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034534" y="721995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728977" y="736092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2177034" y="736092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5034534" y="736092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728977" y="750189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2177034" y="750189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034534" y="750189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728977" y="7642859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2177034" y="7642859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034534" y="7642859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728977" y="778383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2177034" y="778383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034534" y="778383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728977" y="792480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2177034" y="792480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5034534" y="792480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728977" y="806577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2177034" y="806577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034534" y="806577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728977" y="820674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177034" y="820674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34534" y="820674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728977" y="8347709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2177034" y="8347709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034534" y="8347709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728977" y="848868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2177034" y="848868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5034534" y="848868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728977" y="862965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2177034" y="862965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5034534" y="862965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728977" y="877062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2177034" y="877062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5034534" y="877062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728977" y="891159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2177034" y="891159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5034534" y="891159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728977" y="905256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2177034" y="905256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5034534" y="905256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728977" y="9193530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2177034" y="9193530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5034534" y="9193530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714880" y="5876925"/>
            <a:ext cx="0" cy="3480435"/>
          </a:xfrm>
          <a:custGeom>
            <a:avLst/>
            <a:gdLst/>
            <a:ahLst/>
            <a:cxnLst/>
            <a:rect l="l" t="t" r="r" b="b"/>
            <a:pathLst>
              <a:path h="3480434">
                <a:moveTo>
                  <a:pt x="0" y="0"/>
                </a:moveTo>
                <a:lnTo>
                  <a:pt x="0" y="348043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700783" y="9343263"/>
            <a:ext cx="467106" cy="0"/>
          </a:xfrm>
          <a:custGeom>
            <a:avLst/>
            <a:gdLst/>
            <a:ahLst/>
            <a:cxnLst/>
            <a:rect l="l" t="t" r="r" b="b"/>
            <a:pathLst>
              <a:path w="467106">
                <a:moveTo>
                  <a:pt x="0" y="0"/>
                </a:moveTo>
                <a:lnTo>
                  <a:pt x="467106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172462" y="5900547"/>
            <a:ext cx="0" cy="3428618"/>
          </a:xfrm>
          <a:custGeom>
            <a:avLst/>
            <a:gdLst/>
            <a:ahLst/>
            <a:cxnLst/>
            <a:rect l="l" t="t" r="r" b="b"/>
            <a:pathLst>
              <a:path h="3428618">
                <a:moveTo>
                  <a:pt x="0" y="0"/>
                </a:moveTo>
                <a:lnTo>
                  <a:pt x="0" y="3428618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2167890" y="9343263"/>
            <a:ext cx="2857500" cy="0"/>
          </a:xfrm>
          <a:custGeom>
            <a:avLst/>
            <a:gdLst/>
            <a:ahLst/>
            <a:cxnLst/>
            <a:rect l="l" t="t" r="r" b="b"/>
            <a:pathLst>
              <a:path w="2857500">
                <a:moveTo>
                  <a:pt x="0" y="0"/>
                </a:moveTo>
                <a:lnTo>
                  <a:pt x="285750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5029962" y="5900547"/>
            <a:ext cx="0" cy="3428618"/>
          </a:xfrm>
          <a:custGeom>
            <a:avLst/>
            <a:gdLst/>
            <a:ahLst/>
            <a:cxnLst/>
            <a:rect l="l" t="t" r="r" b="b"/>
            <a:pathLst>
              <a:path h="3428618">
                <a:moveTo>
                  <a:pt x="0" y="0"/>
                </a:moveTo>
                <a:lnTo>
                  <a:pt x="0" y="3428618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5025390" y="9343263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5053584" y="9343263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6286881" y="5876544"/>
            <a:ext cx="0" cy="3480816"/>
          </a:xfrm>
          <a:custGeom>
            <a:avLst/>
            <a:gdLst/>
            <a:ahLst/>
            <a:cxnLst/>
            <a:rect l="l" t="t" r="r" b="b"/>
            <a:pathLst>
              <a:path h="3480815">
                <a:moveTo>
                  <a:pt x="0" y="0"/>
                </a:moveTo>
                <a:lnTo>
                  <a:pt x="0" y="348081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 txBox="1"/>
          <p:nvPr/>
        </p:nvSpPr>
        <p:spPr>
          <a:xfrm>
            <a:off x="1714880" y="5891022"/>
            <a:ext cx="457581" cy="3326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7"/>
              </a:spcBef>
            </a:pPr>
            <a:endParaRPr sz="1300"/>
          </a:p>
          <a:p>
            <a:pPr marL="144399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crt.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2172462" y="5891022"/>
            <a:ext cx="2857500" cy="3326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41"/>
              </a:spcBef>
            </a:pPr>
            <a:endParaRPr sz="750"/>
          </a:p>
          <a:p>
            <a:pPr marL="823721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-4" dirty="0" smtClean="0">
                <a:latin typeface="Times New Roman"/>
                <a:cs typeface="Times New Roman"/>
              </a:rPr>
              <a:t>nu</a:t>
            </a:r>
            <a:r>
              <a:rPr sz="900" b="1" spc="0" dirty="0" smtClean="0">
                <a:latin typeface="Times New Roman"/>
                <a:cs typeface="Times New Roman"/>
              </a:rPr>
              <a:t>mirea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-4" dirty="0" smtClean="0">
                <a:latin typeface="Times New Roman"/>
                <a:cs typeface="Times New Roman"/>
              </a:rPr>
              <a:t>nd</a:t>
            </a:r>
            <a:r>
              <a:rPr sz="900" b="1" spc="0" dirty="0" smtClean="0">
                <a:latin typeface="Times New Roman"/>
                <a:cs typeface="Times New Roman"/>
              </a:rPr>
              <a:t>icat</a:t>
            </a:r>
            <a:r>
              <a:rPr sz="900" b="1" spc="-4" dirty="0" smtClean="0">
                <a:latin typeface="Times New Roman"/>
                <a:cs typeface="Times New Roman"/>
              </a:rPr>
              <a:t>o</a:t>
            </a:r>
            <a:r>
              <a:rPr sz="900" b="1" spc="0" dirty="0" smtClean="0">
                <a:latin typeface="Times New Roman"/>
                <a:cs typeface="Times New Roman"/>
              </a:rPr>
              <a:t>r</a:t>
            </a:r>
            <a:r>
              <a:rPr sz="900" b="1" spc="-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l</a:t>
            </a:r>
            <a:r>
              <a:rPr sz="900" b="1" spc="-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029962" y="5891022"/>
            <a:ext cx="1256919" cy="3326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7"/>
              </a:spcBef>
            </a:pPr>
            <a:endParaRPr sz="1300"/>
          </a:p>
          <a:p>
            <a:pPr marL="402818" marR="402689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rea</a:t>
            </a:r>
            <a:r>
              <a:rPr sz="900" b="1" spc="-4" dirty="0" smtClean="0">
                <a:latin typeface="Times New Roman"/>
                <a:cs typeface="Times New Roman"/>
              </a:rPr>
              <a:t>l</a:t>
            </a: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-9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aţi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714880" y="6223635"/>
            <a:ext cx="457581" cy="1504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2" name="object 102"/>
          <p:cNvSpPr txBox="1"/>
          <p:nvPr/>
        </p:nvSpPr>
        <p:spPr>
          <a:xfrm>
            <a:off x="2172462" y="6223635"/>
            <a:ext cx="2857500" cy="1504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1" name="object 101"/>
          <p:cNvSpPr txBox="1"/>
          <p:nvPr/>
        </p:nvSpPr>
        <p:spPr>
          <a:xfrm>
            <a:off x="5029962" y="6223635"/>
            <a:ext cx="1256919" cy="1504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0" name="object 100"/>
          <p:cNvSpPr txBox="1"/>
          <p:nvPr/>
        </p:nvSpPr>
        <p:spPr>
          <a:xfrm>
            <a:off x="1714880" y="6374130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9" name="object 99"/>
          <p:cNvSpPr txBox="1"/>
          <p:nvPr/>
        </p:nvSpPr>
        <p:spPr>
          <a:xfrm>
            <a:off x="2172462" y="6374130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8" name="object 98"/>
          <p:cNvSpPr txBox="1"/>
          <p:nvPr/>
        </p:nvSpPr>
        <p:spPr>
          <a:xfrm>
            <a:off x="5029962" y="6374130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7" name="object 97"/>
          <p:cNvSpPr txBox="1"/>
          <p:nvPr/>
        </p:nvSpPr>
        <p:spPr>
          <a:xfrm>
            <a:off x="1714880" y="651510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6" name="object 96"/>
          <p:cNvSpPr txBox="1"/>
          <p:nvPr/>
        </p:nvSpPr>
        <p:spPr>
          <a:xfrm>
            <a:off x="2172462" y="651510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5" name="object 95"/>
          <p:cNvSpPr txBox="1"/>
          <p:nvPr/>
        </p:nvSpPr>
        <p:spPr>
          <a:xfrm>
            <a:off x="5029962" y="651510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4" name="object 94"/>
          <p:cNvSpPr txBox="1"/>
          <p:nvPr/>
        </p:nvSpPr>
        <p:spPr>
          <a:xfrm>
            <a:off x="1714880" y="6656070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3" name="object 93"/>
          <p:cNvSpPr txBox="1"/>
          <p:nvPr/>
        </p:nvSpPr>
        <p:spPr>
          <a:xfrm>
            <a:off x="2172462" y="6656070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2" name="object 92"/>
          <p:cNvSpPr txBox="1"/>
          <p:nvPr/>
        </p:nvSpPr>
        <p:spPr>
          <a:xfrm>
            <a:off x="5029962" y="6656070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1" name="object 91"/>
          <p:cNvSpPr txBox="1"/>
          <p:nvPr/>
        </p:nvSpPr>
        <p:spPr>
          <a:xfrm>
            <a:off x="1714880" y="679704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0" name="object 90"/>
          <p:cNvSpPr txBox="1"/>
          <p:nvPr/>
        </p:nvSpPr>
        <p:spPr>
          <a:xfrm>
            <a:off x="2172462" y="679704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9" name="object 89"/>
          <p:cNvSpPr txBox="1"/>
          <p:nvPr/>
        </p:nvSpPr>
        <p:spPr>
          <a:xfrm>
            <a:off x="5029962" y="679704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8" name="object 88"/>
          <p:cNvSpPr txBox="1"/>
          <p:nvPr/>
        </p:nvSpPr>
        <p:spPr>
          <a:xfrm>
            <a:off x="1714880" y="6938009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7" name="object 87"/>
          <p:cNvSpPr txBox="1"/>
          <p:nvPr/>
        </p:nvSpPr>
        <p:spPr>
          <a:xfrm>
            <a:off x="2172462" y="6938009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6" name="object 86"/>
          <p:cNvSpPr txBox="1"/>
          <p:nvPr/>
        </p:nvSpPr>
        <p:spPr>
          <a:xfrm>
            <a:off x="5029962" y="6938009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5" name="object 85"/>
          <p:cNvSpPr txBox="1"/>
          <p:nvPr/>
        </p:nvSpPr>
        <p:spPr>
          <a:xfrm>
            <a:off x="1714880" y="707898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4" name="object 84"/>
          <p:cNvSpPr txBox="1"/>
          <p:nvPr/>
        </p:nvSpPr>
        <p:spPr>
          <a:xfrm>
            <a:off x="2172462" y="707898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3" name="object 83"/>
          <p:cNvSpPr txBox="1"/>
          <p:nvPr/>
        </p:nvSpPr>
        <p:spPr>
          <a:xfrm>
            <a:off x="5029962" y="707898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2" name="object 82"/>
          <p:cNvSpPr txBox="1"/>
          <p:nvPr/>
        </p:nvSpPr>
        <p:spPr>
          <a:xfrm>
            <a:off x="1714880" y="721995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1" name="object 81"/>
          <p:cNvSpPr txBox="1"/>
          <p:nvPr/>
        </p:nvSpPr>
        <p:spPr>
          <a:xfrm>
            <a:off x="2172462" y="721995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0" name="object 80"/>
          <p:cNvSpPr txBox="1"/>
          <p:nvPr/>
        </p:nvSpPr>
        <p:spPr>
          <a:xfrm>
            <a:off x="5029962" y="721995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9" name="object 79"/>
          <p:cNvSpPr txBox="1"/>
          <p:nvPr/>
        </p:nvSpPr>
        <p:spPr>
          <a:xfrm>
            <a:off x="1714880" y="7360920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8" name="object 78"/>
          <p:cNvSpPr txBox="1"/>
          <p:nvPr/>
        </p:nvSpPr>
        <p:spPr>
          <a:xfrm>
            <a:off x="2172462" y="7360920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7" name="object 77"/>
          <p:cNvSpPr txBox="1"/>
          <p:nvPr/>
        </p:nvSpPr>
        <p:spPr>
          <a:xfrm>
            <a:off x="5029962" y="7360920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6" name="object 76"/>
          <p:cNvSpPr txBox="1"/>
          <p:nvPr/>
        </p:nvSpPr>
        <p:spPr>
          <a:xfrm>
            <a:off x="1714880" y="750189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5" name="object 75"/>
          <p:cNvSpPr txBox="1"/>
          <p:nvPr/>
        </p:nvSpPr>
        <p:spPr>
          <a:xfrm>
            <a:off x="2172462" y="750189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74"/>
          <p:cNvSpPr txBox="1"/>
          <p:nvPr/>
        </p:nvSpPr>
        <p:spPr>
          <a:xfrm>
            <a:off x="5029962" y="750189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3" name="object 73"/>
          <p:cNvSpPr txBox="1"/>
          <p:nvPr/>
        </p:nvSpPr>
        <p:spPr>
          <a:xfrm>
            <a:off x="1714880" y="7642859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2172462" y="7642859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1" name="object 71"/>
          <p:cNvSpPr txBox="1"/>
          <p:nvPr/>
        </p:nvSpPr>
        <p:spPr>
          <a:xfrm>
            <a:off x="5029962" y="7642859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0" name="object 70"/>
          <p:cNvSpPr txBox="1"/>
          <p:nvPr/>
        </p:nvSpPr>
        <p:spPr>
          <a:xfrm>
            <a:off x="1714880" y="778383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9" name="object 69"/>
          <p:cNvSpPr txBox="1"/>
          <p:nvPr/>
        </p:nvSpPr>
        <p:spPr>
          <a:xfrm>
            <a:off x="2172462" y="778383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8" name="object 68"/>
          <p:cNvSpPr txBox="1"/>
          <p:nvPr/>
        </p:nvSpPr>
        <p:spPr>
          <a:xfrm>
            <a:off x="5029962" y="778383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7" name="object 67"/>
          <p:cNvSpPr txBox="1"/>
          <p:nvPr/>
        </p:nvSpPr>
        <p:spPr>
          <a:xfrm>
            <a:off x="1714880" y="792480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2172462" y="792480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5" name="object 65"/>
          <p:cNvSpPr txBox="1"/>
          <p:nvPr/>
        </p:nvSpPr>
        <p:spPr>
          <a:xfrm>
            <a:off x="5029962" y="792480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4" name="object 64"/>
          <p:cNvSpPr txBox="1"/>
          <p:nvPr/>
        </p:nvSpPr>
        <p:spPr>
          <a:xfrm>
            <a:off x="1714880" y="8065770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3" name="object 63"/>
          <p:cNvSpPr txBox="1"/>
          <p:nvPr/>
        </p:nvSpPr>
        <p:spPr>
          <a:xfrm>
            <a:off x="2172462" y="8065770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62"/>
          <p:cNvSpPr txBox="1"/>
          <p:nvPr/>
        </p:nvSpPr>
        <p:spPr>
          <a:xfrm>
            <a:off x="5029962" y="8065770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61"/>
          <p:cNvSpPr txBox="1"/>
          <p:nvPr/>
        </p:nvSpPr>
        <p:spPr>
          <a:xfrm>
            <a:off x="1714880" y="820674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0" name="object 60"/>
          <p:cNvSpPr txBox="1"/>
          <p:nvPr/>
        </p:nvSpPr>
        <p:spPr>
          <a:xfrm>
            <a:off x="2172462" y="820674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9" name="object 59"/>
          <p:cNvSpPr txBox="1"/>
          <p:nvPr/>
        </p:nvSpPr>
        <p:spPr>
          <a:xfrm>
            <a:off x="5029962" y="820674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58"/>
          <p:cNvSpPr txBox="1"/>
          <p:nvPr/>
        </p:nvSpPr>
        <p:spPr>
          <a:xfrm>
            <a:off x="1714880" y="8347709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57"/>
          <p:cNvSpPr txBox="1"/>
          <p:nvPr/>
        </p:nvSpPr>
        <p:spPr>
          <a:xfrm>
            <a:off x="2172462" y="8347709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56"/>
          <p:cNvSpPr txBox="1"/>
          <p:nvPr/>
        </p:nvSpPr>
        <p:spPr>
          <a:xfrm>
            <a:off x="5029962" y="8347709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55"/>
          <p:cNvSpPr txBox="1"/>
          <p:nvPr/>
        </p:nvSpPr>
        <p:spPr>
          <a:xfrm>
            <a:off x="1714880" y="8488680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2172462" y="8488680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5029962" y="8488680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1714880" y="8629650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2172462" y="8629650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5029962" y="8629650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1714880" y="877062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2172462" y="877062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5029962" y="877062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1714880" y="8911590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2172462" y="8911590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5029962" y="8911590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1714880" y="9052560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2172462" y="9052560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5029962" y="9052560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1714880" y="9193530"/>
            <a:ext cx="457581" cy="149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2172462" y="9193530"/>
            <a:ext cx="2857500" cy="149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5029962" y="9193530"/>
            <a:ext cx="1256919" cy="149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896112" y="5379720"/>
            <a:ext cx="5978651" cy="1752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914781" y="2399537"/>
            <a:ext cx="1600199" cy="4469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2514980" y="2399537"/>
            <a:ext cx="1654683" cy="4469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200"/>
              </a:lnSpc>
              <a:spcBef>
                <a:spcPts val="41"/>
              </a:spcBef>
            </a:pPr>
            <a:endParaRPr sz="1200"/>
          </a:p>
          <a:p>
            <a:pPr marL="454533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Buget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program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69664" y="2399537"/>
            <a:ext cx="2688716" cy="2183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4169664" y="2617850"/>
            <a:ext cx="1257300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5426964" y="2617850"/>
            <a:ext cx="1431416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914781" y="2846450"/>
            <a:ext cx="1600199" cy="3802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2"/>
              </a:spcBef>
            </a:pPr>
            <a:endParaRPr sz="500"/>
          </a:p>
          <a:p>
            <a:pPr marL="484250">
              <a:lnSpc>
                <a:spcPct val="95825"/>
              </a:lnSpc>
              <a:spcBef>
                <a:spcPts val="100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la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31.1</a:t>
            </a:r>
            <a:r>
              <a:rPr sz="900" b="1" spc="-4" dirty="0" smtClean="0">
                <a:latin typeface="Times New Roman"/>
                <a:cs typeface="Times New Roman"/>
              </a:rPr>
              <a:t>2</a:t>
            </a:r>
            <a:r>
              <a:rPr sz="900" b="1" spc="0" dirty="0" smtClean="0">
                <a:latin typeface="Times New Roman"/>
                <a:cs typeface="Times New Roman"/>
              </a:rPr>
              <a:t>.2001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14980" y="2846450"/>
            <a:ext cx="1654683" cy="3802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4169664" y="2846450"/>
            <a:ext cx="1257300" cy="3802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5426964" y="2846450"/>
            <a:ext cx="1431416" cy="3802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914781" y="3226688"/>
            <a:ext cx="1600199" cy="3413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40"/>
              </a:spcBef>
            </a:pPr>
            <a:endParaRPr sz="1300"/>
          </a:p>
          <a:p>
            <a:pPr marL="603186" marR="601315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în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2002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14980" y="3226688"/>
            <a:ext cx="1654683" cy="3413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4169664" y="3226688"/>
            <a:ext cx="1257300" cy="3413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5426964" y="3226688"/>
            <a:ext cx="1431416" cy="3413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914781" y="3568064"/>
            <a:ext cx="1600199" cy="347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2514980" y="3568064"/>
            <a:ext cx="1654683" cy="347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4169664" y="3568064"/>
            <a:ext cx="1257300" cy="347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5426964" y="3568064"/>
            <a:ext cx="1431416" cy="347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914781" y="3915536"/>
            <a:ext cx="1600199" cy="449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50"/>
              </a:lnSpc>
              <a:spcBef>
                <a:spcPts val="16"/>
              </a:spcBef>
            </a:pPr>
            <a:endParaRPr sz="750"/>
          </a:p>
          <a:p>
            <a:pPr marL="322706">
              <a:lnSpc>
                <a:spcPct val="95825"/>
              </a:lnSpc>
              <a:spcBef>
                <a:spcPts val="100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program</a:t>
            </a:r>
            <a:r>
              <a:rPr sz="900" b="1" spc="-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în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2002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14980" y="3915536"/>
            <a:ext cx="1654683" cy="449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169664" y="3915536"/>
            <a:ext cx="1257300" cy="449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5426964" y="3915536"/>
            <a:ext cx="1431416" cy="4495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914781" y="4365117"/>
            <a:ext cx="1600199" cy="3573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64"/>
              </a:spcBef>
            </a:pPr>
            <a:endParaRPr sz="1300"/>
          </a:p>
          <a:p>
            <a:pPr marL="48425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la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31.1</a:t>
            </a:r>
            <a:r>
              <a:rPr sz="900" b="1" spc="-4" dirty="0" smtClean="0">
                <a:latin typeface="Times New Roman"/>
                <a:cs typeface="Times New Roman"/>
              </a:rPr>
              <a:t>2</a:t>
            </a:r>
            <a:r>
              <a:rPr sz="900" b="1" spc="0" dirty="0" smtClean="0">
                <a:latin typeface="Times New Roman"/>
                <a:cs typeface="Times New Roman"/>
              </a:rPr>
              <a:t>.2002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4980" y="4365117"/>
            <a:ext cx="1654683" cy="3573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4169664" y="4365117"/>
            <a:ext cx="1257300" cy="3573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5426964" y="4365117"/>
            <a:ext cx="1431416" cy="3573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914781" y="1033272"/>
            <a:ext cx="1606677" cy="4324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578802" marR="578421" algn="ctr">
              <a:lnSpc>
                <a:spcPct val="95825"/>
              </a:lnSpc>
              <a:spcBef>
                <a:spcPts val="121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î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treagă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1458" y="1033272"/>
            <a:ext cx="4336922" cy="1504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521458" y="1183767"/>
            <a:ext cx="1365503" cy="281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4"/>
              </a:spcBef>
            </a:pPr>
            <a:endParaRPr sz="550"/>
          </a:p>
          <a:p>
            <a:pPr marL="531177" marR="531425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Total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6962" y="1183767"/>
            <a:ext cx="1485900" cy="281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  <a:spcBef>
                <a:spcPts val="70"/>
              </a:spcBef>
            </a:pPr>
            <a:endParaRPr sz="1000"/>
          </a:p>
          <a:p>
            <a:pPr marL="482346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superioare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2862" y="1183767"/>
            <a:ext cx="1485518" cy="2819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4"/>
              </a:spcBef>
            </a:pPr>
            <a:endParaRPr sz="550"/>
          </a:p>
          <a:p>
            <a:pPr marL="328422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Tineri a</a:t>
            </a:r>
            <a:r>
              <a:rPr sz="900" b="1" spc="-4" dirty="0" smtClean="0">
                <a:latin typeface="Times New Roman"/>
                <a:cs typeface="Times New Roman"/>
              </a:rPr>
              <a:t>b</a:t>
            </a:r>
            <a:r>
              <a:rPr sz="900" b="1" spc="0" dirty="0" smtClean="0">
                <a:latin typeface="Times New Roman"/>
                <a:cs typeface="Times New Roman"/>
              </a:rPr>
              <a:t>solve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ţi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781" y="1465706"/>
            <a:ext cx="1606677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521458" y="1465706"/>
            <a:ext cx="1365503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3886962" y="1465706"/>
            <a:ext cx="1485900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372862" y="1465706"/>
            <a:ext cx="1485518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374522">
              <a:lnSpc>
                <a:spcPct val="95825"/>
              </a:lnSpc>
              <a:spcBef>
                <a:spcPts val="230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Personal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par</a:t>
            </a:r>
            <a:r>
              <a:rPr sz="900" b="1" spc="-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icipant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la</a:t>
            </a:r>
            <a:r>
              <a:rPr sz="900" b="1" spc="-9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ali</a:t>
            </a:r>
            <a:r>
              <a:rPr sz="900" b="1" spc="-9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area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pro</a:t>
            </a:r>
            <a:r>
              <a:rPr sz="900" b="1" spc="-4" dirty="0" smtClean="0">
                <a:latin typeface="Times New Roman"/>
                <a:cs typeface="Times New Roman"/>
              </a:rPr>
              <a:t>g</a:t>
            </a:r>
            <a:r>
              <a:rPr sz="900" b="1" spc="0" dirty="0" smtClean="0">
                <a:latin typeface="Times New Roman"/>
                <a:cs typeface="Times New Roman"/>
              </a:rPr>
              <a:t>ramului:</a:t>
            </a:r>
            <a:endParaRPr sz="900">
              <a:latin typeface="Times New Roman"/>
              <a:cs typeface="Times New Roman"/>
            </a:endParaRPr>
          </a:p>
          <a:p>
            <a:pPr marL="628269">
              <a:lnSpc>
                <a:spcPts val="1084"/>
              </a:lnSpc>
              <a:spcBef>
                <a:spcPts val="148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Perso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al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d</a:t>
            </a:r>
            <a:r>
              <a:rPr sz="900" b="1" spc="0" dirty="0" smtClean="0">
                <a:latin typeface="Times New Roman"/>
                <a:cs typeface="Times New Roman"/>
              </a:rPr>
              <a:t>e co</a:t>
            </a:r>
            <a:r>
              <a:rPr sz="900" b="1" spc="-4" dirty="0" smtClean="0">
                <a:latin typeface="Times New Roman"/>
                <a:cs typeface="Times New Roman"/>
              </a:rPr>
              <a:t>ndu</a:t>
            </a:r>
            <a:r>
              <a:rPr sz="900" b="1" spc="0" dirty="0" smtClean="0">
                <a:latin typeface="Times New Roman"/>
                <a:cs typeface="Times New Roman"/>
              </a:rPr>
              <a:t>ce</a:t>
            </a:r>
            <a:r>
              <a:rPr sz="900" b="1" spc="-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                                 </a:t>
            </a:r>
            <a:r>
              <a:rPr sz="900" b="1" spc="135" dirty="0" smtClean="0">
                <a:latin typeface="Times New Roman"/>
                <a:cs typeface="Times New Roman"/>
              </a:rPr>
              <a:t> </a:t>
            </a:r>
            <a:r>
              <a:rPr sz="1350" b="1" spc="0" baseline="3220" dirty="0" smtClean="0">
                <a:latin typeface="Times New Roman"/>
                <a:cs typeface="Times New Roman"/>
              </a:rPr>
              <a:t>Perso</a:t>
            </a:r>
            <a:r>
              <a:rPr sz="1350" b="1" spc="-4" baseline="3220" dirty="0" smtClean="0">
                <a:latin typeface="Times New Roman"/>
                <a:cs typeface="Times New Roman"/>
              </a:rPr>
              <a:t>n</a:t>
            </a:r>
            <a:r>
              <a:rPr sz="1350" b="1" spc="0" baseline="3220" dirty="0" smtClean="0">
                <a:latin typeface="Times New Roman"/>
                <a:cs typeface="Times New Roman"/>
              </a:rPr>
              <a:t>al ex</a:t>
            </a:r>
            <a:r>
              <a:rPr sz="1350" b="1" spc="-4" baseline="3220" dirty="0" smtClean="0">
                <a:latin typeface="Times New Roman"/>
                <a:cs typeface="Times New Roman"/>
              </a:rPr>
              <a:t>e</a:t>
            </a:r>
            <a:r>
              <a:rPr sz="1350" b="1" spc="4" baseline="3220" dirty="0" smtClean="0">
                <a:latin typeface="Times New Roman"/>
                <a:cs typeface="Times New Roman"/>
              </a:rPr>
              <a:t>c</a:t>
            </a:r>
            <a:r>
              <a:rPr sz="1350" b="1" spc="-4" baseline="3220" dirty="0" smtClean="0">
                <a:latin typeface="Times New Roman"/>
                <a:cs typeface="Times New Roman"/>
              </a:rPr>
              <a:t>u</a:t>
            </a:r>
            <a:r>
              <a:rPr sz="1350" b="1" spc="0" baseline="3220" dirty="0" smtClean="0">
                <a:latin typeface="Times New Roman"/>
                <a:cs typeface="Times New Roman"/>
              </a:rPr>
              <a:t>ţie</a:t>
            </a:r>
            <a:r>
              <a:rPr sz="1350" b="1" spc="4" baseline="3220" dirty="0" smtClean="0">
                <a:latin typeface="Times New Roman"/>
                <a:cs typeface="Times New Roman"/>
              </a:rPr>
              <a:t> </a:t>
            </a:r>
            <a:r>
              <a:rPr sz="1350" b="1" spc="-4" baseline="3220" dirty="0" smtClean="0">
                <a:latin typeface="Times New Roman"/>
                <a:cs typeface="Times New Roman"/>
              </a:rPr>
              <a:t>p</a:t>
            </a:r>
            <a:r>
              <a:rPr sz="1350" b="1" spc="4" baseline="3220" dirty="0" smtClean="0">
                <a:latin typeface="Times New Roman"/>
                <a:cs typeface="Times New Roman"/>
              </a:rPr>
              <a:t>r</a:t>
            </a:r>
            <a:r>
              <a:rPr sz="1350" b="1" spc="-4" baseline="3220" dirty="0" smtClean="0">
                <a:latin typeface="Times New Roman"/>
                <a:cs typeface="Times New Roman"/>
              </a:rPr>
              <a:t>o</a:t>
            </a:r>
            <a:r>
              <a:rPr sz="1350" b="1" spc="0" baseline="3220" dirty="0" smtClean="0">
                <a:latin typeface="Times New Roman"/>
                <a:cs typeface="Times New Roman"/>
              </a:rPr>
              <a:t>i</a:t>
            </a:r>
            <a:r>
              <a:rPr sz="1350" b="1" spc="-4" baseline="3220" dirty="0" smtClean="0">
                <a:latin typeface="Times New Roman"/>
                <a:cs typeface="Times New Roman"/>
              </a:rPr>
              <a:t>e</a:t>
            </a:r>
            <a:r>
              <a:rPr sz="1350" b="1" spc="4" baseline="3220" dirty="0" smtClean="0">
                <a:latin typeface="Times New Roman"/>
                <a:cs typeface="Times New Roman"/>
              </a:rPr>
              <a:t>c</a:t>
            </a:r>
            <a:r>
              <a:rPr sz="1350" b="1" spc="0" baseline="3220" dirty="0" smtClean="0">
                <a:latin typeface="Times New Roman"/>
                <a:cs typeface="Times New Roman"/>
              </a:rPr>
              <a:t>te echiv</a:t>
            </a:r>
            <a:r>
              <a:rPr sz="1350" b="1" spc="-4" baseline="3220" dirty="0" smtClean="0">
                <a:latin typeface="Times New Roman"/>
                <a:cs typeface="Times New Roman"/>
              </a:rPr>
              <a:t>a</a:t>
            </a:r>
            <a:r>
              <a:rPr sz="1350" b="1" spc="0" baseline="3220" dirty="0" smtClean="0">
                <a:latin typeface="Times New Roman"/>
                <a:cs typeface="Times New Roman"/>
              </a:rPr>
              <a:t>le</a:t>
            </a:r>
            <a:r>
              <a:rPr sz="1350" b="1" spc="-4" baseline="3220" dirty="0" smtClean="0">
                <a:latin typeface="Times New Roman"/>
                <a:cs typeface="Times New Roman"/>
              </a:rPr>
              <a:t>n</a:t>
            </a:r>
            <a:r>
              <a:rPr sz="1350" b="1" spc="0" baseline="3220" dirty="0" smtClean="0">
                <a:latin typeface="Times New Roman"/>
                <a:cs typeface="Times New Roman"/>
              </a:rPr>
              <a:t>t</a:t>
            </a:r>
            <a:r>
              <a:rPr sz="1350" b="1" spc="4" baseline="3220" dirty="0" smtClean="0">
                <a:latin typeface="Times New Roman"/>
                <a:cs typeface="Times New Roman"/>
              </a:rPr>
              <a:t> </a:t>
            </a:r>
            <a:r>
              <a:rPr sz="1350" b="1" spc="-4" baseline="3220" dirty="0" smtClean="0">
                <a:latin typeface="Times New Roman"/>
                <a:cs typeface="Times New Roman"/>
              </a:rPr>
              <a:t>n</a:t>
            </a:r>
            <a:r>
              <a:rPr sz="1350" b="1" spc="0" baseline="3220" dirty="0" smtClean="0">
                <a:latin typeface="Times New Roman"/>
                <a:cs typeface="Times New Roman"/>
              </a:rPr>
              <a:t>ormă</a:t>
            </a:r>
            <a:r>
              <a:rPr sz="1350" b="1" spc="-4" baseline="3220" dirty="0" smtClean="0">
                <a:latin typeface="Times New Roman"/>
                <a:cs typeface="Times New Roman"/>
              </a:rPr>
              <a:t> </a:t>
            </a:r>
            <a:r>
              <a:rPr sz="1350" b="1" spc="0" baseline="3220" dirty="0" smtClean="0">
                <a:latin typeface="Times New Roman"/>
                <a:cs typeface="Times New Roman"/>
              </a:rPr>
              <a:t>înt</a:t>
            </a:r>
            <a:r>
              <a:rPr sz="1350" b="1" spc="-4" baseline="3220" dirty="0" smtClean="0">
                <a:latin typeface="Times New Roman"/>
                <a:cs typeface="Times New Roman"/>
              </a:rPr>
              <a:t>r</a:t>
            </a:r>
            <a:r>
              <a:rPr sz="1350" b="1" spc="0" baseline="3220" dirty="0" smtClean="0">
                <a:latin typeface="Times New Roman"/>
                <a:cs typeface="Times New Roman"/>
              </a:rPr>
              <a:t>eagă</a:t>
            </a:r>
            <a:endParaRPr sz="900">
              <a:latin typeface="Times New Roman"/>
              <a:cs typeface="Times New Roman"/>
            </a:endParaRPr>
          </a:p>
          <a:p>
            <a:pPr marL="523113">
              <a:lnSpc>
                <a:spcPts val="1075"/>
              </a:lnSpc>
              <a:spcBef>
                <a:spcPts val="5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program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echivalent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nor</a:t>
            </a:r>
            <a:r>
              <a:rPr sz="900" b="1" spc="-4" dirty="0" smtClean="0">
                <a:latin typeface="Times New Roman"/>
                <a:cs typeface="Times New Roman"/>
              </a:rPr>
              <a:t>m</a:t>
            </a:r>
            <a:r>
              <a:rPr sz="900" b="1" spc="0" dirty="0" smtClean="0">
                <a:latin typeface="Times New Roman"/>
                <a:cs typeface="Times New Roman"/>
              </a:rPr>
              <a:t>ă                                                              </a:t>
            </a:r>
            <a:r>
              <a:rPr sz="900" b="1" spc="175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Perso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al cu st</a:t>
            </a:r>
            <a:r>
              <a:rPr sz="900" b="1" spc="-4" dirty="0" smtClean="0">
                <a:latin typeface="Times New Roman"/>
                <a:cs typeface="Times New Roman"/>
              </a:rPr>
              <a:t>ud</a:t>
            </a:r>
            <a:r>
              <a:rPr sz="900" b="1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1099248" marR="1050865" algn="ctr">
              <a:lnSpc>
                <a:spcPct val="95825"/>
              </a:lnSpc>
              <a:spcBef>
                <a:spcPts val="118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18                 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989                      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712                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33</a:t>
            </a:r>
            <a:endParaRPr sz="900">
              <a:latin typeface="Times New Roman"/>
              <a:cs typeface="Times New Roman"/>
            </a:endParaRPr>
          </a:p>
          <a:p>
            <a:pPr marL="374522">
              <a:lnSpc>
                <a:spcPct val="95825"/>
              </a:lnSpc>
              <a:spcBef>
                <a:spcPts val="276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Surse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finan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ia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ant</a:t>
            </a:r>
            <a:r>
              <a:rPr sz="900" b="1" spc="4" dirty="0" smtClean="0">
                <a:latin typeface="Times New Roman"/>
                <a:cs typeface="Times New Roman"/>
              </a:rPr>
              <a:t>re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ate în</a:t>
            </a:r>
            <a:r>
              <a:rPr sz="900" b="1" spc="-4" dirty="0" smtClean="0">
                <a:latin typeface="Times New Roman"/>
                <a:cs typeface="Times New Roman"/>
              </a:rPr>
              <a:t> </a:t>
            </a:r>
            <a:r>
              <a:rPr sz="900" b="1" spc="4" dirty="0" smtClean="0">
                <a:latin typeface="Times New Roman"/>
                <a:cs typeface="Times New Roman"/>
              </a:rPr>
              <a:t>re</a:t>
            </a:r>
            <a:r>
              <a:rPr sz="900" b="1" spc="0" dirty="0" smtClean="0">
                <a:latin typeface="Times New Roman"/>
                <a:cs typeface="Times New Roman"/>
              </a:rPr>
              <a:t>ali</a:t>
            </a:r>
            <a:r>
              <a:rPr sz="900" b="1" spc="-9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a</a:t>
            </a:r>
            <a:r>
              <a:rPr sz="900" b="1" spc="4" dirty="0" smtClean="0">
                <a:latin typeface="Times New Roman"/>
                <a:cs typeface="Times New Roman"/>
              </a:rPr>
              <a:t>re</a:t>
            </a:r>
            <a:r>
              <a:rPr sz="900" b="1" spc="0" dirty="0" smtClean="0">
                <a:latin typeface="Times New Roman"/>
                <a:cs typeface="Times New Roman"/>
              </a:rPr>
              <a:t>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og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amului:</a:t>
            </a:r>
            <a:endParaRPr sz="900">
              <a:latin typeface="Times New Roman"/>
              <a:cs typeface="Times New Roman"/>
            </a:endParaRPr>
          </a:p>
          <a:p>
            <a:pPr marL="4756023" marR="369600" indent="1256541">
              <a:lnSpc>
                <a:spcPts val="1034"/>
              </a:lnSpc>
              <a:spcBef>
                <a:spcPts val="126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mii</a:t>
            </a:r>
            <a:r>
              <a:rPr sz="900" b="1" spc="-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lei </a:t>
            </a:r>
            <a:endParaRPr sz="900">
              <a:latin typeface="Times New Roman"/>
              <a:cs typeface="Times New Roman"/>
            </a:endParaRPr>
          </a:p>
          <a:p>
            <a:pPr marL="4756023" marR="369600">
              <a:lnSpc>
                <a:spcPts val="1034"/>
              </a:lnSpc>
              <a:spcBef>
                <a:spcPts val="494"/>
              </a:spcBef>
            </a:pPr>
            <a:r>
              <a:rPr sz="900" b="1" spc="-4" dirty="0" smtClean="0">
                <a:latin typeface="Times New Roman"/>
                <a:cs typeface="Times New Roman"/>
              </a:rPr>
              <a:t>d</a:t>
            </a:r>
            <a:r>
              <a:rPr sz="900" b="1" spc="0" dirty="0" smtClean="0">
                <a:latin typeface="Times New Roman"/>
                <a:cs typeface="Times New Roman"/>
              </a:rPr>
              <a:t>in care:</a:t>
            </a:r>
            <a:endParaRPr sz="900">
              <a:latin typeface="Times New Roman"/>
              <a:cs typeface="Times New Roman"/>
            </a:endParaRPr>
          </a:p>
          <a:p>
            <a:pPr marL="3992499">
              <a:lnSpc>
                <a:spcPct val="95825"/>
              </a:lnSpc>
              <a:spcBef>
                <a:spcPts val="66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Buget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tarif               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Buget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proiecte</a:t>
            </a:r>
            <a:endParaRPr sz="900">
              <a:latin typeface="Times New Roman"/>
              <a:cs typeface="Times New Roman"/>
            </a:endParaRPr>
          </a:p>
          <a:p>
            <a:pPr marL="645687" marR="702608" algn="ctr">
              <a:lnSpc>
                <a:spcPts val="1538"/>
              </a:lnSpc>
              <a:spcBef>
                <a:spcPts val="919"/>
              </a:spcBef>
            </a:pPr>
            <a:r>
              <a:rPr sz="1350" b="1" spc="0" baseline="32208" dirty="0" smtClean="0">
                <a:latin typeface="Times New Roman"/>
                <a:cs typeface="Times New Roman"/>
              </a:rPr>
              <a:t>Sume</a:t>
            </a:r>
            <a:r>
              <a:rPr sz="1350" b="1" spc="4" baseline="32208" dirty="0" smtClean="0">
                <a:latin typeface="Times New Roman"/>
                <a:cs typeface="Times New Roman"/>
              </a:rPr>
              <a:t> r</a:t>
            </a:r>
            <a:r>
              <a:rPr sz="1350" b="1" spc="0" baseline="32208" dirty="0" smtClean="0">
                <a:latin typeface="Times New Roman"/>
                <a:cs typeface="Times New Roman"/>
              </a:rPr>
              <a:t>ămase în sold                               </a:t>
            </a:r>
            <a:r>
              <a:rPr sz="1350" b="1" spc="74" baseline="32208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791.918,83              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0,00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791.918,83</a:t>
            </a:r>
            <a:endParaRPr sz="900">
              <a:latin typeface="Times New Roman"/>
              <a:cs typeface="Times New Roman"/>
            </a:endParaRPr>
          </a:p>
          <a:p>
            <a:pPr marL="635781" marR="702604" algn="ctr">
              <a:lnSpc>
                <a:spcPts val="1538"/>
              </a:lnSpc>
              <a:spcBef>
                <a:spcPts val="1261"/>
              </a:spcBef>
            </a:pPr>
            <a:r>
              <a:rPr sz="1350" b="1" spc="0" baseline="32208" dirty="0" smtClean="0">
                <a:latin typeface="Times New Roman"/>
                <a:cs typeface="Times New Roman"/>
              </a:rPr>
              <a:t>Sume</a:t>
            </a:r>
            <a:r>
              <a:rPr sz="1350" b="1" spc="4" baseline="32208" dirty="0" smtClean="0">
                <a:latin typeface="Times New Roman"/>
                <a:cs typeface="Times New Roman"/>
              </a:rPr>
              <a:t> </a:t>
            </a:r>
            <a:r>
              <a:rPr sz="1350" b="1" spc="0" baseline="32208" dirty="0" smtClean="0">
                <a:latin typeface="Times New Roman"/>
                <a:cs typeface="Times New Roman"/>
              </a:rPr>
              <a:t>vi</a:t>
            </a:r>
            <a:r>
              <a:rPr sz="1350" b="1" spc="4" baseline="32208" dirty="0" smtClean="0">
                <a:latin typeface="Times New Roman"/>
                <a:cs typeface="Times New Roman"/>
              </a:rPr>
              <a:t>r</a:t>
            </a:r>
            <a:r>
              <a:rPr sz="1350" b="1" spc="0" baseline="32208" dirty="0" smtClean="0">
                <a:latin typeface="Times New Roman"/>
                <a:cs typeface="Times New Roman"/>
              </a:rPr>
              <a:t>ate de</a:t>
            </a:r>
            <a:r>
              <a:rPr sz="1350" b="1" spc="4" baseline="32208" dirty="0" smtClean="0">
                <a:latin typeface="Times New Roman"/>
                <a:cs typeface="Times New Roman"/>
              </a:rPr>
              <a:t> </a:t>
            </a:r>
            <a:r>
              <a:rPr sz="1350" b="1" spc="0" baseline="32208" dirty="0" smtClean="0">
                <a:latin typeface="Times New Roman"/>
                <a:cs typeface="Times New Roman"/>
              </a:rPr>
              <a:t>MEC                          </a:t>
            </a:r>
            <a:r>
              <a:rPr sz="1350" b="1" spc="9" baseline="32208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69.071.88</a:t>
            </a:r>
            <a:r>
              <a:rPr sz="900" spc="-4" dirty="0" smtClean="0">
                <a:latin typeface="Times New Roman"/>
                <a:cs typeface="Times New Roman"/>
              </a:rPr>
              <a:t>0</a:t>
            </a:r>
            <a:r>
              <a:rPr sz="900" spc="0" dirty="0" smtClean="0">
                <a:latin typeface="Times New Roman"/>
                <a:cs typeface="Times New Roman"/>
              </a:rPr>
              <a:t>,54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3.231.70</a:t>
            </a:r>
            <a:r>
              <a:rPr sz="900" spc="-4" dirty="0" smtClean="0">
                <a:latin typeface="Times New Roman"/>
                <a:cs typeface="Times New Roman"/>
              </a:rPr>
              <a:t>7</a:t>
            </a:r>
            <a:r>
              <a:rPr sz="900" spc="0" dirty="0" smtClean="0">
                <a:latin typeface="Times New Roman"/>
                <a:cs typeface="Times New Roman"/>
              </a:rPr>
              <a:t>,00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65.840.17</a:t>
            </a:r>
            <a:r>
              <a:rPr sz="900" spc="-4" dirty="0" smtClean="0">
                <a:latin typeface="Times New Roman"/>
                <a:cs typeface="Times New Roman"/>
              </a:rPr>
              <a:t>3</a:t>
            </a:r>
            <a:r>
              <a:rPr sz="900" spc="0" dirty="0" smtClean="0">
                <a:latin typeface="Times New Roman"/>
                <a:cs typeface="Times New Roman"/>
              </a:rPr>
              <a:t>,54</a:t>
            </a:r>
            <a:endParaRPr sz="900">
              <a:latin typeface="Times New Roman"/>
              <a:cs typeface="Times New Roman"/>
            </a:endParaRPr>
          </a:p>
          <a:p>
            <a:pPr marL="815022" marR="707348" algn="ctr">
              <a:lnSpc>
                <a:spcPct val="95825"/>
              </a:lnSpc>
              <a:spcBef>
                <a:spcPts val="170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Total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venituri                                </a:t>
            </a:r>
            <a:r>
              <a:rPr sz="900" b="1" spc="3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69.863.79</a:t>
            </a:r>
            <a:r>
              <a:rPr sz="900" b="1" spc="-4" dirty="0" smtClean="0">
                <a:latin typeface="Times New Roman"/>
                <a:cs typeface="Times New Roman"/>
              </a:rPr>
              <a:t>9</a:t>
            </a:r>
            <a:r>
              <a:rPr sz="900" b="1" spc="0" dirty="0" smtClean="0">
                <a:latin typeface="Times New Roman"/>
                <a:cs typeface="Times New Roman"/>
              </a:rPr>
              <a:t>,37                              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3.231.70</a:t>
            </a:r>
            <a:r>
              <a:rPr sz="900" b="1" spc="-4" dirty="0" smtClean="0">
                <a:latin typeface="Times New Roman"/>
                <a:cs typeface="Times New Roman"/>
              </a:rPr>
              <a:t>7</a:t>
            </a:r>
            <a:r>
              <a:rPr sz="900" b="1" spc="0" dirty="0" smtClean="0">
                <a:latin typeface="Times New Roman"/>
                <a:cs typeface="Times New Roman"/>
              </a:rPr>
              <a:t>,00                       </a:t>
            </a:r>
            <a:r>
              <a:rPr sz="900" b="1" spc="220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66.632.09</a:t>
            </a:r>
            <a:r>
              <a:rPr sz="900" b="1" spc="-4" dirty="0" smtClean="0">
                <a:latin typeface="Times New Roman"/>
                <a:cs typeface="Times New Roman"/>
              </a:rPr>
              <a:t>2</a:t>
            </a:r>
            <a:r>
              <a:rPr sz="900" b="1" spc="0" dirty="0" smtClean="0">
                <a:latin typeface="Times New Roman"/>
                <a:cs typeface="Times New Roman"/>
              </a:rPr>
              <a:t>,37</a:t>
            </a:r>
            <a:endParaRPr sz="900">
              <a:latin typeface="Times New Roman"/>
              <a:cs typeface="Times New Roman"/>
            </a:endParaRPr>
          </a:p>
          <a:p>
            <a:pPr marL="564153" marR="702604" algn="ctr">
              <a:lnSpc>
                <a:spcPts val="1538"/>
              </a:lnSpc>
              <a:spcBef>
                <a:spcPts val="1585"/>
              </a:spcBef>
            </a:pPr>
            <a:r>
              <a:rPr sz="1350" b="1" spc="0" baseline="32208" dirty="0" smtClean="0">
                <a:latin typeface="Times New Roman"/>
                <a:cs typeface="Times New Roman"/>
              </a:rPr>
              <a:t>Plăţi ale </a:t>
            </a:r>
            <a:r>
              <a:rPr sz="1350" b="1" spc="4" baseline="32208" dirty="0" smtClean="0">
                <a:latin typeface="Times New Roman"/>
                <a:cs typeface="Times New Roman"/>
              </a:rPr>
              <a:t>c</a:t>
            </a:r>
            <a:r>
              <a:rPr sz="1350" b="1" spc="0" baseline="32208" dirty="0" smtClean="0">
                <a:latin typeface="Times New Roman"/>
                <a:cs typeface="Times New Roman"/>
              </a:rPr>
              <a:t>ondu</a:t>
            </a:r>
            <a:r>
              <a:rPr sz="1350" b="1" spc="4" baseline="32208" dirty="0" smtClean="0">
                <a:latin typeface="Times New Roman"/>
                <a:cs typeface="Times New Roman"/>
              </a:rPr>
              <a:t>c</a:t>
            </a:r>
            <a:r>
              <a:rPr sz="1350" b="1" spc="0" baseline="32208" dirty="0" smtClean="0">
                <a:latin typeface="Times New Roman"/>
                <a:cs typeface="Times New Roman"/>
              </a:rPr>
              <a:t>ătorului                       </a:t>
            </a:r>
            <a:r>
              <a:rPr sz="1350" b="1" spc="120" baseline="32208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68.798.87</a:t>
            </a:r>
            <a:r>
              <a:rPr sz="900" spc="-4" dirty="0" smtClean="0">
                <a:latin typeface="Times New Roman"/>
                <a:cs typeface="Times New Roman"/>
              </a:rPr>
              <a:t>6</a:t>
            </a:r>
            <a:r>
              <a:rPr sz="900" spc="0" dirty="0" smtClean="0">
                <a:latin typeface="Times New Roman"/>
                <a:cs typeface="Times New Roman"/>
              </a:rPr>
              <a:t>,33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3.231.70</a:t>
            </a:r>
            <a:r>
              <a:rPr sz="900" spc="-4" dirty="0" smtClean="0">
                <a:latin typeface="Times New Roman"/>
                <a:cs typeface="Times New Roman"/>
              </a:rPr>
              <a:t>7</a:t>
            </a:r>
            <a:r>
              <a:rPr sz="900" spc="0" dirty="0" smtClean="0">
                <a:latin typeface="Times New Roman"/>
                <a:cs typeface="Times New Roman"/>
              </a:rPr>
              <a:t>,00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65.567.16</a:t>
            </a:r>
            <a:r>
              <a:rPr sz="900" spc="-4" dirty="0" smtClean="0">
                <a:latin typeface="Times New Roman"/>
                <a:cs typeface="Times New Roman"/>
              </a:rPr>
              <a:t>9</a:t>
            </a:r>
            <a:r>
              <a:rPr sz="900" spc="0" dirty="0" smtClean="0">
                <a:latin typeface="Times New Roman"/>
                <a:cs typeface="Times New Roman"/>
              </a:rPr>
              <a:t>,33</a:t>
            </a:r>
            <a:endParaRPr sz="900">
              <a:latin typeface="Times New Roman"/>
              <a:cs typeface="Times New Roman"/>
            </a:endParaRPr>
          </a:p>
          <a:p>
            <a:pPr marL="645629" marR="702551" algn="ctr">
              <a:lnSpc>
                <a:spcPts val="1538"/>
              </a:lnSpc>
              <a:spcBef>
                <a:spcPts val="1609"/>
              </a:spcBef>
            </a:pPr>
            <a:r>
              <a:rPr sz="1350" b="1" spc="0" baseline="32208" dirty="0" smtClean="0">
                <a:latin typeface="Times New Roman"/>
                <a:cs typeface="Times New Roman"/>
              </a:rPr>
              <a:t>Sume</a:t>
            </a:r>
            <a:r>
              <a:rPr sz="1350" b="1" spc="4" baseline="32208" dirty="0" smtClean="0">
                <a:latin typeface="Times New Roman"/>
                <a:cs typeface="Times New Roman"/>
              </a:rPr>
              <a:t> r</a:t>
            </a:r>
            <a:r>
              <a:rPr sz="1350" b="1" spc="0" baseline="32208" dirty="0" smtClean="0">
                <a:latin typeface="Times New Roman"/>
                <a:cs typeface="Times New Roman"/>
              </a:rPr>
              <a:t>ămase în sold                               </a:t>
            </a:r>
            <a:r>
              <a:rPr sz="1350" b="1" spc="74" baseline="32208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273.004,22              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0,00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273.004,22</a:t>
            </a:r>
            <a:endParaRPr sz="900">
              <a:latin typeface="Times New Roman"/>
              <a:cs typeface="Times New Roman"/>
            </a:endParaRPr>
          </a:p>
          <a:p>
            <a:pPr marL="2733929" marR="2749118" algn="ctr">
              <a:lnSpc>
                <a:spcPct val="95825"/>
              </a:lnSpc>
              <a:spcBef>
                <a:spcPts val="6113"/>
              </a:spcBef>
            </a:pPr>
            <a:r>
              <a:rPr sz="1200" b="1" i="1" spc="0" dirty="0" smtClean="0">
                <a:latin typeface="Times New Roman"/>
                <a:cs typeface="Times New Roman"/>
              </a:rPr>
              <a:t>Indicato</a:t>
            </a:r>
            <a:r>
              <a:rPr sz="1200" b="1" i="1" spc="-4" dirty="0" smtClean="0">
                <a:latin typeface="Times New Roman"/>
                <a:cs typeface="Times New Roman"/>
              </a:rPr>
              <a:t>r</a:t>
            </a:r>
            <a:r>
              <a:rPr sz="1200" b="1" i="1" spc="0" dirty="0" smtClean="0">
                <a:latin typeface="Times New Roman"/>
                <a:cs typeface="Times New Roman"/>
              </a:rPr>
              <a:t>i re</a:t>
            </a:r>
            <a:r>
              <a:rPr sz="1200" b="1" i="1" spc="-4" dirty="0" smtClean="0">
                <a:latin typeface="Times New Roman"/>
                <a:cs typeface="Times New Roman"/>
              </a:rPr>
              <a:t>a</a:t>
            </a:r>
            <a:r>
              <a:rPr sz="1200" b="1" i="1" spc="0" dirty="0" smtClean="0">
                <a:latin typeface="Times New Roman"/>
                <a:cs typeface="Times New Roman"/>
              </a:rPr>
              <a:t>liz</a:t>
            </a:r>
            <a:r>
              <a:rPr sz="1200" b="1" i="1" spc="-4" dirty="0" smtClean="0">
                <a:latin typeface="Times New Roman"/>
                <a:cs typeface="Times New Roman"/>
              </a:rPr>
              <a:t>a</a:t>
            </a:r>
            <a:r>
              <a:rPr sz="1200" b="1" i="1" spc="4" dirty="0" smtClean="0">
                <a:latin typeface="Times New Roman"/>
                <a:cs typeface="Times New Roman"/>
              </a:rPr>
              <a:t>ţ</a:t>
            </a:r>
            <a:r>
              <a:rPr sz="1200" b="1" i="1" spc="0" dirty="0" smtClean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  <a:p>
            <a:pPr marL="1321688">
              <a:lnSpc>
                <a:spcPct val="95825"/>
              </a:lnSpc>
              <a:spcBef>
                <a:spcPts val="292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Nr.                                                                                                                 N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de indi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ato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1352994" marR="1479315" algn="ctr">
              <a:lnSpc>
                <a:spcPct val="95825"/>
              </a:lnSpc>
              <a:spcBef>
                <a:spcPts val="1413"/>
              </a:spcBef>
            </a:pPr>
            <a:r>
              <a:rPr sz="900" spc="0" dirty="0" smtClean="0">
                <a:latin typeface="Times New Roman"/>
                <a:cs typeface="Times New Roman"/>
              </a:rPr>
              <a:t>1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Articole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publicate                                                                     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161</a:t>
            </a:r>
            <a:endParaRPr sz="900">
              <a:latin typeface="Times New Roman"/>
              <a:cs typeface="Times New Roman"/>
            </a:endParaRPr>
          </a:p>
          <a:p>
            <a:pPr marL="1352994" marR="1536636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Baze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date                                                                                  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352994" marR="1450911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                                                                     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2157</a:t>
            </a:r>
            <a:endParaRPr sz="900">
              <a:latin typeface="Times New Roman"/>
              <a:cs typeface="Times New Roman"/>
            </a:endParaRPr>
          </a:p>
          <a:p>
            <a:pPr marL="1352994" marR="1450740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4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înce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care                                                                     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1088</a:t>
            </a:r>
            <a:endParaRPr sz="900">
              <a:latin typeface="Times New Roman"/>
              <a:cs typeface="Times New Roman"/>
            </a:endParaRPr>
          </a:p>
          <a:p>
            <a:pPr marL="1352994" marR="1450842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5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sur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     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7578</a:t>
            </a:r>
            <a:endParaRPr sz="900">
              <a:latin typeface="Times New Roman"/>
              <a:cs typeface="Times New Roman"/>
            </a:endParaRPr>
          </a:p>
          <a:p>
            <a:pPr marL="1352994" marR="1479326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6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   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149</a:t>
            </a:r>
            <a:endParaRPr sz="900">
              <a:latin typeface="Times New Roman"/>
              <a:cs typeface="Times New Roman"/>
            </a:endParaRPr>
          </a:p>
          <a:p>
            <a:pPr marL="1352994" marR="1536487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7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Caie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                   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  <a:p>
            <a:pPr marL="1352994" marR="1508015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8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CD-uri                                                                        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14</a:t>
            </a:r>
            <a:endParaRPr sz="900">
              <a:latin typeface="Times New Roman"/>
              <a:cs typeface="Times New Roman"/>
            </a:endParaRPr>
          </a:p>
          <a:p>
            <a:pPr marL="1352994" marR="1536979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9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Cerere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bre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et inve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                                                         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10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Certif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de confor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                                   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324800" marR="1479257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11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Combina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hibri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       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300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12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Comunic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                                                                                        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4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13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Demonstr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rimental                                                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9</a:t>
            </a:r>
            <a:endParaRPr sz="900">
              <a:latin typeface="Times New Roman"/>
              <a:cs typeface="Times New Roman"/>
            </a:endParaRPr>
          </a:p>
          <a:p>
            <a:pPr marL="1324800" marR="1507284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15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tehnice                                                 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99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16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Linii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tehnologice                                                                            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17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Loturi de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onstrati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18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Manuale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prezentare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</a:t>
            </a:r>
            <a:r>
              <a:rPr sz="900" spc="-9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hn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19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Manuale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utilizare                                                                          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  <a:p>
            <a:pPr marL="1324800" marR="1508232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20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Modele expe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imentale                                                                                </a:t>
            </a:r>
            <a:r>
              <a:rPr sz="900" spc="1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55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21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lanuri  de a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ace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        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34607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22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Pliante                                                                         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324800" marR="1508061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23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Proceduri                                                                                         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23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3263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object 192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700783" y="799719"/>
            <a:ext cx="467106" cy="0"/>
          </a:xfrm>
          <a:custGeom>
            <a:avLst/>
            <a:gdLst/>
            <a:ahLst/>
            <a:cxnLst/>
            <a:rect l="l" t="t" r="r" b="b"/>
            <a:pathLst>
              <a:path w="467106">
                <a:moveTo>
                  <a:pt x="0" y="0"/>
                </a:moveTo>
                <a:lnTo>
                  <a:pt x="46710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167890" y="799719"/>
            <a:ext cx="2857500" cy="0"/>
          </a:xfrm>
          <a:custGeom>
            <a:avLst/>
            <a:gdLst/>
            <a:ahLst/>
            <a:cxnLst/>
            <a:rect l="l" t="t" r="r" b="b"/>
            <a:pathLst>
              <a:path w="2857500">
                <a:moveTo>
                  <a:pt x="0" y="0"/>
                </a:moveTo>
                <a:lnTo>
                  <a:pt x="28575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025390" y="79971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053584" y="799719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1728977" y="950214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177034" y="950214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034534" y="950214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728977" y="1091183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2177034" y="1091183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034534" y="1091183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728977" y="1232153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2177034" y="1232153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5034534" y="1232153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728977" y="1373124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2177034" y="1373124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034534" y="1373124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728977" y="1514094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177034" y="1514094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034534" y="1514094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728977" y="1655064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2177034" y="1655064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5034534" y="1655064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728977" y="1795272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2177034" y="1795272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034534" y="1795272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728977" y="1936242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2177034" y="1936242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034534" y="1936242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728977" y="2077212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2177034" y="2077212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034534" y="2077212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1728977" y="2218181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2177034" y="2218181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5034534" y="2218181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728977" y="2359152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2177034" y="2359152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034534" y="2359152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728977" y="2500122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177034" y="2500122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5034534" y="2500122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728977" y="2641092"/>
            <a:ext cx="438912" cy="0"/>
          </a:xfrm>
          <a:custGeom>
            <a:avLst/>
            <a:gdLst/>
            <a:ahLst/>
            <a:cxnLst/>
            <a:rect l="l" t="t" r="r" b="b"/>
            <a:pathLst>
              <a:path w="438912">
                <a:moveTo>
                  <a:pt x="0" y="0"/>
                </a:moveTo>
                <a:lnTo>
                  <a:pt x="43891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2177034" y="2641092"/>
            <a:ext cx="2848356" cy="0"/>
          </a:xfrm>
          <a:custGeom>
            <a:avLst/>
            <a:gdLst/>
            <a:ahLst/>
            <a:cxnLst/>
            <a:rect l="l" t="t" r="r" b="b"/>
            <a:pathLst>
              <a:path w="2848356">
                <a:moveTo>
                  <a:pt x="0" y="0"/>
                </a:moveTo>
                <a:lnTo>
                  <a:pt x="28483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5034534" y="2641092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>
                <a:moveTo>
                  <a:pt x="0" y="0"/>
                </a:moveTo>
                <a:lnTo>
                  <a:pt x="12382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1714880" y="786002"/>
            <a:ext cx="0" cy="2018919"/>
          </a:xfrm>
          <a:custGeom>
            <a:avLst/>
            <a:gdLst/>
            <a:ahLst/>
            <a:cxnLst/>
            <a:rect l="l" t="t" r="r" b="b"/>
            <a:pathLst>
              <a:path h="2018919">
                <a:moveTo>
                  <a:pt x="0" y="0"/>
                </a:moveTo>
                <a:lnTo>
                  <a:pt x="0" y="2018919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700783" y="2790825"/>
            <a:ext cx="467106" cy="0"/>
          </a:xfrm>
          <a:custGeom>
            <a:avLst/>
            <a:gdLst/>
            <a:ahLst/>
            <a:cxnLst/>
            <a:rect l="l" t="t" r="r" b="b"/>
            <a:pathLst>
              <a:path w="467106">
                <a:moveTo>
                  <a:pt x="0" y="0"/>
                </a:moveTo>
                <a:lnTo>
                  <a:pt x="46710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2172462" y="809625"/>
            <a:ext cx="0" cy="1967102"/>
          </a:xfrm>
          <a:custGeom>
            <a:avLst/>
            <a:gdLst/>
            <a:ahLst/>
            <a:cxnLst/>
            <a:rect l="l" t="t" r="r" b="b"/>
            <a:pathLst>
              <a:path h="1967102">
                <a:moveTo>
                  <a:pt x="0" y="0"/>
                </a:moveTo>
                <a:lnTo>
                  <a:pt x="0" y="1967102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167890" y="2790825"/>
            <a:ext cx="2857500" cy="0"/>
          </a:xfrm>
          <a:custGeom>
            <a:avLst/>
            <a:gdLst/>
            <a:ahLst/>
            <a:cxnLst/>
            <a:rect l="l" t="t" r="r" b="b"/>
            <a:pathLst>
              <a:path w="2857500">
                <a:moveTo>
                  <a:pt x="0" y="0"/>
                </a:moveTo>
                <a:lnTo>
                  <a:pt x="28575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5029962" y="809625"/>
            <a:ext cx="0" cy="1967102"/>
          </a:xfrm>
          <a:custGeom>
            <a:avLst/>
            <a:gdLst/>
            <a:ahLst/>
            <a:cxnLst/>
            <a:rect l="l" t="t" r="r" b="b"/>
            <a:pathLst>
              <a:path h="1967102">
                <a:moveTo>
                  <a:pt x="0" y="0"/>
                </a:moveTo>
                <a:lnTo>
                  <a:pt x="0" y="1967102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5025390" y="2790825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5053584" y="2790825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6286881" y="785622"/>
            <a:ext cx="0" cy="2019300"/>
          </a:xfrm>
          <a:custGeom>
            <a:avLst/>
            <a:gdLst/>
            <a:ahLst/>
            <a:cxnLst/>
            <a:rect l="l" t="t" r="r" b="b"/>
            <a:pathLst>
              <a:path h="2019300">
                <a:moveTo>
                  <a:pt x="0" y="0"/>
                </a:moveTo>
                <a:lnTo>
                  <a:pt x="0" y="201930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317492" y="3156966"/>
            <a:ext cx="2557271" cy="175259"/>
          </a:xfrm>
          <a:custGeom>
            <a:avLst/>
            <a:gdLst/>
            <a:ahLst/>
            <a:cxnLst/>
            <a:rect l="l" t="t" r="r" b="b"/>
            <a:pathLst>
              <a:path w="2557271" h="175259">
                <a:moveTo>
                  <a:pt x="0" y="175259"/>
                </a:moveTo>
                <a:lnTo>
                  <a:pt x="2557271" y="175259"/>
                </a:lnTo>
                <a:lnTo>
                  <a:pt x="2557271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896112" y="3156966"/>
            <a:ext cx="2557272" cy="175259"/>
          </a:xfrm>
          <a:custGeom>
            <a:avLst/>
            <a:gdLst/>
            <a:ahLst/>
            <a:cxnLst/>
            <a:rect l="l" t="t" r="r" b="b"/>
            <a:pathLst>
              <a:path w="2557272" h="175259">
                <a:moveTo>
                  <a:pt x="0" y="175259"/>
                </a:moveTo>
                <a:lnTo>
                  <a:pt x="2557272" y="175259"/>
                </a:lnTo>
                <a:lnTo>
                  <a:pt x="2557272" y="0"/>
                </a:lnTo>
                <a:lnTo>
                  <a:pt x="0" y="0"/>
                </a:lnTo>
                <a:lnTo>
                  <a:pt x="0" y="175259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453384" y="3156966"/>
            <a:ext cx="864108" cy="175259"/>
          </a:xfrm>
          <a:custGeom>
            <a:avLst/>
            <a:gdLst/>
            <a:ahLst/>
            <a:cxnLst/>
            <a:rect l="l" t="t" r="r" b="b"/>
            <a:pathLst>
              <a:path w="864108" h="175259">
                <a:moveTo>
                  <a:pt x="0" y="0"/>
                </a:moveTo>
                <a:lnTo>
                  <a:pt x="0" y="175259"/>
                </a:lnTo>
                <a:lnTo>
                  <a:pt x="864108" y="175259"/>
                </a:lnTo>
                <a:lnTo>
                  <a:pt x="86410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28878" y="3535679"/>
            <a:ext cx="1152144" cy="197358"/>
          </a:xfrm>
          <a:custGeom>
            <a:avLst/>
            <a:gdLst/>
            <a:ahLst/>
            <a:cxnLst/>
            <a:rect l="l" t="t" r="r" b="b"/>
            <a:pathLst>
              <a:path w="1152144" h="197358">
                <a:moveTo>
                  <a:pt x="0" y="0"/>
                </a:moveTo>
                <a:lnTo>
                  <a:pt x="0" y="197358"/>
                </a:lnTo>
                <a:lnTo>
                  <a:pt x="1152144" y="197358"/>
                </a:lnTo>
                <a:lnTo>
                  <a:pt x="115214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28878" y="3733038"/>
            <a:ext cx="1152144" cy="131825"/>
          </a:xfrm>
          <a:custGeom>
            <a:avLst/>
            <a:gdLst/>
            <a:ahLst/>
            <a:cxnLst/>
            <a:rect l="l" t="t" r="r" b="b"/>
            <a:pathLst>
              <a:path w="1152144" h="131825">
                <a:moveTo>
                  <a:pt x="0" y="0"/>
                </a:moveTo>
                <a:lnTo>
                  <a:pt x="0" y="131825"/>
                </a:lnTo>
                <a:lnTo>
                  <a:pt x="1152144" y="131825"/>
                </a:lnTo>
                <a:lnTo>
                  <a:pt x="115214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28878" y="3864864"/>
            <a:ext cx="1152144" cy="64770"/>
          </a:xfrm>
          <a:custGeom>
            <a:avLst/>
            <a:gdLst/>
            <a:ahLst/>
            <a:cxnLst/>
            <a:rect l="l" t="t" r="r" b="b"/>
            <a:pathLst>
              <a:path w="1152144" h="64770">
                <a:moveTo>
                  <a:pt x="0" y="0"/>
                </a:moveTo>
                <a:lnTo>
                  <a:pt x="0" y="64770"/>
                </a:lnTo>
                <a:lnTo>
                  <a:pt x="1152144" y="64770"/>
                </a:lnTo>
                <a:lnTo>
                  <a:pt x="115214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090166" y="3535679"/>
            <a:ext cx="1906524" cy="262889"/>
          </a:xfrm>
          <a:custGeom>
            <a:avLst/>
            <a:gdLst/>
            <a:ahLst/>
            <a:cxnLst/>
            <a:rect l="l" t="t" r="r" b="b"/>
            <a:pathLst>
              <a:path w="1906524" h="262889">
                <a:moveTo>
                  <a:pt x="0" y="0"/>
                </a:moveTo>
                <a:lnTo>
                  <a:pt x="0" y="262889"/>
                </a:lnTo>
                <a:lnTo>
                  <a:pt x="1906524" y="262889"/>
                </a:lnTo>
                <a:lnTo>
                  <a:pt x="19065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090166" y="3798570"/>
            <a:ext cx="1906524" cy="131063"/>
          </a:xfrm>
          <a:custGeom>
            <a:avLst/>
            <a:gdLst/>
            <a:ahLst/>
            <a:cxnLst/>
            <a:rect l="l" t="t" r="r" b="b"/>
            <a:pathLst>
              <a:path w="1906524" h="131063">
                <a:moveTo>
                  <a:pt x="0" y="0"/>
                </a:moveTo>
                <a:lnTo>
                  <a:pt x="0" y="131063"/>
                </a:lnTo>
                <a:lnTo>
                  <a:pt x="1906524" y="131063"/>
                </a:lnTo>
                <a:lnTo>
                  <a:pt x="19065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005834" y="3535679"/>
            <a:ext cx="1019556" cy="131825"/>
          </a:xfrm>
          <a:custGeom>
            <a:avLst/>
            <a:gdLst/>
            <a:ahLst/>
            <a:cxnLst/>
            <a:rect l="l" t="t" r="r" b="b"/>
            <a:pathLst>
              <a:path w="1019556" h="131825">
                <a:moveTo>
                  <a:pt x="0" y="0"/>
                </a:moveTo>
                <a:lnTo>
                  <a:pt x="0" y="131825"/>
                </a:lnTo>
                <a:lnTo>
                  <a:pt x="1019556" y="131825"/>
                </a:lnTo>
                <a:lnTo>
                  <a:pt x="101955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005834" y="3667505"/>
            <a:ext cx="1019556" cy="131825"/>
          </a:xfrm>
          <a:custGeom>
            <a:avLst/>
            <a:gdLst/>
            <a:ahLst/>
            <a:cxnLst/>
            <a:rect l="l" t="t" r="r" b="b"/>
            <a:pathLst>
              <a:path w="1019556" h="131825">
                <a:moveTo>
                  <a:pt x="0" y="0"/>
                </a:moveTo>
                <a:lnTo>
                  <a:pt x="0" y="131825"/>
                </a:lnTo>
                <a:lnTo>
                  <a:pt x="1019556" y="131825"/>
                </a:lnTo>
                <a:lnTo>
                  <a:pt x="101955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005834" y="3799332"/>
            <a:ext cx="1019556" cy="131063"/>
          </a:xfrm>
          <a:custGeom>
            <a:avLst/>
            <a:gdLst/>
            <a:ahLst/>
            <a:cxnLst/>
            <a:rect l="l" t="t" r="r" b="b"/>
            <a:pathLst>
              <a:path w="1019556" h="131063">
                <a:moveTo>
                  <a:pt x="0" y="0"/>
                </a:moveTo>
                <a:lnTo>
                  <a:pt x="0" y="131063"/>
                </a:lnTo>
                <a:lnTo>
                  <a:pt x="1019556" y="131063"/>
                </a:lnTo>
                <a:lnTo>
                  <a:pt x="101955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034534" y="3535679"/>
            <a:ext cx="1807464" cy="262889"/>
          </a:xfrm>
          <a:custGeom>
            <a:avLst/>
            <a:gdLst/>
            <a:ahLst/>
            <a:cxnLst/>
            <a:rect l="l" t="t" r="r" b="b"/>
            <a:pathLst>
              <a:path w="1807464" h="262889">
                <a:moveTo>
                  <a:pt x="0" y="0"/>
                </a:moveTo>
                <a:lnTo>
                  <a:pt x="0" y="262889"/>
                </a:lnTo>
                <a:lnTo>
                  <a:pt x="1807464" y="262889"/>
                </a:lnTo>
                <a:lnTo>
                  <a:pt x="18074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034534" y="3798570"/>
            <a:ext cx="1807464" cy="131063"/>
          </a:xfrm>
          <a:custGeom>
            <a:avLst/>
            <a:gdLst/>
            <a:ahLst/>
            <a:cxnLst/>
            <a:rect l="l" t="t" r="r" b="b"/>
            <a:pathLst>
              <a:path w="1807464" h="131063">
                <a:moveTo>
                  <a:pt x="0" y="0"/>
                </a:moveTo>
                <a:lnTo>
                  <a:pt x="0" y="131063"/>
                </a:lnTo>
                <a:lnTo>
                  <a:pt x="1807464" y="131063"/>
                </a:lnTo>
                <a:lnTo>
                  <a:pt x="18074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00684" y="3521582"/>
            <a:ext cx="1180338" cy="0"/>
          </a:xfrm>
          <a:custGeom>
            <a:avLst/>
            <a:gdLst/>
            <a:ahLst/>
            <a:cxnLst/>
            <a:rect l="l" t="t" r="r" b="b"/>
            <a:pathLst>
              <a:path w="1180338">
                <a:moveTo>
                  <a:pt x="0" y="0"/>
                </a:moveTo>
                <a:lnTo>
                  <a:pt x="118033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928878" y="3536060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090166" y="3536060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081022" y="3506851"/>
            <a:ext cx="1915668" cy="29463"/>
          </a:xfrm>
          <a:custGeom>
            <a:avLst/>
            <a:gdLst/>
            <a:ahLst/>
            <a:cxnLst/>
            <a:rect l="l" t="t" r="r" b="b"/>
            <a:pathLst>
              <a:path w="1915668" h="29463">
                <a:moveTo>
                  <a:pt x="0" y="29463"/>
                </a:moveTo>
                <a:lnTo>
                  <a:pt x="1915668" y="29463"/>
                </a:lnTo>
                <a:lnTo>
                  <a:pt x="1915668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109216" y="3536060"/>
            <a:ext cx="1887474" cy="0"/>
          </a:xfrm>
          <a:custGeom>
            <a:avLst/>
            <a:gdLst/>
            <a:ahLst/>
            <a:cxnLst/>
            <a:rect l="l" t="t" r="r" b="b"/>
            <a:pathLst>
              <a:path w="1887474">
                <a:moveTo>
                  <a:pt x="0" y="0"/>
                </a:moveTo>
                <a:lnTo>
                  <a:pt x="1887474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005834" y="3536060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996690" y="3506851"/>
            <a:ext cx="1028700" cy="29463"/>
          </a:xfrm>
          <a:custGeom>
            <a:avLst/>
            <a:gdLst/>
            <a:ahLst/>
            <a:cxnLst/>
            <a:rect l="l" t="t" r="r" b="b"/>
            <a:pathLst>
              <a:path w="1028700" h="29463">
                <a:moveTo>
                  <a:pt x="0" y="29463"/>
                </a:moveTo>
                <a:lnTo>
                  <a:pt x="1028700" y="29463"/>
                </a:lnTo>
                <a:lnTo>
                  <a:pt x="1028700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024884" y="3536060"/>
            <a:ext cx="1000506" cy="0"/>
          </a:xfrm>
          <a:custGeom>
            <a:avLst/>
            <a:gdLst/>
            <a:ahLst/>
            <a:cxnLst/>
            <a:rect l="l" t="t" r="r" b="b"/>
            <a:pathLst>
              <a:path w="1000506">
                <a:moveTo>
                  <a:pt x="0" y="0"/>
                </a:moveTo>
                <a:lnTo>
                  <a:pt x="1000506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034534" y="3536060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025390" y="3506851"/>
            <a:ext cx="1816608" cy="29463"/>
          </a:xfrm>
          <a:custGeom>
            <a:avLst/>
            <a:gdLst/>
            <a:ahLst/>
            <a:cxnLst/>
            <a:rect l="l" t="t" r="r" b="b"/>
            <a:pathLst>
              <a:path w="1816608" h="29463">
                <a:moveTo>
                  <a:pt x="0" y="29463"/>
                </a:moveTo>
                <a:lnTo>
                  <a:pt x="1816608" y="29463"/>
                </a:lnTo>
                <a:lnTo>
                  <a:pt x="1816608" y="0"/>
                </a:lnTo>
                <a:lnTo>
                  <a:pt x="0" y="0"/>
                </a:lnTo>
                <a:lnTo>
                  <a:pt x="0" y="29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053584" y="3536060"/>
            <a:ext cx="1788414" cy="0"/>
          </a:xfrm>
          <a:custGeom>
            <a:avLst/>
            <a:gdLst/>
            <a:ahLst/>
            <a:cxnLst/>
            <a:rect l="l" t="t" r="r" b="b"/>
            <a:pathLst>
              <a:path w="1788414">
                <a:moveTo>
                  <a:pt x="0" y="0"/>
                </a:moveTo>
                <a:lnTo>
                  <a:pt x="1788414" y="0"/>
                </a:lnTo>
              </a:path>
            </a:pathLst>
          </a:custGeom>
          <a:ln w="2031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28878" y="3944493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081022" y="3944493"/>
            <a:ext cx="1915668" cy="0"/>
          </a:xfrm>
          <a:custGeom>
            <a:avLst/>
            <a:gdLst/>
            <a:ahLst/>
            <a:cxnLst/>
            <a:rect l="l" t="t" r="r" b="b"/>
            <a:pathLst>
              <a:path w="1915668">
                <a:moveTo>
                  <a:pt x="0" y="0"/>
                </a:moveTo>
                <a:lnTo>
                  <a:pt x="191566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996690" y="3944493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025390" y="3944493"/>
            <a:ext cx="1816608" cy="0"/>
          </a:xfrm>
          <a:custGeom>
            <a:avLst/>
            <a:gdLst/>
            <a:ahLst/>
            <a:cxnLst/>
            <a:rect l="l" t="t" r="r" b="b"/>
            <a:pathLst>
              <a:path w="1816608">
                <a:moveTo>
                  <a:pt x="0" y="0"/>
                </a:moveTo>
                <a:lnTo>
                  <a:pt x="181660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928878" y="4883658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2090166" y="4883658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005834" y="4883658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034534" y="4883658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928878" y="5944362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090166" y="5944362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005834" y="594436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034534" y="5944362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928878" y="6874002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090166" y="6874002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005834" y="687400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034534" y="6874002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928878" y="7671815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090166" y="7671815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005834" y="7671815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034534" y="7671815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928878" y="8470392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090166" y="8470392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005834" y="847039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034534" y="8470392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914781" y="3507866"/>
            <a:ext cx="0" cy="5915025"/>
          </a:xfrm>
          <a:custGeom>
            <a:avLst/>
            <a:gdLst/>
            <a:ahLst/>
            <a:cxnLst/>
            <a:rect l="l" t="t" r="r" b="b"/>
            <a:pathLst>
              <a:path h="5915025">
                <a:moveTo>
                  <a:pt x="0" y="0"/>
                </a:moveTo>
                <a:lnTo>
                  <a:pt x="0" y="591502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900684" y="9408795"/>
            <a:ext cx="1180338" cy="0"/>
          </a:xfrm>
          <a:custGeom>
            <a:avLst/>
            <a:gdLst/>
            <a:ahLst/>
            <a:cxnLst/>
            <a:rect l="l" t="t" r="r" b="b"/>
            <a:pathLst>
              <a:path w="1180338">
                <a:moveTo>
                  <a:pt x="0" y="0"/>
                </a:moveTo>
                <a:lnTo>
                  <a:pt x="118033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085594" y="3531488"/>
            <a:ext cx="0" cy="5863209"/>
          </a:xfrm>
          <a:custGeom>
            <a:avLst/>
            <a:gdLst/>
            <a:ahLst/>
            <a:cxnLst/>
            <a:rect l="l" t="t" r="r" b="b"/>
            <a:pathLst>
              <a:path h="5863209">
                <a:moveTo>
                  <a:pt x="0" y="0"/>
                </a:moveTo>
                <a:lnTo>
                  <a:pt x="0" y="5863209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081022" y="9408795"/>
            <a:ext cx="1915668" cy="0"/>
          </a:xfrm>
          <a:custGeom>
            <a:avLst/>
            <a:gdLst/>
            <a:ahLst/>
            <a:cxnLst/>
            <a:rect l="l" t="t" r="r" b="b"/>
            <a:pathLst>
              <a:path w="1915668">
                <a:moveTo>
                  <a:pt x="0" y="0"/>
                </a:moveTo>
                <a:lnTo>
                  <a:pt x="191566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4001262" y="3531488"/>
            <a:ext cx="0" cy="5863209"/>
          </a:xfrm>
          <a:custGeom>
            <a:avLst/>
            <a:gdLst/>
            <a:ahLst/>
            <a:cxnLst/>
            <a:rect l="l" t="t" r="r" b="b"/>
            <a:pathLst>
              <a:path h="5863209">
                <a:moveTo>
                  <a:pt x="0" y="0"/>
                </a:moveTo>
                <a:lnTo>
                  <a:pt x="0" y="586320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996690" y="9408795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029962" y="3531488"/>
            <a:ext cx="0" cy="5863209"/>
          </a:xfrm>
          <a:custGeom>
            <a:avLst/>
            <a:gdLst/>
            <a:ahLst/>
            <a:cxnLst/>
            <a:rect l="l" t="t" r="r" b="b"/>
            <a:pathLst>
              <a:path h="5863209">
                <a:moveTo>
                  <a:pt x="0" y="0"/>
                </a:moveTo>
                <a:lnTo>
                  <a:pt x="0" y="586320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025390" y="9408795"/>
            <a:ext cx="1816608" cy="0"/>
          </a:xfrm>
          <a:custGeom>
            <a:avLst/>
            <a:gdLst/>
            <a:ahLst/>
            <a:cxnLst/>
            <a:rect l="l" t="t" r="r" b="b"/>
            <a:pathLst>
              <a:path w="1816608">
                <a:moveTo>
                  <a:pt x="0" y="0"/>
                </a:moveTo>
                <a:lnTo>
                  <a:pt x="181660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856095" y="3507485"/>
            <a:ext cx="0" cy="5915406"/>
          </a:xfrm>
          <a:custGeom>
            <a:avLst/>
            <a:gdLst/>
            <a:ahLst/>
            <a:cxnLst/>
            <a:rect l="l" t="t" r="r" b="b"/>
            <a:pathLst>
              <a:path h="5915406">
                <a:moveTo>
                  <a:pt x="0" y="0"/>
                </a:moveTo>
                <a:lnTo>
                  <a:pt x="0" y="591540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914781" y="3521582"/>
            <a:ext cx="1170813" cy="422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32"/>
              </a:spcBef>
            </a:pPr>
            <a:endParaRPr sz="600"/>
          </a:p>
          <a:p>
            <a:pPr marL="132206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D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numir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a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uni</a:t>
            </a:r>
            <a:r>
              <a:rPr sz="900" b="1" i="1" spc="4" dirty="0" smtClean="0">
                <a:latin typeface="Times New Roman"/>
                <a:cs typeface="Times New Roman"/>
              </a:rPr>
              <a:t>t</a:t>
            </a:r>
            <a:r>
              <a:rPr sz="900" b="1" i="1" spc="0" dirty="0" smtClean="0">
                <a:latin typeface="Times New Roman"/>
                <a:cs typeface="Times New Roman"/>
              </a:rPr>
              <a:t>ă</a:t>
            </a:r>
            <a:r>
              <a:rPr sz="900" b="1" i="1" spc="4" dirty="0" smtClean="0">
                <a:latin typeface="Times New Roman"/>
                <a:cs typeface="Times New Roman"/>
              </a:rPr>
              <a:t>ţ</a:t>
            </a:r>
            <a:r>
              <a:rPr sz="900" b="1" i="1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085594" y="3521582"/>
            <a:ext cx="1915667" cy="422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48"/>
              </a:spcBef>
            </a:pPr>
            <a:endParaRPr sz="1100"/>
          </a:p>
          <a:p>
            <a:pPr marL="419099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Denumirea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proie</a:t>
            </a:r>
            <a:r>
              <a:rPr sz="900" b="1" i="1" spc="-4" dirty="0" smtClean="0">
                <a:latin typeface="Times New Roman"/>
                <a:cs typeface="Times New Roman"/>
              </a:rPr>
              <a:t>c</a:t>
            </a:r>
            <a:r>
              <a:rPr sz="900" b="1" i="1" spc="0" dirty="0" smtClean="0">
                <a:latin typeface="Times New Roman"/>
                <a:cs typeface="Times New Roman"/>
              </a:rPr>
              <a:t>tului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001262" y="3521582"/>
            <a:ext cx="1028700" cy="422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54"/>
              </a:spcBef>
            </a:pPr>
            <a:endParaRPr sz="1100"/>
          </a:p>
          <a:p>
            <a:pPr marL="205739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indicatorului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029962" y="3521582"/>
            <a:ext cx="1826133" cy="422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48"/>
              </a:spcBef>
            </a:pPr>
            <a:endParaRPr sz="1100"/>
          </a:p>
          <a:p>
            <a:pPr marL="555498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Efec</a:t>
            </a:r>
            <a:r>
              <a:rPr sz="900" b="1" i="1" spc="-4" dirty="0" smtClean="0">
                <a:latin typeface="Times New Roman"/>
                <a:cs typeface="Times New Roman"/>
              </a:rPr>
              <a:t>t</a:t>
            </a:r>
            <a:r>
              <a:rPr sz="900" b="1" i="1" spc="0" dirty="0" smtClean="0">
                <a:latin typeface="Times New Roman"/>
                <a:cs typeface="Times New Roman"/>
              </a:rPr>
              <a:t>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s</a:t>
            </a:r>
            <a:r>
              <a:rPr sz="900" b="1" i="1" spc="4" dirty="0" smtClean="0">
                <a:latin typeface="Times New Roman"/>
                <a:cs typeface="Times New Roman"/>
              </a:rPr>
              <a:t>c</a:t>
            </a:r>
            <a:r>
              <a:rPr sz="900" b="1" i="1" spc="0" dirty="0" smtClean="0">
                <a:latin typeface="Times New Roman"/>
                <a:cs typeface="Times New Roman"/>
              </a:rPr>
              <a:t>o</a:t>
            </a:r>
            <a:r>
              <a:rPr sz="900" b="1" i="1" spc="-4" dirty="0" smtClean="0">
                <a:latin typeface="Times New Roman"/>
                <a:cs typeface="Times New Roman"/>
              </a:rPr>
              <a:t>n</a:t>
            </a:r>
            <a:r>
              <a:rPr sz="900" b="1" i="1" spc="0" dirty="0" smtClean="0">
                <a:latin typeface="Times New Roman"/>
                <a:cs typeface="Times New Roman"/>
              </a:rPr>
              <a:t>ta</a:t>
            </a:r>
            <a:r>
              <a:rPr sz="900" b="1" i="1" spc="-4" dirty="0" smtClean="0">
                <a:latin typeface="Times New Roman"/>
                <a:cs typeface="Times New Roman"/>
              </a:rPr>
              <a:t>t</a:t>
            </a:r>
            <a:r>
              <a:rPr sz="900" b="1" i="1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14781" y="3944429"/>
            <a:ext cx="1170813" cy="939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8" name="object 68"/>
          <p:cNvSpPr txBox="1"/>
          <p:nvPr/>
        </p:nvSpPr>
        <p:spPr>
          <a:xfrm>
            <a:off x="2085594" y="3944429"/>
            <a:ext cx="1915667" cy="939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7" name="object 67"/>
          <p:cNvSpPr txBox="1"/>
          <p:nvPr/>
        </p:nvSpPr>
        <p:spPr>
          <a:xfrm>
            <a:off x="4001262" y="3944429"/>
            <a:ext cx="1028700" cy="939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5029962" y="3944429"/>
            <a:ext cx="1826133" cy="939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5" name="object 65"/>
          <p:cNvSpPr txBox="1"/>
          <p:nvPr/>
        </p:nvSpPr>
        <p:spPr>
          <a:xfrm>
            <a:off x="914781" y="4883658"/>
            <a:ext cx="1170813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4" name="object 64"/>
          <p:cNvSpPr txBox="1"/>
          <p:nvPr/>
        </p:nvSpPr>
        <p:spPr>
          <a:xfrm>
            <a:off x="2085594" y="4883658"/>
            <a:ext cx="1915667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3" name="object 63"/>
          <p:cNvSpPr txBox="1"/>
          <p:nvPr/>
        </p:nvSpPr>
        <p:spPr>
          <a:xfrm>
            <a:off x="4001262" y="4883658"/>
            <a:ext cx="1028700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62"/>
          <p:cNvSpPr txBox="1"/>
          <p:nvPr/>
        </p:nvSpPr>
        <p:spPr>
          <a:xfrm>
            <a:off x="5029962" y="4883658"/>
            <a:ext cx="1826133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61"/>
          <p:cNvSpPr txBox="1"/>
          <p:nvPr/>
        </p:nvSpPr>
        <p:spPr>
          <a:xfrm>
            <a:off x="914781" y="5944362"/>
            <a:ext cx="1170813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0" name="object 60"/>
          <p:cNvSpPr txBox="1"/>
          <p:nvPr/>
        </p:nvSpPr>
        <p:spPr>
          <a:xfrm>
            <a:off x="2085594" y="5944362"/>
            <a:ext cx="1915667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9" name="object 59"/>
          <p:cNvSpPr txBox="1"/>
          <p:nvPr/>
        </p:nvSpPr>
        <p:spPr>
          <a:xfrm>
            <a:off x="4001262" y="5944362"/>
            <a:ext cx="1028700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58"/>
          <p:cNvSpPr txBox="1"/>
          <p:nvPr/>
        </p:nvSpPr>
        <p:spPr>
          <a:xfrm>
            <a:off x="5029962" y="5944362"/>
            <a:ext cx="1826133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57"/>
          <p:cNvSpPr txBox="1"/>
          <p:nvPr/>
        </p:nvSpPr>
        <p:spPr>
          <a:xfrm>
            <a:off x="914781" y="6874002"/>
            <a:ext cx="1170813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56"/>
          <p:cNvSpPr txBox="1"/>
          <p:nvPr/>
        </p:nvSpPr>
        <p:spPr>
          <a:xfrm>
            <a:off x="2085594" y="6874002"/>
            <a:ext cx="1915667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55"/>
          <p:cNvSpPr txBox="1"/>
          <p:nvPr/>
        </p:nvSpPr>
        <p:spPr>
          <a:xfrm>
            <a:off x="4001262" y="6874002"/>
            <a:ext cx="1028700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5029962" y="6874002"/>
            <a:ext cx="1826133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914781" y="7671815"/>
            <a:ext cx="1170813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2085594" y="7671815"/>
            <a:ext cx="191566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4001262" y="7671815"/>
            <a:ext cx="102870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5029962" y="7671815"/>
            <a:ext cx="1826133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914781" y="8470392"/>
            <a:ext cx="1170813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2085594" y="8470392"/>
            <a:ext cx="1915667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4001262" y="8470392"/>
            <a:ext cx="1028700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5029962" y="8470392"/>
            <a:ext cx="1826133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896112" y="3156966"/>
            <a:ext cx="5978651" cy="1752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1714880" y="799719"/>
            <a:ext cx="457581" cy="1504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2172462" y="799719"/>
            <a:ext cx="2857500" cy="1504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5029962" y="799719"/>
            <a:ext cx="1256919" cy="1504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1714880" y="950213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2172462" y="950213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5029962" y="950213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1714880" y="1091183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2172462" y="1091183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5029962" y="1091183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1714880" y="1232153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2172462" y="1232153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5029962" y="1232153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1714880" y="1373123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2172462" y="1373123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5029962" y="1373123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1714880" y="1514094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2172462" y="1514094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5029962" y="1514094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1714880" y="1655063"/>
            <a:ext cx="457581" cy="1402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2172462" y="1655063"/>
            <a:ext cx="2857500" cy="1402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5029962" y="1655063"/>
            <a:ext cx="1256919" cy="1402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1714880" y="1795271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2172462" y="1795271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5029962" y="1795271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1714880" y="1936242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2172462" y="1936242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5029962" y="1936242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1714880" y="2077211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72462" y="2077211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5029962" y="2077211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1714880" y="2218181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2172462" y="2218181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5029962" y="2218181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1714880" y="2359152"/>
            <a:ext cx="457581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172462" y="2359152"/>
            <a:ext cx="2857500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5029962" y="2359152"/>
            <a:ext cx="1256919" cy="14096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1714880" y="2500121"/>
            <a:ext cx="457581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2172462" y="2500121"/>
            <a:ext cx="2857500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5029962" y="2500121"/>
            <a:ext cx="1256919" cy="140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1714880" y="2641092"/>
            <a:ext cx="457581" cy="149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172462" y="2641092"/>
            <a:ext cx="2857500" cy="149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029962" y="2641092"/>
            <a:ext cx="1256919" cy="1497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1324800" marR="1536659" algn="ctr">
              <a:lnSpc>
                <a:spcPct val="95825"/>
              </a:lnSpc>
              <a:spcBef>
                <a:spcPts val="2973"/>
              </a:spcBef>
            </a:pPr>
            <a:r>
              <a:rPr sz="900" spc="0" dirty="0" smtClean="0">
                <a:latin typeface="Times New Roman"/>
                <a:cs typeface="Times New Roman"/>
              </a:rPr>
              <a:t>24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informatice                                                    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6</a:t>
            </a:r>
            <a:endParaRPr sz="900">
              <a:latin typeface="Times New Roman"/>
              <a:cs typeface="Times New Roman"/>
            </a:endParaRPr>
          </a:p>
          <a:p>
            <a:pPr marL="1324800" marR="1536876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25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roiec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8</a:t>
            </a:r>
            <a:endParaRPr sz="900">
              <a:latin typeface="Times New Roman"/>
              <a:cs typeface="Times New Roman"/>
            </a:endParaRPr>
          </a:p>
          <a:p>
            <a:pPr marL="1324800" marR="1537002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26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Prototipuri                                                                                 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</a:t>
            </a:r>
            <a:endParaRPr sz="900">
              <a:latin typeface="Times New Roman"/>
              <a:cs typeface="Times New Roman"/>
            </a:endParaRPr>
          </a:p>
          <a:p>
            <a:pPr marL="1324800" marR="1479120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27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Rapoarte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cercetare                                                                   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132</a:t>
            </a:r>
            <a:endParaRPr sz="900">
              <a:latin typeface="Times New Roman"/>
              <a:cs typeface="Times New Roman"/>
            </a:endParaRPr>
          </a:p>
          <a:p>
            <a:pPr marL="1324800" marR="1507855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28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Comunic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                                                      </a:t>
            </a:r>
            <a:r>
              <a:rPr sz="900" spc="1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18</a:t>
            </a:r>
            <a:endParaRPr sz="900">
              <a:latin typeface="Times New Roman"/>
              <a:cs typeface="Times New Roman"/>
            </a:endParaRPr>
          </a:p>
          <a:p>
            <a:pPr marL="1324800" marR="1507409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29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Comunic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 la si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pozioa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</a:t>
            </a:r>
            <a:r>
              <a:rPr sz="900" spc="1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99</a:t>
            </a:r>
            <a:endParaRPr sz="900">
              <a:latin typeface="Times New Roman"/>
              <a:cs typeface="Times New Roman"/>
            </a:endParaRPr>
          </a:p>
          <a:p>
            <a:pPr marL="1324800" marR="1507970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30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Comunic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seminarii                                           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43</a:t>
            </a:r>
            <a:endParaRPr sz="900">
              <a:latin typeface="Times New Roman"/>
              <a:cs typeface="Times New Roman"/>
            </a:endParaRPr>
          </a:p>
          <a:p>
            <a:pPr marL="1324800" marR="1508038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31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Comunic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workshop-uri                                      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39</a:t>
            </a:r>
            <a:endParaRPr sz="900">
              <a:latin typeface="Times New Roman"/>
              <a:cs typeface="Times New Roman"/>
            </a:endParaRPr>
          </a:p>
          <a:p>
            <a:pPr marL="1324800" marR="1537082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32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pecif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ice                                                                                      </a:t>
            </a:r>
            <a:r>
              <a:rPr sz="900" spc="1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</a:t>
            </a:r>
            <a:endParaRPr sz="900">
              <a:latin typeface="Times New Roman"/>
              <a:cs typeface="Times New Roman"/>
            </a:endParaRPr>
          </a:p>
          <a:p>
            <a:pPr marL="1324800" marR="1537013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33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Standarde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ă                                                                        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324800" marR="1479817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34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                                                              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160</a:t>
            </a:r>
            <a:endParaRPr sz="900">
              <a:latin typeface="Times New Roman"/>
              <a:cs typeface="Times New Roman"/>
            </a:endParaRPr>
          </a:p>
          <a:p>
            <a:pPr marL="1324800" marR="1536545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35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f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7</a:t>
            </a:r>
            <a:endParaRPr sz="900">
              <a:latin typeface="Times New Roman"/>
              <a:cs typeface="Times New Roman"/>
            </a:endParaRPr>
          </a:p>
          <a:p>
            <a:pPr marL="1324800" marR="1537013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36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</a:t>
            </a:r>
            <a:r>
              <a:rPr sz="900" spc="-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ă                                                        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1324800" marR="1508004" algn="ctr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37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                                                                                      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16</a:t>
            </a:r>
            <a:endParaRPr sz="900">
              <a:latin typeface="Times New Roman"/>
              <a:cs typeface="Times New Roman"/>
            </a:endParaRPr>
          </a:p>
          <a:p>
            <a:pPr marL="2888615" marR="2904450" algn="ctr">
              <a:lnSpc>
                <a:spcPct val="95825"/>
              </a:lnSpc>
              <a:spcBef>
                <a:spcPts val="2999"/>
              </a:spcBef>
            </a:pPr>
            <a:r>
              <a:rPr sz="1200" b="1" i="1" spc="0" dirty="0" smtClean="0">
                <a:latin typeface="Times New Roman"/>
                <a:cs typeface="Times New Roman"/>
              </a:rPr>
              <a:t>Exemplifică</a:t>
            </a:r>
            <a:r>
              <a:rPr sz="1200" b="1" i="1" spc="-4" dirty="0" smtClean="0">
                <a:latin typeface="Times New Roman"/>
                <a:cs typeface="Times New Roman"/>
              </a:rPr>
              <a:t>ri</a:t>
            </a:r>
            <a:endParaRPr sz="1200">
              <a:latin typeface="Times New Roman"/>
              <a:cs typeface="Times New Roman"/>
            </a:endParaRPr>
          </a:p>
          <a:p>
            <a:pPr marL="811910" marR="2525967" indent="3035808">
              <a:lnSpc>
                <a:spcPts val="2050"/>
              </a:lnSpc>
              <a:spcBef>
                <a:spcPts val="833"/>
              </a:spcBef>
            </a:pPr>
            <a:r>
              <a:rPr sz="900" b="1" i="1" spc="0" dirty="0" smtClean="0">
                <a:latin typeface="Times New Roman"/>
                <a:cs typeface="Times New Roman"/>
              </a:rPr>
              <a:t>Tipul </a:t>
            </a:r>
            <a:r>
              <a:rPr sz="1350" b="1" i="1" spc="0" baseline="32208" dirty="0" smtClean="0">
                <a:latin typeface="Times New Roman"/>
                <a:cs typeface="Times New Roman"/>
              </a:rPr>
              <a:t>de</a:t>
            </a:r>
            <a:r>
              <a:rPr sz="1350" b="1" i="1" spc="4" baseline="32208" dirty="0" smtClean="0">
                <a:latin typeface="Times New Roman"/>
                <a:cs typeface="Times New Roman"/>
              </a:rPr>
              <a:t> </a:t>
            </a:r>
            <a:r>
              <a:rPr sz="1350" b="1" i="1" spc="0" baseline="32208" dirty="0" smtClean="0">
                <a:latin typeface="Times New Roman"/>
                <a:cs typeface="Times New Roman"/>
              </a:rPr>
              <a:t>CD                                                                                             </a:t>
            </a:r>
            <a:r>
              <a:rPr sz="1350" b="1" i="1" spc="44" baseline="32208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realizat</a:t>
            </a:r>
            <a:endParaRPr sz="900">
              <a:latin typeface="Times New Roman"/>
              <a:cs typeface="Times New Roman"/>
            </a:endParaRPr>
          </a:p>
          <a:p>
            <a:pPr marL="468342" marR="467186" indent="119637" algn="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nelor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Introduce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 </a:t>
            </a:r>
            <a:r>
              <a:rPr sz="900" b="1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taliei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tel</a:t>
            </a:r>
            <a:r>
              <a:rPr sz="900" spc="-9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scopul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feza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toa</a:t>
            </a:r>
            <a:r>
              <a:rPr sz="900" spc="-4" dirty="0" smtClean="0">
                <a:latin typeface="Times New Roman"/>
                <a:cs typeface="Times New Roman"/>
              </a:rPr>
              <a:t>mn</a:t>
            </a:r>
            <a:r>
              <a:rPr sz="900" spc="0" dirty="0" smtClean="0">
                <a:latin typeface="Times New Roman"/>
                <a:cs typeface="Times New Roman"/>
              </a:rPr>
              <a:t>ă 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talia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scur</a:t>
            </a:r>
            <a:r>
              <a:rPr sz="900" spc="9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 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rezis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dere,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creşt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rii 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1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ant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i, 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ziste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 la 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toler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nt</a:t>
            </a:r>
            <a:endParaRPr sz="900">
              <a:latin typeface="Times New Roman"/>
              <a:cs typeface="Times New Roman"/>
            </a:endParaRPr>
          </a:p>
          <a:p>
            <a:pPr marL="623233" marR="602972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AGRICOLĂ          </a:t>
            </a:r>
            <a:r>
              <a:rPr sz="900" b="1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este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sur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toxi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ion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alu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endParaRPr sz="900">
              <a:latin typeface="Times New Roman"/>
              <a:cs typeface="Times New Roman"/>
            </a:endParaRPr>
          </a:p>
          <a:p>
            <a:pPr marL="3587118" marR="567250" indent="-2944379">
              <a:lnSpc>
                <a:spcPct val="94962"/>
              </a:lnSpc>
              <a:spcBef>
                <a:spcPts val="5"/>
              </a:spcBef>
              <a:tabLst>
                <a:tab pos="16129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FUNDULEA	</a:t>
            </a:r>
            <a:r>
              <a:rPr sz="900" spc="0" dirty="0" smtClean="0">
                <a:latin typeface="Times New Roman"/>
                <a:cs typeface="Times New Roman"/>
              </a:rPr>
              <a:t>trit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le.                                          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Hibrizi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nou-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adap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 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coli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ară a ţ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zol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 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ana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e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slab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e.</a:t>
            </a:r>
            <a:endParaRPr sz="900">
              <a:latin typeface="Times New Roman"/>
              <a:cs typeface="Times New Roman"/>
            </a:endParaRPr>
          </a:p>
          <a:p>
            <a:pPr marL="559689" marR="491215" indent="-45720">
              <a:lnSpc>
                <a:spcPct val="95825"/>
              </a:lnSpc>
              <a:spcBef>
                <a:spcPts val="9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DE      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managerial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contr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lul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</a:t>
            </a:r>
            <a:r>
              <a:rPr sz="900" b="1" spc="0" dirty="0" smtClean="0">
                <a:latin typeface="Times New Roman"/>
                <a:cs typeface="Times New Roman"/>
              </a:rPr>
              <a:t>CERCET</a:t>
            </a:r>
            <a:r>
              <a:rPr sz="900" b="1" spc="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RE-     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gestiona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inurilor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controlul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inurilor şi 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vitivi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icole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numire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</a:t>
            </a:r>
            <a:r>
              <a:rPr sz="900" spc="1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vitivi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ole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numire</a:t>
            </a:r>
            <a:endParaRPr sz="900">
              <a:latin typeface="Times New Roman"/>
              <a:cs typeface="Times New Roman"/>
            </a:endParaRPr>
          </a:p>
          <a:p>
            <a:pPr marL="725046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origine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SMvvDO,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armonizat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                                       </a:t>
            </a:r>
            <a:r>
              <a:rPr sz="900" spc="17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ori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ine.</a:t>
            </a:r>
            <a:endParaRPr sz="900">
              <a:latin typeface="Times New Roman"/>
              <a:cs typeface="Times New Roman"/>
            </a:endParaRPr>
          </a:p>
          <a:p>
            <a:pPr marL="55359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VITI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ULTURA    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regle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int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rna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ionale.</a:t>
            </a:r>
            <a:endParaRPr sz="900">
              <a:latin typeface="Times New Roman"/>
              <a:cs typeface="Times New Roman"/>
            </a:endParaRPr>
          </a:p>
          <a:p>
            <a:pPr marL="467546" marR="5252335" indent="-1190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VINIFI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-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ŢIE VALEA CĂLUGĂR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AS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605301" marR="794598" algn="ctr">
              <a:lnSpc>
                <a:spcPct val="95825"/>
              </a:lnSpc>
              <a:spcBef>
                <a:spcPts val="7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Producerea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ialului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ditor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itor 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tego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465507" marR="504700" algn="ctr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 </a:t>
            </a:r>
            <a:r>
              <a:rPr sz="900" b="1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catego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iile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iologice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Prebaza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</a:t>
            </a:r>
            <a:r>
              <a:rPr sz="900" spc="1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biologice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Cer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endParaRPr sz="900">
              <a:latin typeface="Times New Roman"/>
              <a:cs typeface="Times New Roman"/>
            </a:endParaRPr>
          </a:p>
          <a:p>
            <a:pPr marL="537139" marR="599564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Baza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denumirea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"Produs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                          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patru clone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 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tea de</a:t>
            </a:r>
            <a:endParaRPr sz="900">
              <a:latin typeface="Times New Roman"/>
              <a:cs typeface="Times New Roman"/>
            </a:endParaRPr>
          </a:p>
          <a:p>
            <a:pPr marL="72505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          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România".                                                                      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553604">
              <a:lnSpc>
                <a:spcPts val="1030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VITI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ULTURA</a:t>
            </a:r>
            <a:endParaRPr sz="900">
              <a:latin typeface="Times New Roman"/>
              <a:cs typeface="Times New Roman"/>
            </a:endParaRPr>
          </a:p>
          <a:p>
            <a:pPr marL="54217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VINIFI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-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ŢIE</a:t>
            </a:r>
            <a:endParaRPr sz="900">
              <a:latin typeface="Times New Roman"/>
              <a:cs typeface="Times New Roman"/>
            </a:endParaRPr>
          </a:p>
          <a:p>
            <a:pPr marL="60389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ŞTEFĂNEŞ</a:t>
            </a:r>
            <a:r>
              <a:rPr sz="900" b="1" spc="4" dirty="0" smtClean="0">
                <a:latin typeface="Times New Roman"/>
                <a:cs typeface="Times New Roman"/>
              </a:rPr>
              <a:t>TI</a:t>
            </a:r>
            <a:endParaRPr sz="900">
              <a:latin typeface="Times New Roman"/>
              <a:cs typeface="Times New Roman"/>
            </a:endParaRPr>
          </a:p>
          <a:p>
            <a:pPr marL="604187" marR="733677" algn="ctr">
              <a:lnSpc>
                <a:spcPct val="95825"/>
              </a:lnSpc>
              <a:spcBef>
                <a:spcPts val="2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producere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artificiala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Introduce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</a:t>
            </a:r>
            <a:r>
              <a:rPr sz="900" spc="4" dirty="0" smtClean="0">
                <a:latin typeface="Times New Roman"/>
                <a:cs typeface="Times New Roman"/>
              </a:rPr>
              <a:t>y</a:t>
            </a:r>
            <a:r>
              <a:rPr sz="900" spc="0" dirty="0" smtClean="0">
                <a:latin typeface="Times New Roman"/>
                <a:cs typeface="Times New Roman"/>
              </a:rPr>
              <a:t>odon</a:t>
            </a:r>
            <a:endParaRPr sz="900">
              <a:latin typeface="Times New Roman"/>
              <a:cs typeface="Times New Roman"/>
            </a:endParaRPr>
          </a:p>
          <a:p>
            <a:pPr marL="465507" marR="637757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 </a:t>
            </a:r>
            <a:r>
              <a:rPr sz="900" b="1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edezvoltare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intensiv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     </a:t>
            </a:r>
            <a:r>
              <a:rPr sz="900" spc="17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spathula în fer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pis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endParaRPr sz="900">
              <a:latin typeface="Times New Roman"/>
              <a:cs typeface="Times New Roman"/>
            </a:endParaRPr>
          </a:p>
          <a:p>
            <a:pPr marL="55969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sturion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nord-a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ican                                       </a:t>
            </a:r>
            <a:r>
              <a:rPr sz="900" spc="1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România.</a:t>
            </a:r>
            <a:endParaRPr sz="900">
              <a:latin typeface="Times New Roman"/>
              <a:cs typeface="Times New Roman"/>
            </a:endParaRPr>
          </a:p>
          <a:p>
            <a:pPr marL="72505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</a:t>
            </a:r>
            <a:r>
              <a:rPr sz="900" spc="9" dirty="0" smtClean="0">
                <a:latin typeface="Times New Roman"/>
                <a:cs typeface="Times New Roman"/>
              </a:rPr>
              <a:t>y</a:t>
            </a:r>
            <a:r>
              <a:rPr sz="900" spc="0" dirty="0" smtClean="0">
                <a:latin typeface="Times New Roman"/>
                <a:cs typeface="Times New Roman"/>
              </a:rPr>
              <a:t>odon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spathula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(Pisces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</a:t>
            </a:r>
            <a:endParaRPr sz="900">
              <a:latin typeface="Times New Roman"/>
              <a:cs typeface="Times New Roman"/>
            </a:endParaRPr>
          </a:p>
          <a:p>
            <a:pPr marL="52465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PISCICULTURA      </a:t>
            </a:r>
            <a:r>
              <a:rPr sz="900" b="1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</a:t>
            </a:r>
            <a:r>
              <a:rPr sz="900" spc="9" dirty="0" smtClean="0">
                <a:latin typeface="Times New Roman"/>
                <a:cs typeface="Times New Roman"/>
              </a:rPr>
              <a:t>y</a:t>
            </a:r>
            <a:r>
              <a:rPr sz="900" spc="0" dirty="0" smtClean="0">
                <a:latin typeface="Times New Roman"/>
                <a:cs typeface="Times New Roman"/>
              </a:rPr>
              <a:t>odontidae)</a:t>
            </a:r>
            <a:endParaRPr sz="900">
              <a:latin typeface="Times New Roman"/>
              <a:cs typeface="Times New Roman"/>
            </a:endParaRPr>
          </a:p>
          <a:p>
            <a:pPr marL="738837" marR="5523939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NUCET</a:t>
            </a:r>
            <a:endParaRPr sz="900">
              <a:latin typeface="Times New Roman"/>
              <a:cs typeface="Times New Roman"/>
            </a:endParaRPr>
          </a:p>
          <a:p>
            <a:pPr marL="607694">
              <a:lnSpc>
                <a:spcPct val="95825"/>
              </a:lnSpc>
              <a:spcBef>
                <a:spcPts val="7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roiec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area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  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tructuri infor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endParaRPr sz="900">
              <a:latin typeface="Times New Roman"/>
              <a:cs typeface="Times New Roman"/>
            </a:endParaRPr>
          </a:p>
          <a:p>
            <a:pPr marL="465499" marR="453189" algn="ctr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 </a:t>
            </a:r>
            <a:r>
              <a:rPr sz="900" b="1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online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agricole                             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decizie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proiectarea,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monitorizarea</a:t>
            </a:r>
            <a:endParaRPr sz="900">
              <a:latin typeface="Times New Roman"/>
              <a:cs typeface="Times New Roman"/>
            </a:endParaRPr>
          </a:p>
          <a:p>
            <a:pPr marL="538245" marR="620236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gradab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având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ză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  sol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e-                               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enda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ilor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72504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          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rce.</a:t>
            </a:r>
            <a:endParaRPr sz="900">
              <a:latin typeface="Times New Roman"/>
              <a:cs typeface="Times New Roman"/>
            </a:endParaRPr>
          </a:p>
          <a:p>
            <a:pPr marL="626035" marR="5411243" indent="0" algn="ctr">
              <a:lnSpc>
                <a:spcPts val="1030"/>
              </a:lnSpc>
              <a:spcBef>
                <a:spcPts val="2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ECONOMIE AGRARĂ</a:t>
            </a:r>
            <a:endParaRPr sz="900">
              <a:latin typeface="Times New Roman"/>
              <a:cs typeface="Times New Roman"/>
            </a:endParaRPr>
          </a:p>
          <a:p>
            <a:pPr marL="585137" marR="657470" algn="ctr">
              <a:lnSpc>
                <a:spcPct val="95825"/>
              </a:lnSpc>
              <a:spcBef>
                <a:spcPts val="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complex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contr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lul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0" dirty="0" smtClean="0">
                <a:latin typeface="Times New Roman"/>
                <a:cs typeface="Times New Roman"/>
              </a:rPr>
              <a:t>nic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de</a:t>
            </a:r>
            <a:r>
              <a:rPr sz="900" spc="2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apar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la un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reţ</a:t>
            </a:r>
            <a:endParaRPr sz="900">
              <a:latin typeface="Times New Roman"/>
              <a:cs typeface="Times New Roman"/>
            </a:endParaRPr>
          </a:p>
          <a:p>
            <a:pPr marL="630450" marR="858243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NAŢIONAL           </a:t>
            </a:r>
            <a:r>
              <a:rPr sz="900" b="1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ambalajelo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,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destinat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accesibil,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veri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icarea</a:t>
            </a:r>
            <a:endParaRPr sz="900">
              <a:latin typeface="Times New Roman"/>
              <a:cs typeface="Times New Roman"/>
            </a:endParaRPr>
          </a:p>
          <a:p>
            <a:pPr marL="484564" marR="599354" algn="ctr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Proceduri    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bala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inte de ste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e.</a:t>
            </a:r>
            <a:endParaRPr sz="900">
              <a:latin typeface="Times New Roman"/>
              <a:cs typeface="Times New Roman"/>
            </a:endParaRPr>
          </a:p>
          <a:p>
            <a:pPr marL="55970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steriliza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industria alimentara.</a:t>
            </a:r>
            <a:endParaRPr sz="900">
              <a:latin typeface="Times New Roman"/>
              <a:cs typeface="Times New Roman"/>
            </a:endParaRPr>
          </a:p>
          <a:p>
            <a:pPr marL="441646" marR="5227390" indent="779" algn="ctr">
              <a:lnSpc>
                <a:spcPts val="1040"/>
              </a:lnSpc>
              <a:spcBef>
                <a:spcPts val="57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MECANI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Ă FI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Ă -</a:t>
            </a:r>
            <a:endParaRPr sz="900">
              <a:latin typeface="Times New Roman"/>
              <a:cs typeface="Times New Roman"/>
            </a:endParaRPr>
          </a:p>
          <a:p>
            <a:pPr marL="422607" marR="5208072" algn="ctr">
              <a:lnSpc>
                <a:spcPts val="1019"/>
              </a:lnSpc>
            </a:pPr>
            <a:r>
              <a:rPr sz="900" b="1" spc="-14" dirty="0" smtClean="0">
                <a:latin typeface="Times New Roman"/>
                <a:cs typeface="Times New Roman"/>
              </a:rPr>
              <a:t>CE</a:t>
            </a:r>
            <a:r>
              <a:rPr sz="900" b="1" spc="-4" dirty="0" smtClean="0">
                <a:latin typeface="Times New Roman"/>
                <a:cs typeface="Times New Roman"/>
              </a:rPr>
              <a:t>F</a:t>
            </a:r>
            <a:r>
              <a:rPr sz="900" b="1" spc="-1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N</a:t>
            </a:r>
            <a:r>
              <a:rPr sz="900" b="1" spc="-14" dirty="0" smtClean="0">
                <a:latin typeface="Times New Roman"/>
                <a:cs typeface="Times New Roman"/>
              </a:rPr>
              <a:t> B</a:t>
            </a:r>
            <a:r>
              <a:rPr sz="900" b="1" spc="-9" dirty="0" smtClean="0">
                <a:latin typeface="Times New Roman"/>
                <a:cs typeface="Times New Roman"/>
              </a:rPr>
              <a:t>UC</a:t>
            </a:r>
            <a:r>
              <a:rPr sz="900" b="1" spc="-14" dirty="0" smtClean="0">
                <a:latin typeface="Times New Roman"/>
                <a:cs typeface="Times New Roman"/>
              </a:rPr>
              <a:t>UR</a:t>
            </a:r>
            <a:r>
              <a:rPr sz="900" b="1" spc="-4" dirty="0" smtClean="0">
                <a:latin typeface="Times New Roman"/>
                <a:cs typeface="Times New Roman"/>
              </a:rPr>
              <a:t>E</a:t>
            </a:r>
            <a:r>
              <a:rPr sz="900" b="1" spc="-9" dirty="0" smtClean="0">
                <a:latin typeface="Times New Roman"/>
                <a:cs typeface="Times New Roman"/>
              </a:rPr>
              <a:t>ŞTI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2684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 127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900684" y="799719"/>
            <a:ext cx="1180338" cy="0"/>
          </a:xfrm>
          <a:custGeom>
            <a:avLst/>
            <a:gdLst/>
            <a:ahLst/>
            <a:cxnLst/>
            <a:rect l="l" t="t" r="r" b="b"/>
            <a:pathLst>
              <a:path w="1180338">
                <a:moveTo>
                  <a:pt x="0" y="0"/>
                </a:moveTo>
                <a:lnTo>
                  <a:pt x="118033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081022" y="799719"/>
            <a:ext cx="1915668" cy="0"/>
          </a:xfrm>
          <a:custGeom>
            <a:avLst/>
            <a:gdLst/>
            <a:ahLst/>
            <a:cxnLst/>
            <a:rect l="l" t="t" r="r" b="b"/>
            <a:pathLst>
              <a:path w="1915668">
                <a:moveTo>
                  <a:pt x="0" y="0"/>
                </a:moveTo>
                <a:lnTo>
                  <a:pt x="191566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996690" y="799719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025390" y="799719"/>
            <a:ext cx="1816608" cy="0"/>
          </a:xfrm>
          <a:custGeom>
            <a:avLst/>
            <a:gdLst/>
            <a:ahLst/>
            <a:cxnLst/>
            <a:rect l="l" t="t" r="r" b="b"/>
            <a:pathLst>
              <a:path w="1816608">
                <a:moveTo>
                  <a:pt x="0" y="0"/>
                </a:moveTo>
                <a:lnTo>
                  <a:pt x="181660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928878" y="1869948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090166" y="1869948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005834" y="1869948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034534" y="1869948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928878" y="2404872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090166" y="2404872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005834" y="240487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034534" y="2404872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928878" y="3203448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090166" y="3203448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005834" y="3203448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034534" y="3203448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928878" y="4001262"/>
            <a:ext cx="1152144" cy="0"/>
          </a:xfrm>
          <a:custGeom>
            <a:avLst/>
            <a:gdLst/>
            <a:ahLst/>
            <a:cxnLst/>
            <a:rect l="l" t="t" r="r" b="b"/>
            <a:pathLst>
              <a:path w="1152144">
                <a:moveTo>
                  <a:pt x="0" y="0"/>
                </a:moveTo>
                <a:lnTo>
                  <a:pt x="115214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090166" y="4001262"/>
            <a:ext cx="1906524" cy="0"/>
          </a:xfrm>
          <a:custGeom>
            <a:avLst/>
            <a:gdLst/>
            <a:ahLst/>
            <a:cxnLst/>
            <a:rect l="l" t="t" r="r" b="b"/>
            <a:pathLst>
              <a:path w="1906524">
                <a:moveTo>
                  <a:pt x="0" y="0"/>
                </a:moveTo>
                <a:lnTo>
                  <a:pt x="190652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005834" y="400126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034534" y="4001262"/>
            <a:ext cx="1807464" cy="0"/>
          </a:xfrm>
          <a:custGeom>
            <a:avLst/>
            <a:gdLst/>
            <a:ahLst/>
            <a:cxnLst/>
            <a:rect l="l" t="t" r="r" b="b"/>
            <a:pathLst>
              <a:path w="1807464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914781" y="786002"/>
            <a:ext cx="0" cy="4299585"/>
          </a:xfrm>
          <a:custGeom>
            <a:avLst/>
            <a:gdLst/>
            <a:ahLst/>
            <a:cxnLst/>
            <a:rect l="l" t="t" r="r" b="b"/>
            <a:pathLst>
              <a:path h="4299585">
                <a:moveTo>
                  <a:pt x="0" y="0"/>
                </a:moveTo>
                <a:lnTo>
                  <a:pt x="0" y="429958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900684" y="5071491"/>
            <a:ext cx="1180338" cy="0"/>
          </a:xfrm>
          <a:custGeom>
            <a:avLst/>
            <a:gdLst/>
            <a:ahLst/>
            <a:cxnLst/>
            <a:rect l="l" t="t" r="r" b="b"/>
            <a:pathLst>
              <a:path w="1180338">
                <a:moveTo>
                  <a:pt x="0" y="0"/>
                </a:moveTo>
                <a:lnTo>
                  <a:pt x="118033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085594" y="809625"/>
            <a:ext cx="0" cy="4247769"/>
          </a:xfrm>
          <a:custGeom>
            <a:avLst/>
            <a:gdLst/>
            <a:ahLst/>
            <a:cxnLst/>
            <a:rect l="l" t="t" r="r" b="b"/>
            <a:pathLst>
              <a:path h="4247769">
                <a:moveTo>
                  <a:pt x="0" y="0"/>
                </a:moveTo>
                <a:lnTo>
                  <a:pt x="0" y="4247769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081022" y="5071491"/>
            <a:ext cx="1915668" cy="0"/>
          </a:xfrm>
          <a:custGeom>
            <a:avLst/>
            <a:gdLst/>
            <a:ahLst/>
            <a:cxnLst/>
            <a:rect l="l" t="t" r="r" b="b"/>
            <a:pathLst>
              <a:path w="1915668">
                <a:moveTo>
                  <a:pt x="0" y="0"/>
                </a:moveTo>
                <a:lnTo>
                  <a:pt x="191566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001262" y="809625"/>
            <a:ext cx="0" cy="4247769"/>
          </a:xfrm>
          <a:custGeom>
            <a:avLst/>
            <a:gdLst/>
            <a:ahLst/>
            <a:cxnLst/>
            <a:rect l="l" t="t" r="r" b="b"/>
            <a:pathLst>
              <a:path h="4247769">
                <a:moveTo>
                  <a:pt x="0" y="0"/>
                </a:moveTo>
                <a:lnTo>
                  <a:pt x="0" y="424776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996690" y="5071491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>
                <a:moveTo>
                  <a:pt x="0" y="0"/>
                </a:moveTo>
                <a:lnTo>
                  <a:pt x="10287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029962" y="809625"/>
            <a:ext cx="0" cy="4247769"/>
          </a:xfrm>
          <a:custGeom>
            <a:avLst/>
            <a:gdLst/>
            <a:ahLst/>
            <a:cxnLst/>
            <a:rect l="l" t="t" r="r" b="b"/>
            <a:pathLst>
              <a:path h="4247769">
                <a:moveTo>
                  <a:pt x="0" y="0"/>
                </a:moveTo>
                <a:lnTo>
                  <a:pt x="0" y="424776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025390" y="5071491"/>
            <a:ext cx="1816608" cy="0"/>
          </a:xfrm>
          <a:custGeom>
            <a:avLst/>
            <a:gdLst/>
            <a:ahLst/>
            <a:cxnLst/>
            <a:rect l="l" t="t" r="r" b="b"/>
            <a:pathLst>
              <a:path w="1816608">
                <a:moveTo>
                  <a:pt x="0" y="0"/>
                </a:moveTo>
                <a:lnTo>
                  <a:pt x="181660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856095" y="785622"/>
            <a:ext cx="0" cy="4299966"/>
          </a:xfrm>
          <a:custGeom>
            <a:avLst/>
            <a:gdLst/>
            <a:ahLst/>
            <a:cxnLst/>
            <a:rect l="l" t="t" r="r" b="b"/>
            <a:pathLst>
              <a:path h="4299966">
                <a:moveTo>
                  <a:pt x="0" y="0"/>
                </a:moveTo>
                <a:lnTo>
                  <a:pt x="0" y="429996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47166" y="6342126"/>
            <a:ext cx="1169670" cy="131063"/>
          </a:xfrm>
          <a:custGeom>
            <a:avLst/>
            <a:gdLst/>
            <a:ahLst/>
            <a:cxnLst/>
            <a:rect l="l" t="t" r="r" b="b"/>
            <a:pathLst>
              <a:path w="1169670" h="131063">
                <a:moveTo>
                  <a:pt x="0" y="0"/>
                </a:moveTo>
                <a:lnTo>
                  <a:pt x="0" y="131063"/>
                </a:lnTo>
                <a:lnTo>
                  <a:pt x="1169670" y="131063"/>
                </a:lnTo>
                <a:lnTo>
                  <a:pt x="1169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47166" y="6473190"/>
            <a:ext cx="1169670" cy="131825"/>
          </a:xfrm>
          <a:custGeom>
            <a:avLst/>
            <a:gdLst/>
            <a:ahLst/>
            <a:cxnLst/>
            <a:rect l="l" t="t" r="r" b="b"/>
            <a:pathLst>
              <a:path w="1169670" h="131825">
                <a:moveTo>
                  <a:pt x="0" y="0"/>
                </a:moveTo>
                <a:lnTo>
                  <a:pt x="0" y="131825"/>
                </a:lnTo>
                <a:lnTo>
                  <a:pt x="1169670" y="131825"/>
                </a:lnTo>
                <a:lnTo>
                  <a:pt x="1169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47166" y="6605015"/>
            <a:ext cx="1169670" cy="131063"/>
          </a:xfrm>
          <a:custGeom>
            <a:avLst/>
            <a:gdLst/>
            <a:ahLst/>
            <a:cxnLst/>
            <a:rect l="l" t="t" r="r" b="b"/>
            <a:pathLst>
              <a:path w="1169670" h="131063">
                <a:moveTo>
                  <a:pt x="0" y="0"/>
                </a:moveTo>
                <a:lnTo>
                  <a:pt x="0" y="131064"/>
                </a:lnTo>
                <a:lnTo>
                  <a:pt x="1169670" y="131064"/>
                </a:lnTo>
                <a:lnTo>
                  <a:pt x="1169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125980" y="6341364"/>
            <a:ext cx="1575816" cy="262889"/>
          </a:xfrm>
          <a:custGeom>
            <a:avLst/>
            <a:gdLst/>
            <a:ahLst/>
            <a:cxnLst/>
            <a:rect l="l" t="t" r="r" b="b"/>
            <a:pathLst>
              <a:path w="1575816" h="262889">
                <a:moveTo>
                  <a:pt x="0" y="0"/>
                </a:moveTo>
                <a:lnTo>
                  <a:pt x="0" y="262889"/>
                </a:lnTo>
                <a:lnTo>
                  <a:pt x="1575816" y="262889"/>
                </a:lnTo>
                <a:lnTo>
                  <a:pt x="157581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125980" y="6604254"/>
            <a:ext cx="1575816" cy="131063"/>
          </a:xfrm>
          <a:custGeom>
            <a:avLst/>
            <a:gdLst/>
            <a:ahLst/>
            <a:cxnLst/>
            <a:rect l="l" t="t" r="r" b="b"/>
            <a:pathLst>
              <a:path w="1575816" h="131063">
                <a:moveTo>
                  <a:pt x="0" y="0"/>
                </a:moveTo>
                <a:lnTo>
                  <a:pt x="0" y="131063"/>
                </a:lnTo>
                <a:lnTo>
                  <a:pt x="1575816" y="131063"/>
                </a:lnTo>
                <a:lnTo>
                  <a:pt x="157581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710940" y="6341364"/>
            <a:ext cx="782574" cy="131825"/>
          </a:xfrm>
          <a:custGeom>
            <a:avLst/>
            <a:gdLst/>
            <a:ahLst/>
            <a:cxnLst/>
            <a:rect l="l" t="t" r="r" b="b"/>
            <a:pathLst>
              <a:path w="782574" h="131825">
                <a:moveTo>
                  <a:pt x="0" y="0"/>
                </a:moveTo>
                <a:lnTo>
                  <a:pt x="0" y="131825"/>
                </a:lnTo>
                <a:lnTo>
                  <a:pt x="782574" y="131825"/>
                </a:lnTo>
                <a:lnTo>
                  <a:pt x="78257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710940" y="6473190"/>
            <a:ext cx="782574" cy="131825"/>
          </a:xfrm>
          <a:custGeom>
            <a:avLst/>
            <a:gdLst/>
            <a:ahLst/>
            <a:cxnLst/>
            <a:rect l="l" t="t" r="r" b="b"/>
            <a:pathLst>
              <a:path w="782574" h="131825">
                <a:moveTo>
                  <a:pt x="0" y="0"/>
                </a:moveTo>
                <a:lnTo>
                  <a:pt x="0" y="131825"/>
                </a:lnTo>
                <a:lnTo>
                  <a:pt x="782574" y="131825"/>
                </a:lnTo>
                <a:lnTo>
                  <a:pt x="78257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710940" y="6605015"/>
            <a:ext cx="782574" cy="131063"/>
          </a:xfrm>
          <a:custGeom>
            <a:avLst/>
            <a:gdLst/>
            <a:ahLst/>
            <a:cxnLst/>
            <a:rect l="l" t="t" r="r" b="b"/>
            <a:pathLst>
              <a:path w="782574" h="131063">
                <a:moveTo>
                  <a:pt x="0" y="0"/>
                </a:moveTo>
                <a:lnTo>
                  <a:pt x="0" y="131064"/>
                </a:lnTo>
                <a:lnTo>
                  <a:pt x="782574" y="131064"/>
                </a:lnTo>
                <a:lnTo>
                  <a:pt x="78257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502658" y="6341364"/>
            <a:ext cx="854963" cy="262889"/>
          </a:xfrm>
          <a:custGeom>
            <a:avLst/>
            <a:gdLst/>
            <a:ahLst/>
            <a:cxnLst/>
            <a:rect l="l" t="t" r="r" b="b"/>
            <a:pathLst>
              <a:path w="854963" h="262889">
                <a:moveTo>
                  <a:pt x="0" y="0"/>
                </a:moveTo>
                <a:lnTo>
                  <a:pt x="0" y="262889"/>
                </a:lnTo>
                <a:lnTo>
                  <a:pt x="854963" y="262889"/>
                </a:lnTo>
                <a:lnTo>
                  <a:pt x="8549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502658" y="6604254"/>
            <a:ext cx="854963" cy="131063"/>
          </a:xfrm>
          <a:custGeom>
            <a:avLst/>
            <a:gdLst/>
            <a:ahLst/>
            <a:cxnLst/>
            <a:rect l="l" t="t" r="r" b="b"/>
            <a:pathLst>
              <a:path w="854963" h="131063">
                <a:moveTo>
                  <a:pt x="0" y="0"/>
                </a:moveTo>
                <a:lnTo>
                  <a:pt x="0" y="131063"/>
                </a:lnTo>
                <a:lnTo>
                  <a:pt x="854963" y="131063"/>
                </a:lnTo>
                <a:lnTo>
                  <a:pt x="8549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366766" y="6341364"/>
            <a:ext cx="1492758" cy="66294"/>
          </a:xfrm>
          <a:custGeom>
            <a:avLst/>
            <a:gdLst/>
            <a:ahLst/>
            <a:cxnLst/>
            <a:rect l="l" t="t" r="r" b="b"/>
            <a:pathLst>
              <a:path w="1492758" h="66294">
                <a:moveTo>
                  <a:pt x="0" y="0"/>
                </a:moveTo>
                <a:lnTo>
                  <a:pt x="0" y="66294"/>
                </a:lnTo>
                <a:lnTo>
                  <a:pt x="1492758" y="66294"/>
                </a:lnTo>
                <a:lnTo>
                  <a:pt x="149275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366766" y="6407658"/>
            <a:ext cx="1492758" cy="131063"/>
          </a:xfrm>
          <a:custGeom>
            <a:avLst/>
            <a:gdLst/>
            <a:ahLst/>
            <a:cxnLst/>
            <a:rect l="l" t="t" r="r" b="b"/>
            <a:pathLst>
              <a:path w="1492758" h="131063">
                <a:moveTo>
                  <a:pt x="0" y="0"/>
                </a:moveTo>
                <a:lnTo>
                  <a:pt x="0" y="131063"/>
                </a:lnTo>
                <a:lnTo>
                  <a:pt x="1492758" y="131063"/>
                </a:lnTo>
                <a:lnTo>
                  <a:pt x="149275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366766" y="6538722"/>
            <a:ext cx="1492758" cy="131825"/>
          </a:xfrm>
          <a:custGeom>
            <a:avLst/>
            <a:gdLst/>
            <a:ahLst/>
            <a:cxnLst/>
            <a:rect l="l" t="t" r="r" b="b"/>
            <a:pathLst>
              <a:path w="1492758" h="131825">
                <a:moveTo>
                  <a:pt x="0" y="0"/>
                </a:moveTo>
                <a:lnTo>
                  <a:pt x="0" y="131825"/>
                </a:lnTo>
                <a:lnTo>
                  <a:pt x="1492758" y="131825"/>
                </a:lnTo>
                <a:lnTo>
                  <a:pt x="149275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66766" y="6670548"/>
            <a:ext cx="1492758" cy="64770"/>
          </a:xfrm>
          <a:custGeom>
            <a:avLst/>
            <a:gdLst/>
            <a:ahLst/>
            <a:cxnLst/>
            <a:rect l="l" t="t" r="r" b="b"/>
            <a:pathLst>
              <a:path w="1492758" h="64770">
                <a:moveTo>
                  <a:pt x="0" y="0"/>
                </a:moveTo>
                <a:lnTo>
                  <a:pt x="0" y="64770"/>
                </a:lnTo>
                <a:lnTo>
                  <a:pt x="1492758" y="64770"/>
                </a:lnTo>
                <a:lnTo>
                  <a:pt x="1492758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18972" y="6327267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47166" y="6341745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125980" y="6341745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116836" y="6312535"/>
            <a:ext cx="1584960" cy="29464"/>
          </a:xfrm>
          <a:custGeom>
            <a:avLst/>
            <a:gdLst/>
            <a:ahLst/>
            <a:cxnLst/>
            <a:rect l="l" t="t" r="r" b="b"/>
            <a:pathLst>
              <a:path w="1584960" h="29464">
                <a:moveTo>
                  <a:pt x="0" y="29464"/>
                </a:moveTo>
                <a:lnTo>
                  <a:pt x="1584960" y="29464"/>
                </a:lnTo>
                <a:lnTo>
                  <a:pt x="1584960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145030" y="6341745"/>
            <a:ext cx="1556766" cy="0"/>
          </a:xfrm>
          <a:custGeom>
            <a:avLst/>
            <a:gdLst/>
            <a:ahLst/>
            <a:cxnLst/>
            <a:rect l="l" t="t" r="r" b="b"/>
            <a:pathLst>
              <a:path w="1556766">
                <a:moveTo>
                  <a:pt x="0" y="0"/>
                </a:moveTo>
                <a:lnTo>
                  <a:pt x="1556766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710940" y="6341745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701796" y="6312535"/>
            <a:ext cx="791718" cy="29464"/>
          </a:xfrm>
          <a:custGeom>
            <a:avLst/>
            <a:gdLst/>
            <a:ahLst/>
            <a:cxnLst/>
            <a:rect l="l" t="t" r="r" b="b"/>
            <a:pathLst>
              <a:path w="791718" h="29464">
                <a:moveTo>
                  <a:pt x="0" y="29464"/>
                </a:moveTo>
                <a:lnTo>
                  <a:pt x="791718" y="29464"/>
                </a:lnTo>
                <a:lnTo>
                  <a:pt x="791718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729990" y="6341745"/>
            <a:ext cx="763524" cy="0"/>
          </a:xfrm>
          <a:custGeom>
            <a:avLst/>
            <a:gdLst/>
            <a:ahLst/>
            <a:cxnLst/>
            <a:rect l="l" t="t" r="r" b="b"/>
            <a:pathLst>
              <a:path w="763524">
                <a:moveTo>
                  <a:pt x="0" y="0"/>
                </a:moveTo>
                <a:lnTo>
                  <a:pt x="763524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502658" y="6341745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493514" y="6312535"/>
            <a:ext cx="864108" cy="29464"/>
          </a:xfrm>
          <a:custGeom>
            <a:avLst/>
            <a:gdLst/>
            <a:ahLst/>
            <a:cxnLst/>
            <a:rect l="l" t="t" r="r" b="b"/>
            <a:pathLst>
              <a:path w="864108" h="29464">
                <a:moveTo>
                  <a:pt x="0" y="29464"/>
                </a:moveTo>
                <a:lnTo>
                  <a:pt x="864108" y="29464"/>
                </a:lnTo>
                <a:lnTo>
                  <a:pt x="864108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521708" y="6341745"/>
            <a:ext cx="835913" cy="0"/>
          </a:xfrm>
          <a:custGeom>
            <a:avLst/>
            <a:gdLst/>
            <a:ahLst/>
            <a:cxnLst/>
            <a:rect l="l" t="t" r="r" b="b"/>
            <a:pathLst>
              <a:path w="835913">
                <a:moveTo>
                  <a:pt x="0" y="0"/>
                </a:moveTo>
                <a:lnTo>
                  <a:pt x="835913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366766" y="6341745"/>
            <a:ext cx="19050" cy="0"/>
          </a:xfrm>
          <a:custGeom>
            <a:avLst/>
            <a:gdLst/>
            <a:ahLst/>
            <a:cxnLst/>
            <a:rect l="l" t="t" r="r" b="b"/>
            <a:pathLst>
              <a:path w="19050">
                <a:moveTo>
                  <a:pt x="0" y="0"/>
                </a:moveTo>
                <a:lnTo>
                  <a:pt x="19050" y="0"/>
                </a:lnTo>
              </a:path>
            </a:pathLst>
          </a:custGeom>
          <a:ln w="2032">
            <a:solidFill>
              <a:srgbClr val="C0C0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357622" y="6327267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385816" y="6312535"/>
            <a:ext cx="1473708" cy="29464"/>
          </a:xfrm>
          <a:custGeom>
            <a:avLst/>
            <a:gdLst/>
            <a:ahLst/>
            <a:cxnLst/>
            <a:rect l="l" t="t" r="r" b="b"/>
            <a:pathLst>
              <a:path w="1473708" h="29464">
                <a:moveTo>
                  <a:pt x="0" y="29464"/>
                </a:moveTo>
                <a:lnTo>
                  <a:pt x="1473708" y="29464"/>
                </a:lnTo>
                <a:lnTo>
                  <a:pt x="1473708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385816" y="6340729"/>
            <a:ext cx="1473708" cy="2031"/>
          </a:xfrm>
          <a:custGeom>
            <a:avLst/>
            <a:gdLst/>
            <a:ahLst/>
            <a:cxnLst/>
            <a:rect l="l" t="t" r="r" b="b"/>
            <a:pathLst>
              <a:path w="1473708" h="2031">
                <a:moveTo>
                  <a:pt x="0" y="2031"/>
                </a:moveTo>
                <a:lnTo>
                  <a:pt x="1473708" y="2031"/>
                </a:lnTo>
                <a:lnTo>
                  <a:pt x="1473708" y="0"/>
                </a:lnTo>
                <a:lnTo>
                  <a:pt x="0" y="0"/>
                </a:lnTo>
                <a:lnTo>
                  <a:pt x="0" y="2031"/>
                </a:lnTo>
                <a:close/>
              </a:path>
            </a:pathLst>
          </a:custGeom>
          <a:solidFill>
            <a:srgbClr val="C0C0B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47166" y="6750177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116836" y="6750177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701796" y="6750177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493514" y="6750177"/>
            <a:ext cx="864108" cy="0"/>
          </a:xfrm>
          <a:custGeom>
            <a:avLst/>
            <a:gdLst/>
            <a:ahLst/>
            <a:cxnLst/>
            <a:rect l="l" t="t" r="r" b="b"/>
            <a:pathLst>
              <a:path w="864108">
                <a:moveTo>
                  <a:pt x="0" y="0"/>
                </a:moveTo>
                <a:lnTo>
                  <a:pt x="86410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357622" y="6750177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385816" y="6750177"/>
            <a:ext cx="1473708" cy="0"/>
          </a:xfrm>
          <a:custGeom>
            <a:avLst/>
            <a:gdLst/>
            <a:ahLst/>
            <a:cxnLst/>
            <a:rect l="l" t="t" r="r" b="b"/>
            <a:pathLst>
              <a:path w="1473708">
                <a:moveTo>
                  <a:pt x="0" y="0"/>
                </a:moveTo>
                <a:lnTo>
                  <a:pt x="147370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33069" y="6313551"/>
            <a:ext cx="0" cy="2460116"/>
          </a:xfrm>
          <a:custGeom>
            <a:avLst/>
            <a:gdLst/>
            <a:ahLst/>
            <a:cxnLst/>
            <a:rect l="l" t="t" r="r" b="b"/>
            <a:pathLst>
              <a:path h="2460116">
                <a:moveTo>
                  <a:pt x="0" y="0"/>
                </a:moveTo>
                <a:lnTo>
                  <a:pt x="0" y="2460116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18972" y="8759571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125980" y="768934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10940" y="768934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502658" y="7689342"/>
            <a:ext cx="854963" cy="0"/>
          </a:xfrm>
          <a:custGeom>
            <a:avLst/>
            <a:gdLst/>
            <a:ahLst/>
            <a:cxnLst/>
            <a:rect l="l" t="t" r="r" b="b"/>
            <a:pathLst>
              <a:path w="854963">
                <a:moveTo>
                  <a:pt x="0" y="0"/>
                </a:moveTo>
                <a:lnTo>
                  <a:pt x="854963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366766" y="7689342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121408" y="6337173"/>
            <a:ext cx="0" cy="2408301"/>
          </a:xfrm>
          <a:custGeom>
            <a:avLst/>
            <a:gdLst/>
            <a:ahLst/>
            <a:cxnLst/>
            <a:rect l="l" t="t" r="r" b="b"/>
            <a:pathLst>
              <a:path h="2408301">
                <a:moveTo>
                  <a:pt x="0" y="0"/>
                </a:moveTo>
                <a:lnTo>
                  <a:pt x="0" y="2408301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116836" y="8759571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706368" y="6337173"/>
            <a:ext cx="0" cy="2408301"/>
          </a:xfrm>
          <a:custGeom>
            <a:avLst/>
            <a:gdLst/>
            <a:ahLst/>
            <a:cxnLst/>
            <a:rect l="l" t="t" r="r" b="b"/>
            <a:pathLst>
              <a:path h="2408301">
                <a:moveTo>
                  <a:pt x="0" y="0"/>
                </a:moveTo>
                <a:lnTo>
                  <a:pt x="0" y="240830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701796" y="8759571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498086" y="6337173"/>
            <a:ext cx="0" cy="2408301"/>
          </a:xfrm>
          <a:custGeom>
            <a:avLst/>
            <a:gdLst/>
            <a:ahLst/>
            <a:cxnLst/>
            <a:rect l="l" t="t" r="r" b="b"/>
            <a:pathLst>
              <a:path h="2408301">
                <a:moveTo>
                  <a:pt x="0" y="0"/>
                </a:moveTo>
                <a:lnTo>
                  <a:pt x="0" y="240830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493514" y="8759571"/>
            <a:ext cx="864108" cy="0"/>
          </a:xfrm>
          <a:custGeom>
            <a:avLst/>
            <a:gdLst/>
            <a:ahLst/>
            <a:cxnLst/>
            <a:rect l="l" t="t" r="r" b="b"/>
            <a:pathLst>
              <a:path w="864108">
                <a:moveTo>
                  <a:pt x="0" y="0"/>
                </a:moveTo>
                <a:lnTo>
                  <a:pt x="86410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362194" y="6337173"/>
            <a:ext cx="0" cy="2408301"/>
          </a:xfrm>
          <a:custGeom>
            <a:avLst/>
            <a:gdLst/>
            <a:ahLst/>
            <a:cxnLst/>
            <a:rect l="l" t="t" r="r" b="b"/>
            <a:pathLst>
              <a:path h="2408301">
                <a:moveTo>
                  <a:pt x="0" y="0"/>
                </a:moveTo>
                <a:lnTo>
                  <a:pt x="0" y="240830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357622" y="875957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385816" y="8759571"/>
            <a:ext cx="1473708" cy="0"/>
          </a:xfrm>
          <a:custGeom>
            <a:avLst/>
            <a:gdLst/>
            <a:ahLst/>
            <a:cxnLst/>
            <a:rect l="l" t="t" r="r" b="b"/>
            <a:pathLst>
              <a:path w="1473708">
                <a:moveTo>
                  <a:pt x="0" y="0"/>
                </a:moveTo>
                <a:lnTo>
                  <a:pt x="147370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873621" y="6313170"/>
            <a:ext cx="0" cy="2460498"/>
          </a:xfrm>
          <a:custGeom>
            <a:avLst/>
            <a:gdLst/>
            <a:ahLst/>
            <a:cxnLst/>
            <a:rect l="l" t="t" r="r" b="b"/>
            <a:pathLst>
              <a:path h="2460498">
                <a:moveTo>
                  <a:pt x="0" y="0"/>
                </a:moveTo>
                <a:lnTo>
                  <a:pt x="0" y="2460498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33069" y="6327267"/>
            <a:ext cx="1188339" cy="4229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54"/>
              </a:spcBef>
            </a:pPr>
            <a:endParaRPr sz="1100"/>
          </a:p>
          <a:p>
            <a:pPr marL="425640" marR="424018" algn="ctr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de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CD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21408" y="6327267"/>
            <a:ext cx="1584960" cy="4229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48"/>
              </a:spcBef>
            </a:pPr>
            <a:endParaRPr sz="1100"/>
          </a:p>
          <a:p>
            <a:pPr marL="253745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Denumirea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proie</a:t>
            </a:r>
            <a:r>
              <a:rPr sz="900" b="1" i="1" spc="-4" dirty="0" smtClean="0">
                <a:latin typeface="Times New Roman"/>
                <a:cs typeface="Times New Roman"/>
              </a:rPr>
              <a:t>c</a:t>
            </a:r>
            <a:r>
              <a:rPr sz="900" b="1" i="1" spc="0" dirty="0" smtClean="0">
                <a:latin typeface="Times New Roman"/>
                <a:cs typeface="Times New Roman"/>
              </a:rPr>
              <a:t>tului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06368" y="6327267"/>
            <a:ext cx="791717" cy="4229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54"/>
              </a:spcBef>
            </a:pPr>
            <a:endParaRPr sz="1100"/>
          </a:p>
          <a:p>
            <a:pPr marL="86867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indicatorului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98086" y="6327267"/>
            <a:ext cx="864108" cy="4229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48"/>
              </a:spcBef>
            </a:pPr>
            <a:endParaRPr sz="1100"/>
          </a:p>
          <a:p>
            <a:pPr marL="192786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Utilizatori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62194" y="6327267"/>
            <a:ext cx="1511427" cy="4229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00"/>
              </a:lnSpc>
              <a:spcBef>
                <a:spcPts val="32"/>
              </a:spcBef>
            </a:pPr>
            <a:endParaRPr sz="600"/>
          </a:p>
          <a:p>
            <a:pPr marL="201929">
              <a:lnSpc>
                <a:spcPct val="95825"/>
              </a:lnSpc>
            </a:pPr>
            <a:r>
              <a:rPr sz="900" b="1" i="1" spc="0" dirty="0" smtClean="0">
                <a:latin typeface="Times New Roman"/>
                <a:cs typeface="Times New Roman"/>
              </a:rPr>
              <a:t>Efec</a:t>
            </a:r>
            <a:r>
              <a:rPr sz="900" b="1" i="1" spc="-4" dirty="0" smtClean="0">
                <a:latin typeface="Times New Roman"/>
                <a:cs typeface="Times New Roman"/>
              </a:rPr>
              <a:t>t</a:t>
            </a:r>
            <a:r>
              <a:rPr sz="900" b="1" i="1" spc="0" dirty="0" smtClean="0">
                <a:latin typeface="Times New Roman"/>
                <a:cs typeface="Times New Roman"/>
              </a:rPr>
              <a:t>e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soci</a:t>
            </a:r>
            <a:r>
              <a:rPr sz="900" b="1" i="1" spc="-4" dirty="0" smtClean="0">
                <a:latin typeface="Times New Roman"/>
                <a:cs typeface="Times New Roman"/>
              </a:rPr>
              <a:t>o</a:t>
            </a:r>
            <a:r>
              <a:rPr sz="900" b="1" i="1" spc="0" dirty="0" smtClean="0">
                <a:latin typeface="Times New Roman"/>
                <a:cs typeface="Times New Roman"/>
              </a:rPr>
              <a:t>-econo</a:t>
            </a:r>
            <a:r>
              <a:rPr sz="900" b="1" i="1" spc="-4" dirty="0" smtClean="0">
                <a:latin typeface="Times New Roman"/>
                <a:cs typeface="Times New Roman"/>
              </a:rPr>
              <a:t>m</a:t>
            </a:r>
            <a:r>
              <a:rPr sz="900" b="1" i="1" spc="0" dirty="0" smtClean="0">
                <a:latin typeface="Times New Roman"/>
                <a:cs typeface="Times New Roman"/>
              </a:rPr>
              <a:t>ice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3069" y="6750177"/>
            <a:ext cx="1188339" cy="20093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2121408" y="6750177"/>
            <a:ext cx="1584960" cy="939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3706368" y="6750177"/>
            <a:ext cx="791717" cy="939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4498086" y="6750177"/>
            <a:ext cx="864108" cy="939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5362194" y="6750177"/>
            <a:ext cx="1511427" cy="939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2121408" y="7689342"/>
            <a:ext cx="1584960" cy="1070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3706368" y="7689342"/>
            <a:ext cx="791717" cy="1070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4498086" y="7689342"/>
            <a:ext cx="864108" cy="1070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5362194" y="7689342"/>
            <a:ext cx="1511427" cy="1070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914781" y="799719"/>
            <a:ext cx="1170813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2085594" y="799719"/>
            <a:ext cx="1915667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4001262" y="799719"/>
            <a:ext cx="1028700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5029962" y="799719"/>
            <a:ext cx="1826133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914781" y="1869948"/>
            <a:ext cx="1170813" cy="5349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2085594" y="1869948"/>
            <a:ext cx="1915667" cy="5349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4001262" y="1869948"/>
            <a:ext cx="1028700" cy="5349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5029962" y="1869948"/>
            <a:ext cx="1826133" cy="5349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914781" y="2404871"/>
            <a:ext cx="1170813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2085594" y="2404871"/>
            <a:ext cx="191566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4001262" y="2404871"/>
            <a:ext cx="102870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5029962" y="2404871"/>
            <a:ext cx="1826133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914781" y="3203448"/>
            <a:ext cx="1170813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085594" y="3203448"/>
            <a:ext cx="1915667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4001262" y="3203448"/>
            <a:ext cx="1028700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029962" y="3203448"/>
            <a:ext cx="1826133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914781" y="4001262"/>
            <a:ext cx="1170813" cy="1070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085594" y="4001262"/>
            <a:ext cx="1915667" cy="1070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001262" y="4001262"/>
            <a:ext cx="1028700" cy="1070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029962" y="4001262"/>
            <a:ext cx="1826133" cy="1070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585137" marR="547658" algn="ctr">
              <a:lnSpc>
                <a:spcPct val="95825"/>
              </a:lnSpc>
              <a:spcBef>
                <a:spcPts val="299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Modifica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cai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netice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canti</a:t>
            </a:r>
            <a:r>
              <a:rPr sz="900" spc="-4" dirty="0" smtClean="0">
                <a:latin typeface="Times New Roman"/>
                <a:cs typeface="Times New Roman"/>
              </a:rPr>
              <a:t>tă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proteina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endParaRPr sz="900">
              <a:latin typeface="Times New Roman"/>
              <a:cs typeface="Times New Roman"/>
            </a:endParaRPr>
          </a:p>
          <a:p>
            <a:pPr marL="523113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CERCETĂ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I   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teris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tei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rimentare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bob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grâu</a:t>
            </a:r>
            <a:endParaRPr sz="900">
              <a:latin typeface="Times New Roman"/>
              <a:cs typeface="Times New Roman"/>
            </a:endParaRPr>
          </a:p>
          <a:p>
            <a:pPr marL="72504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          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rezer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elio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Combina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hibri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68389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CEREALE       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pani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     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</a:t>
            </a:r>
            <a:endParaRPr sz="900">
              <a:latin typeface="Times New Roman"/>
              <a:cs typeface="Times New Roman"/>
            </a:endParaRPr>
          </a:p>
          <a:p>
            <a:pPr marL="67552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PLANTE           </a:t>
            </a:r>
            <a:r>
              <a:rPr sz="900" b="1" spc="2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ii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fezabilitate</a:t>
            </a:r>
            <a:endParaRPr sz="900">
              <a:latin typeface="Times New Roman"/>
              <a:cs typeface="Times New Roman"/>
            </a:endParaRPr>
          </a:p>
          <a:p>
            <a:pPr marL="69609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TEHNICE         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sudul 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ii.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809626" marR="2340048" indent="-3166875">
              <a:lnSpc>
                <a:spcPts val="1010"/>
              </a:lnSpc>
              <a:spcBef>
                <a:spcPts val="80"/>
              </a:spcBef>
              <a:tabLst>
                <a:tab pos="35941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FUNDULEA	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ana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e 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endParaRPr sz="900">
              <a:latin typeface="Times New Roman"/>
              <a:cs typeface="Times New Roman"/>
            </a:endParaRPr>
          </a:p>
          <a:p>
            <a:pPr marL="462914">
              <a:lnSpc>
                <a:spcPct val="95825"/>
              </a:lnSpc>
              <a:spcBef>
                <a:spcPts val="34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S.N.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“INSTITUTUL    </a:t>
            </a:r>
            <a:r>
              <a:rPr sz="900" b="1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inere/testare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bioproduse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aviare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biologic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Optimizarea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iagnosticului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endParaRPr sz="900">
              <a:latin typeface="Times New Roman"/>
              <a:cs typeface="Times New Roman"/>
            </a:endParaRPr>
          </a:p>
          <a:p>
            <a:pPr marL="1613538" marR="1700967" indent="-1065276">
              <a:lnSpc>
                <a:spcPts val="1010"/>
              </a:lnSpc>
              <a:spcBef>
                <a:spcPts val="8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PASTEUR” 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A.       </a:t>
            </a:r>
            <a:r>
              <a:rPr sz="900" b="1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idar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me</a:t>
            </a:r>
            <a:r>
              <a:rPr sz="900" spc="0" dirty="0" smtClean="0">
                <a:latin typeface="Times New Roman"/>
                <a:cs typeface="Times New Roman"/>
              </a:rPr>
              <a:t>canis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iopato-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genetice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ale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7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afe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iuni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</a:t>
            </a:r>
            <a:endParaRPr sz="900">
              <a:latin typeface="Times New Roman"/>
              <a:cs typeface="Times New Roman"/>
            </a:endParaRPr>
          </a:p>
          <a:p>
            <a:pPr marL="1613538">
              <a:lnSpc>
                <a:spcPts val="1030"/>
              </a:lnSpc>
              <a:spcBef>
                <a:spcPts val="1"/>
              </a:spcBef>
            </a:pPr>
            <a:r>
              <a:rPr sz="900" spc="0" dirty="0" smtClean="0">
                <a:latin typeface="Times New Roman"/>
                <a:cs typeface="Times New Roman"/>
              </a:rPr>
              <a:t>folosirea</a:t>
            </a:r>
            <a:r>
              <a:rPr sz="900" spc="4" dirty="0" smtClean="0">
                <a:latin typeface="Times New Roman"/>
                <a:cs typeface="Times New Roman"/>
              </a:rPr>
              <a:t> gă</a:t>
            </a:r>
            <a:r>
              <a:rPr sz="900" spc="0" dirty="0" smtClean="0">
                <a:latin typeface="Times New Roman"/>
                <a:cs typeface="Times New Roman"/>
              </a:rPr>
              <a:t>inilor SPF.</a:t>
            </a:r>
            <a:endParaRPr sz="900">
              <a:latin typeface="Times New Roman"/>
              <a:cs typeface="Times New Roman"/>
            </a:endParaRPr>
          </a:p>
          <a:p>
            <a:pPr marL="1613538" marR="436615" indent="-1068327">
              <a:lnSpc>
                <a:spcPct val="94962"/>
              </a:lnSpc>
              <a:spcBef>
                <a:spcPts val="4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ROMATEST SA       </a:t>
            </a:r>
            <a:r>
              <a:rPr sz="900" b="1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Toc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toare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ipurt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tă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cep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noua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corespun- preg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irea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hra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219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ş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aşternut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ză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r>
              <a:rPr sz="900" spc="-4" dirty="0" smtClean="0">
                <a:latin typeface="Times New Roman"/>
                <a:cs typeface="Times New Roman"/>
              </a:rPr>
              <a:t> 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 zooteh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ie                                                 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prototip</a:t>
            </a:r>
            <a:endParaRPr sz="900">
              <a:latin typeface="Times New Roman"/>
              <a:cs typeface="Times New Roman"/>
            </a:endParaRPr>
          </a:p>
          <a:p>
            <a:pPr marL="3555182" marR="2310041" indent="0" algn="ctr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Standard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irma produs</a:t>
            </a:r>
            <a:endParaRPr sz="900">
              <a:latin typeface="Times New Roman"/>
              <a:cs typeface="Times New Roman"/>
            </a:endParaRPr>
          </a:p>
          <a:p>
            <a:pPr marL="3539195" marR="2292765" algn="ct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Certifica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endParaRPr sz="900">
              <a:latin typeface="Times New Roman"/>
              <a:cs typeface="Times New Roman"/>
            </a:endParaRPr>
          </a:p>
          <a:p>
            <a:pPr marL="1613535" marR="452727" indent="-1117854" algn="just">
              <a:lnSpc>
                <a:spcPct val="94962"/>
              </a:lnSpc>
              <a:spcBef>
                <a:spcPts val="4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-9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PALAS   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Ameliorarea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lap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la              </a:t>
            </a:r>
            <a:r>
              <a:rPr sz="900" spc="2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Femele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ide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lapte de efectivele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ovine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câmpie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peste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150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l/ca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50-60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lapte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ţă de ras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loc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endParaRPr sz="900">
              <a:latin typeface="Times New Roman"/>
              <a:cs typeface="Times New Roman"/>
            </a:endParaRPr>
          </a:p>
          <a:p>
            <a:pPr marL="3598548" marR="450258" indent="38096">
              <a:lnSpc>
                <a:spcPts val="1030"/>
              </a:lnSpc>
              <a:spcBef>
                <a:spcPts val="71"/>
              </a:spcBef>
            </a:pPr>
            <a:r>
              <a:rPr sz="900" spc="0" dirty="0" smtClean="0">
                <a:latin typeface="Times New Roman"/>
                <a:cs typeface="Times New Roman"/>
              </a:rPr>
              <a:t>Oi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nit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suplime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tar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pentru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500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000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/oaie/an</a:t>
            </a:r>
            <a:endParaRPr sz="900">
              <a:latin typeface="Times New Roman"/>
              <a:cs typeface="Times New Roman"/>
            </a:endParaRPr>
          </a:p>
          <a:p>
            <a:pPr marL="3773872" marR="2528342" algn="ctr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lapte</a:t>
            </a:r>
            <a:endParaRPr sz="900">
              <a:latin typeface="Times New Roman"/>
              <a:cs typeface="Times New Roman"/>
            </a:endParaRPr>
          </a:p>
          <a:p>
            <a:pPr marL="593216">
              <a:lnSpc>
                <a:spcPct val="95825"/>
              </a:lnSpc>
              <a:spcBef>
                <a:spcPts val="3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SC CENT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UL  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inerea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nţ</a:t>
            </a:r>
            <a:r>
              <a:rPr sz="900" spc="0" dirty="0" smtClean="0">
                <a:latin typeface="Times New Roman"/>
                <a:cs typeface="Times New Roman"/>
              </a:rPr>
              <a:t>inut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Modele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Biopesti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id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inci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ii 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tive de</a:t>
            </a:r>
            <a:endParaRPr sz="900">
              <a:latin typeface="Times New Roman"/>
              <a:cs typeface="Times New Roman"/>
            </a:endParaRPr>
          </a:p>
          <a:p>
            <a:pPr marL="50711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cipii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active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tip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alomonilor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experimentale,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tipul alomonilor</a:t>
            </a:r>
            <a:endParaRPr sz="900">
              <a:latin typeface="Times New Roman"/>
              <a:cs typeface="Times New Roman"/>
            </a:endParaRPr>
          </a:p>
          <a:p>
            <a:pPr marL="49491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 PRELUC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ARE  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valori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 ca biopes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.                     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rapoarte</a:t>
            </a:r>
            <a:endParaRPr sz="900">
              <a:latin typeface="Times New Roman"/>
              <a:cs typeface="Times New Roman"/>
            </a:endParaRPr>
          </a:p>
          <a:p>
            <a:pPr marL="72809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PLANTE                                                                           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rimentare,</a:t>
            </a:r>
            <a:endParaRPr sz="900">
              <a:latin typeface="Times New Roman"/>
              <a:cs typeface="Times New Roman"/>
            </a:endParaRPr>
          </a:p>
          <a:p>
            <a:pPr marL="581786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MEDICI</a:t>
            </a:r>
            <a:r>
              <a:rPr sz="900" b="1" spc="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ALE                                                                            </a:t>
            </a:r>
            <a:r>
              <a:rPr sz="900" b="1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rapoar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e,</a:t>
            </a:r>
            <a:endParaRPr sz="900">
              <a:latin typeface="Times New Roman"/>
              <a:cs typeface="Times New Roman"/>
            </a:endParaRPr>
          </a:p>
          <a:p>
            <a:pPr marL="521585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PLANTAVOREL                                                                                  </a:t>
            </a:r>
            <a:r>
              <a:rPr sz="900" b="1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653407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SA PIATRA                                                                                   </a:t>
            </a:r>
            <a:r>
              <a:rPr sz="900" b="1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ri,</a:t>
            </a:r>
            <a:endParaRPr sz="900">
              <a:latin typeface="Times New Roman"/>
              <a:cs typeface="Times New Roman"/>
            </a:endParaRPr>
          </a:p>
          <a:p>
            <a:pPr marL="747133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NEA</a:t>
            </a:r>
            <a:r>
              <a:rPr sz="900" b="1" spc="4" dirty="0" smtClean="0">
                <a:latin typeface="Times New Roman"/>
                <a:cs typeface="Times New Roman"/>
              </a:rPr>
              <a:t>M</a:t>
            </a:r>
            <a:r>
              <a:rPr sz="900" b="1" spc="0" dirty="0" smtClean="0">
                <a:latin typeface="Times New Roman"/>
                <a:cs typeface="Times New Roman"/>
              </a:rPr>
              <a:t>Ţ                                                                                   </a:t>
            </a:r>
            <a:r>
              <a:rPr sz="900" b="1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standard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irma</a:t>
            </a:r>
            <a:endParaRPr sz="900">
              <a:latin typeface="Times New Roman"/>
              <a:cs typeface="Times New Roman"/>
            </a:endParaRPr>
          </a:p>
          <a:p>
            <a:pPr marL="331342" marR="346202" algn="ctr">
              <a:lnSpc>
                <a:spcPct val="100000"/>
              </a:lnSpc>
              <a:spcBef>
                <a:spcPts val="5689"/>
              </a:spcBef>
              <a:tabLst>
                <a:tab pos="6299200" algn="l"/>
              </a:tabLst>
            </a:pPr>
            <a:r>
              <a:rPr sz="1200" b="1" i="1" dirty="0" smtClean="0">
                <a:latin typeface="Times New Roman"/>
                <a:cs typeface="Times New Roman"/>
              </a:rPr>
              <a:t>                                              </a:t>
            </a:r>
            <a:r>
              <a:rPr sz="1200" b="1" i="1" spc="-50" dirty="0" smtClean="0">
                <a:latin typeface="Times New Roman"/>
                <a:cs typeface="Times New Roman"/>
              </a:rPr>
              <a:t> </a:t>
            </a:r>
            <a:r>
              <a:rPr sz="1200" b="1" i="1" spc="0" dirty="0" smtClean="0">
                <a:latin typeface="Times New Roman"/>
                <a:cs typeface="Times New Roman"/>
              </a:rPr>
              <a:t>Valorificare în medi</a:t>
            </a:r>
            <a:r>
              <a:rPr sz="1200" b="1" i="1" spc="-4" dirty="0" smtClean="0">
                <a:latin typeface="Times New Roman"/>
                <a:cs typeface="Times New Roman"/>
              </a:rPr>
              <a:t>u</a:t>
            </a:r>
            <a:r>
              <a:rPr sz="1200" b="1" i="1" spc="0" dirty="0" smtClean="0">
                <a:latin typeface="Times New Roman"/>
                <a:cs typeface="Times New Roman"/>
              </a:rPr>
              <a:t>l so</a:t>
            </a:r>
            <a:r>
              <a:rPr sz="1200" b="1" i="1" spc="-4" dirty="0" smtClean="0">
                <a:latin typeface="Times New Roman"/>
                <a:cs typeface="Times New Roman"/>
              </a:rPr>
              <a:t>c</a:t>
            </a:r>
            <a:r>
              <a:rPr sz="1200" b="1" i="1" spc="4" dirty="0" smtClean="0">
                <a:latin typeface="Times New Roman"/>
                <a:cs typeface="Times New Roman"/>
              </a:rPr>
              <a:t>i</a:t>
            </a:r>
            <a:r>
              <a:rPr sz="1200" b="1" i="1" spc="0" dirty="0" smtClean="0">
                <a:latin typeface="Times New Roman"/>
                <a:cs typeface="Times New Roman"/>
              </a:rPr>
              <a:t>o-econ</a:t>
            </a:r>
            <a:r>
              <a:rPr sz="1200" b="1" i="1" spc="-4" dirty="0" smtClean="0">
                <a:latin typeface="Times New Roman"/>
                <a:cs typeface="Times New Roman"/>
              </a:rPr>
              <a:t>o</a:t>
            </a:r>
            <a:r>
              <a:rPr sz="1200" b="1" i="1" spc="0" dirty="0" smtClean="0">
                <a:latin typeface="Times New Roman"/>
                <a:cs typeface="Times New Roman"/>
              </a:rPr>
              <a:t>mic 	</a:t>
            </a:r>
            <a:endParaRPr sz="1200">
              <a:latin typeface="Times New Roman"/>
              <a:cs typeface="Times New Roman"/>
            </a:endParaRPr>
          </a:p>
          <a:p>
            <a:pPr marL="533780">
              <a:lnSpc>
                <a:spcPct val="95825"/>
              </a:lnSpc>
              <a:spcBef>
                <a:spcPts val="2992"/>
              </a:spcBef>
            </a:pPr>
            <a:r>
              <a:rPr sz="900" b="1" i="1" spc="0" dirty="0" smtClean="0">
                <a:latin typeface="Times New Roman"/>
                <a:cs typeface="Times New Roman"/>
              </a:rPr>
              <a:t>D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numir</a:t>
            </a:r>
            <a:r>
              <a:rPr sz="900" b="1" i="1" spc="4" dirty="0" smtClean="0">
                <a:latin typeface="Times New Roman"/>
                <a:cs typeface="Times New Roman"/>
              </a:rPr>
              <a:t>e</a:t>
            </a:r>
            <a:r>
              <a:rPr sz="900" b="1" i="1" spc="0" dirty="0" smtClean="0">
                <a:latin typeface="Times New Roman"/>
                <a:cs typeface="Times New Roman"/>
              </a:rPr>
              <a:t>a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uni</a:t>
            </a:r>
            <a:r>
              <a:rPr sz="900" b="1" i="1" spc="4" dirty="0" smtClean="0">
                <a:latin typeface="Times New Roman"/>
                <a:cs typeface="Times New Roman"/>
              </a:rPr>
              <a:t>t</a:t>
            </a:r>
            <a:r>
              <a:rPr sz="900" b="1" i="1" spc="0" dirty="0" smtClean="0">
                <a:latin typeface="Times New Roman"/>
                <a:cs typeface="Times New Roman"/>
              </a:rPr>
              <a:t>ă</a:t>
            </a:r>
            <a:r>
              <a:rPr sz="900" b="1" i="1" spc="4" dirty="0" smtClean="0">
                <a:latin typeface="Times New Roman"/>
                <a:cs typeface="Times New Roman"/>
              </a:rPr>
              <a:t>ţ</a:t>
            </a:r>
            <a:r>
              <a:rPr sz="900" b="1" i="1" spc="0" dirty="0" smtClean="0">
                <a:latin typeface="Times New Roman"/>
                <a:cs typeface="Times New Roman"/>
              </a:rPr>
              <a:t>ii                                                                    </a:t>
            </a:r>
            <a:r>
              <a:rPr sz="900" b="1" i="1" spc="180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Tipul</a:t>
            </a:r>
            <a:endParaRPr sz="900">
              <a:latin typeface="Times New Roman"/>
              <a:cs typeface="Times New Roman"/>
            </a:endParaRPr>
          </a:p>
          <a:p>
            <a:pPr marL="3385947">
              <a:lnSpc>
                <a:spcPts val="1034"/>
              </a:lnSpc>
              <a:spcBef>
                <a:spcPts val="519"/>
              </a:spcBef>
            </a:pPr>
            <a:r>
              <a:rPr sz="1350" b="1" i="1" spc="0" baseline="-32208" dirty="0" smtClean="0">
                <a:latin typeface="Times New Roman"/>
                <a:cs typeface="Times New Roman"/>
              </a:rPr>
              <a:t>realizat                                                     </a:t>
            </a:r>
            <a:r>
              <a:rPr sz="1350" b="1" i="1" spc="220" baseline="-32208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la</a:t>
            </a:r>
            <a:r>
              <a:rPr sz="900" b="1" i="1" spc="4" dirty="0" smtClean="0">
                <a:latin typeface="Times New Roman"/>
                <a:cs typeface="Times New Roman"/>
              </a:rPr>
              <a:t> </a:t>
            </a:r>
            <a:r>
              <a:rPr sz="900" b="1" i="1" spc="0" dirty="0" smtClean="0">
                <a:latin typeface="Times New Roman"/>
                <a:cs typeface="Times New Roman"/>
              </a:rPr>
              <a:t>uti</a:t>
            </a:r>
            <a:r>
              <a:rPr sz="900" b="1" i="1" spc="-4" dirty="0" smtClean="0">
                <a:latin typeface="Times New Roman"/>
                <a:cs typeface="Times New Roman"/>
              </a:rPr>
              <a:t>l</a:t>
            </a:r>
            <a:r>
              <a:rPr sz="900" b="1" i="1" spc="0" dirty="0" smtClean="0">
                <a:latin typeface="Times New Roman"/>
                <a:cs typeface="Times New Roman"/>
              </a:rPr>
              <a:t>izator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73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eficie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trosu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nivelului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rurilor</a:t>
            </a:r>
            <a:endParaRPr sz="900">
              <a:latin typeface="Times New Roman"/>
              <a:cs typeface="Times New Roman"/>
            </a:endParaRPr>
          </a:p>
          <a:p>
            <a:pPr marL="55054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CERCETĂ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I     </a:t>
            </a:r>
            <a:r>
              <a:rPr sz="900" b="1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tehnologice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A.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Br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ila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solubile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sub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pragul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endParaRPr sz="900">
              <a:latin typeface="Times New Roman"/>
              <a:cs typeface="Times New Roman"/>
            </a:endParaRPr>
          </a:p>
          <a:p>
            <a:pPr marL="752478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gra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ate                                           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le</a:t>
            </a:r>
            <a:endParaRPr sz="900">
              <a:latin typeface="Times New Roman"/>
              <a:cs typeface="Times New Roman"/>
            </a:endParaRPr>
          </a:p>
          <a:p>
            <a:pPr marL="64046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PEDOLOGIE                                                                                                                          </a:t>
            </a:r>
            <a:r>
              <a:rPr sz="900" b="1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sub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influe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tr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şi</a:t>
            </a:r>
            <a:endParaRPr sz="900">
              <a:latin typeface="Times New Roman"/>
              <a:cs typeface="Times New Roman"/>
            </a:endParaRPr>
          </a:p>
          <a:p>
            <a:pPr marL="525398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ŞI AGROCHIMIE                                                                                                                      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lucr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elio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endParaRPr sz="900">
              <a:latin typeface="Times New Roman"/>
              <a:cs typeface="Times New Roman"/>
            </a:endParaRPr>
          </a:p>
          <a:p>
            <a:pPr marL="4857380" marR="667680" indent="-4203211">
              <a:lnSpc>
                <a:spcPts val="1010"/>
              </a:lnSpc>
              <a:spcBef>
                <a:spcPts val="34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BUCUR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ŞTI                                                                                                                          </a:t>
            </a:r>
            <a:r>
              <a:rPr sz="900" b="1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az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saline</a:t>
            </a:r>
            <a:endParaRPr sz="900">
              <a:latin typeface="Times New Roman"/>
              <a:cs typeface="Times New Roman"/>
            </a:endParaRPr>
          </a:p>
          <a:p>
            <a:pPr marL="1616583" marR="521368">
              <a:lnSpc>
                <a:spcPct val="95825"/>
              </a:lnSpc>
              <a:spcBef>
                <a:spcPts val="14"/>
              </a:spcBef>
            </a:pPr>
            <a:r>
              <a:rPr sz="900" spc="0" dirty="0" smtClean="0">
                <a:latin typeface="Times New Roman"/>
                <a:cs typeface="Times New Roman"/>
              </a:rPr>
              <a:t>Tehnologii eficie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Promo 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ni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Valorif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duselor economic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ificare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ale     S.R.L.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cal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organice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ezid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(gunoi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compostarea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                                                                  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grajd);</a:t>
            </a:r>
            <a:endParaRPr sz="900">
              <a:latin typeface="Times New Roman"/>
              <a:cs typeface="Times New Roman"/>
            </a:endParaRPr>
          </a:p>
          <a:p>
            <a:pPr marL="1616583" marR="490268">
              <a:lnSpc>
                <a:spcPts val="1030"/>
              </a:lnSpc>
              <a:spcBef>
                <a:spcPts val="71"/>
              </a:spcBef>
            </a:pPr>
            <a:r>
              <a:rPr sz="900" spc="0" dirty="0" smtClean="0">
                <a:latin typeface="Times New Roman"/>
                <a:cs typeface="Times New Roman"/>
              </a:rPr>
              <a:t>organice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ezid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ale,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scop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                           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şi 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fer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-4" dirty="0" smtClean="0">
                <a:latin typeface="Times New Roman"/>
                <a:cs typeface="Times New Roman"/>
              </a:rPr>
              <a:t>so</a:t>
            </a:r>
            <a:r>
              <a:rPr sz="900" spc="0" dirty="0" smtClean="0">
                <a:latin typeface="Times New Roman"/>
                <a:cs typeface="Times New Roman"/>
              </a:rPr>
              <a:t>lului şi                                                         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cole</a:t>
            </a:r>
            <a:endParaRPr sz="900">
              <a:latin typeface="Times New Roman"/>
              <a:cs typeface="Times New Roman"/>
            </a:endParaRPr>
          </a:p>
          <a:p>
            <a:pPr marL="1616594" marR="3839039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cole şi al conversiei 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endParaRPr sz="900">
              <a:latin typeface="Times New Roman"/>
              <a:cs typeface="Times New Roman"/>
            </a:endParaRPr>
          </a:p>
          <a:p>
            <a:pPr marL="1616605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agric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ltură orga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7814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object 114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18972" y="799719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16836" y="799719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701796" y="799719"/>
            <a:ext cx="720089" cy="0"/>
          </a:xfrm>
          <a:custGeom>
            <a:avLst/>
            <a:gdLst/>
            <a:ahLst/>
            <a:cxnLst/>
            <a:rect l="l" t="t" r="r" b="b"/>
            <a:pathLst>
              <a:path w="720089">
                <a:moveTo>
                  <a:pt x="0" y="0"/>
                </a:moveTo>
                <a:lnTo>
                  <a:pt x="72008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421886" y="799719"/>
            <a:ext cx="935736" cy="0"/>
          </a:xfrm>
          <a:custGeom>
            <a:avLst/>
            <a:gdLst/>
            <a:ahLst/>
            <a:cxnLst/>
            <a:rect l="l" t="t" r="r" b="b"/>
            <a:pathLst>
              <a:path w="935736">
                <a:moveTo>
                  <a:pt x="0" y="0"/>
                </a:moveTo>
                <a:lnTo>
                  <a:pt x="93573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357622" y="79971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385816" y="799719"/>
            <a:ext cx="1473708" cy="0"/>
          </a:xfrm>
          <a:custGeom>
            <a:avLst/>
            <a:gdLst/>
            <a:ahLst/>
            <a:cxnLst/>
            <a:rect l="l" t="t" r="r" b="b"/>
            <a:pathLst>
              <a:path w="1473708">
                <a:moveTo>
                  <a:pt x="0" y="0"/>
                </a:moveTo>
                <a:lnTo>
                  <a:pt x="147370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47166" y="186994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125980" y="186994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710940" y="1869948"/>
            <a:ext cx="710946" cy="0"/>
          </a:xfrm>
          <a:custGeom>
            <a:avLst/>
            <a:gdLst/>
            <a:ahLst/>
            <a:cxnLst/>
            <a:rect l="l" t="t" r="r" b="b"/>
            <a:pathLst>
              <a:path w="710946">
                <a:moveTo>
                  <a:pt x="0" y="0"/>
                </a:moveTo>
                <a:lnTo>
                  <a:pt x="71094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431030" y="1869948"/>
            <a:ext cx="926591" cy="0"/>
          </a:xfrm>
          <a:custGeom>
            <a:avLst/>
            <a:gdLst/>
            <a:ahLst/>
            <a:cxnLst/>
            <a:rect l="l" t="t" r="r" b="b"/>
            <a:pathLst>
              <a:path w="926591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366766" y="1869948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47166" y="372922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125980" y="372922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710940" y="3729228"/>
            <a:ext cx="710946" cy="0"/>
          </a:xfrm>
          <a:custGeom>
            <a:avLst/>
            <a:gdLst/>
            <a:ahLst/>
            <a:cxnLst/>
            <a:rect l="l" t="t" r="r" b="b"/>
            <a:pathLst>
              <a:path w="710946">
                <a:moveTo>
                  <a:pt x="0" y="0"/>
                </a:moveTo>
                <a:lnTo>
                  <a:pt x="71094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431030" y="3729228"/>
            <a:ext cx="926591" cy="0"/>
          </a:xfrm>
          <a:custGeom>
            <a:avLst/>
            <a:gdLst/>
            <a:ahLst/>
            <a:cxnLst/>
            <a:rect l="l" t="t" r="r" b="b"/>
            <a:pathLst>
              <a:path w="926591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366766" y="3729228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47166" y="426415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125980" y="426415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710940" y="4264152"/>
            <a:ext cx="710946" cy="0"/>
          </a:xfrm>
          <a:custGeom>
            <a:avLst/>
            <a:gdLst/>
            <a:ahLst/>
            <a:cxnLst/>
            <a:rect l="l" t="t" r="r" b="b"/>
            <a:pathLst>
              <a:path w="710946">
                <a:moveTo>
                  <a:pt x="0" y="0"/>
                </a:moveTo>
                <a:lnTo>
                  <a:pt x="71094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431030" y="4264152"/>
            <a:ext cx="926591" cy="0"/>
          </a:xfrm>
          <a:custGeom>
            <a:avLst/>
            <a:gdLst/>
            <a:ahLst/>
            <a:cxnLst/>
            <a:rect l="l" t="t" r="r" b="b"/>
            <a:pathLst>
              <a:path w="926591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366766" y="4264152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47166" y="493090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125980" y="493090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710940" y="4930902"/>
            <a:ext cx="710946" cy="0"/>
          </a:xfrm>
          <a:custGeom>
            <a:avLst/>
            <a:gdLst/>
            <a:ahLst/>
            <a:cxnLst/>
            <a:rect l="l" t="t" r="r" b="b"/>
            <a:pathLst>
              <a:path w="710946">
                <a:moveTo>
                  <a:pt x="0" y="0"/>
                </a:moveTo>
                <a:lnTo>
                  <a:pt x="71094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431030" y="4930902"/>
            <a:ext cx="926591" cy="0"/>
          </a:xfrm>
          <a:custGeom>
            <a:avLst/>
            <a:gdLst/>
            <a:ahLst/>
            <a:cxnLst/>
            <a:rect l="l" t="t" r="r" b="b"/>
            <a:pathLst>
              <a:path w="926591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366766" y="4930902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47166" y="6254496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125980" y="625449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10940" y="6254496"/>
            <a:ext cx="710946" cy="0"/>
          </a:xfrm>
          <a:custGeom>
            <a:avLst/>
            <a:gdLst/>
            <a:ahLst/>
            <a:cxnLst/>
            <a:rect l="l" t="t" r="r" b="b"/>
            <a:pathLst>
              <a:path w="710946">
                <a:moveTo>
                  <a:pt x="0" y="0"/>
                </a:moveTo>
                <a:lnTo>
                  <a:pt x="71094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31030" y="6254496"/>
            <a:ext cx="926591" cy="0"/>
          </a:xfrm>
          <a:custGeom>
            <a:avLst/>
            <a:gdLst/>
            <a:ahLst/>
            <a:cxnLst/>
            <a:rect l="l" t="t" r="r" b="b"/>
            <a:pathLst>
              <a:path w="926591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366766" y="6254496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947166" y="7184136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125980" y="718413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710940" y="7184136"/>
            <a:ext cx="710946" cy="0"/>
          </a:xfrm>
          <a:custGeom>
            <a:avLst/>
            <a:gdLst/>
            <a:ahLst/>
            <a:cxnLst/>
            <a:rect l="l" t="t" r="r" b="b"/>
            <a:pathLst>
              <a:path w="710946">
                <a:moveTo>
                  <a:pt x="0" y="0"/>
                </a:moveTo>
                <a:lnTo>
                  <a:pt x="71094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431030" y="7184136"/>
            <a:ext cx="926591" cy="0"/>
          </a:xfrm>
          <a:custGeom>
            <a:avLst/>
            <a:gdLst/>
            <a:ahLst/>
            <a:cxnLst/>
            <a:rect l="l" t="t" r="r" b="b"/>
            <a:pathLst>
              <a:path w="926591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366766" y="7184136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947166" y="8376665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125980" y="8376665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710940" y="8376665"/>
            <a:ext cx="710946" cy="0"/>
          </a:xfrm>
          <a:custGeom>
            <a:avLst/>
            <a:gdLst/>
            <a:ahLst/>
            <a:cxnLst/>
            <a:rect l="l" t="t" r="r" b="b"/>
            <a:pathLst>
              <a:path w="710946">
                <a:moveTo>
                  <a:pt x="0" y="0"/>
                </a:moveTo>
                <a:lnTo>
                  <a:pt x="71094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431030" y="8376665"/>
            <a:ext cx="926591" cy="0"/>
          </a:xfrm>
          <a:custGeom>
            <a:avLst/>
            <a:gdLst/>
            <a:ahLst/>
            <a:cxnLst/>
            <a:rect l="l" t="t" r="r" b="b"/>
            <a:pathLst>
              <a:path w="926591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366766" y="8376665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933069" y="786002"/>
            <a:ext cx="0" cy="8149209"/>
          </a:xfrm>
          <a:custGeom>
            <a:avLst/>
            <a:gdLst/>
            <a:ahLst/>
            <a:cxnLst/>
            <a:rect l="l" t="t" r="r" b="b"/>
            <a:pathLst>
              <a:path h="8149209">
                <a:moveTo>
                  <a:pt x="0" y="0"/>
                </a:moveTo>
                <a:lnTo>
                  <a:pt x="0" y="8149209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918972" y="8921115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125980" y="293065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710940" y="2930652"/>
            <a:ext cx="710946" cy="0"/>
          </a:xfrm>
          <a:custGeom>
            <a:avLst/>
            <a:gdLst/>
            <a:ahLst/>
            <a:cxnLst/>
            <a:rect l="l" t="t" r="r" b="b"/>
            <a:pathLst>
              <a:path w="710946">
                <a:moveTo>
                  <a:pt x="0" y="0"/>
                </a:moveTo>
                <a:lnTo>
                  <a:pt x="71094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431030" y="2930652"/>
            <a:ext cx="926591" cy="0"/>
          </a:xfrm>
          <a:custGeom>
            <a:avLst/>
            <a:gdLst/>
            <a:ahLst/>
            <a:cxnLst/>
            <a:rect l="l" t="t" r="r" b="b"/>
            <a:pathLst>
              <a:path w="926591">
                <a:moveTo>
                  <a:pt x="0" y="0"/>
                </a:moveTo>
                <a:lnTo>
                  <a:pt x="92659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366766" y="2930652"/>
            <a:ext cx="1492758" cy="0"/>
          </a:xfrm>
          <a:custGeom>
            <a:avLst/>
            <a:gdLst/>
            <a:ahLst/>
            <a:cxnLst/>
            <a:rect l="l" t="t" r="r" b="b"/>
            <a:pathLst>
              <a:path w="1492758">
                <a:moveTo>
                  <a:pt x="0" y="0"/>
                </a:moveTo>
                <a:lnTo>
                  <a:pt x="1492758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121408" y="809625"/>
            <a:ext cx="0" cy="8097393"/>
          </a:xfrm>
          <a:custGeom>
            <a:avLst/>
            <a:gdLst/>
            <a:ahLst/>
            <a:cxnLst/>
            <a:rect l="l" t="t" r="r" b="b"/>
            <a:pathLst>
              <a:path h="8097393">
                <a:moveTo>
                  <a:pt x="0" y="0"/>
                </a:moveTo>
                <a:lnTo>
                  <a:pt x="0" y="8097393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116836" y="8921115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706368" y="809625"/>
            <a:ext cx="0" cy="8097393"/>
          </a:xfrm>
          <a:custGeom>
            <a:avLst/>
            <a:gdLst/>
            <a:ahLst/>
            <a:cxnLst/>
            <a:rect l="l" t="t" r="r" b="b"/>
            <a:pathLst>
              <a:path h="8097393">
                <a:moveTo>
                  <a:pt x="0" y="0"/>
                </a:moveTo>
                <a:lnTo>
                  <a:pt x="0" y="809739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701796" y="8921115"/>
            <a:ext cx="720089" cy="0"/>
          </a:xfrm>
          <a:custGeom>
            <a:avLst/>
            <a:gdLst/>
            <a:ahLst/>
            <a:cxnLst/>
            <a:rect l="l" t="t" r="r" b="b"/>
            <a:pathLst>
              <a:path w="720089">
                <a:moveTo>
                  <a:pt x="0" y="0"/>
                </a:moveTo>
                <a:lnTo>
                  <a:pt x="72008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426458" y="809625"/>
            <a:ext cx="0" cy="8097393"/>
          </a:xfrm>
          <a:custGeom>
            <a:avLst/>
            <a:gdLst/>
            <a:ahLst/>
            <a:cxnLst/>
            <a:rect l="l" t="t" r="r" b="b"/>
            <a:pathLst>
              <a:path h="8097393">
                <a:moveTo>
                  <a:pt x="0" y="0"/>
                </a:moveTo>
                <a:lnTo>
                  <a:pt x="0" y="809739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421886" y="8921115"/>
            <a:ext cx="935736" cy="0"/>
          </a:xfrm>
          <a:custGeom>
            <a:avLst/>
            <a:gdLst/>
            <a:ahLst/>
            <a:cxnLst/>
            <a:rect l="l" t="t" r="r" b="b"/>
            <a:pathLst>
              <a:path w="935736">
                <a:moveTo>
                  <a:pt x="0" y="0"/>
                </a:moveTo>
                <a:lnTo>
                  <a:pt x="935736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362194" y="809625"/>
            <a:ext cx="0" cy="8097393"/>
          </a:xfrm>
          <a:custGeom>
            <a:avLst/>
            <a:gdLst/>
            <a:ahLst/>
            <a:cxnLst/>
            <a:rect l="l" t="t" r="r" b="b"/>
            <a:pathLst>
              <a:path h="8097393">
                <a:moveTo>
                  <a:pt x="0" y="0"/>
                </a:moveTo>
                <a:lnTo>
                  <a:pt x="0" y="809739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357622" y="8921115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385816" y="8921115"/>
            <a:ext cx="1473708" cy="0"/>
          </a:xfrm>
          <a:custGeom>
            <a:avLst/>
            <a:gdLst/>
            <a:ahLst/>
            <a:cxnLst/>
            <a:rect l="l" t="t" r="r" b="b"/>
            <a:pathLst>
              <a:path w="1473708">
                <a:moveTo>
                  <a:pt x="0" y="0"/>
                </a:moveTo>
                <a:lnTo>
                  <a:pt x="147370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73621" y="785622"/>
            <a:ext cx="0" cy="8149590"/>
          </a:xfrm>
          <a:custGeom>
            <a:avLst/>
            <a:gdLst/>
            <a:ahLst/>
            <a:cxnLst/>
            <a:rect l="l" t="t" r="r" b="b"/>
            <a:pathLst>
              <a:path h="8149590">
                <a:moveTo>
                  <a:pt x="0" y="0"/>
                </a:moveTo>
                <a:lnTo>
                  <a:pt x="0" y="814959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33069" y="799719"/>
            <a:ext cx="1188339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2121408" y="799719"/>
            <a:ext cx="1584960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3706368" y="799719"/>
            <a:ext cx="720089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4426458" y="799719"/>
            <a:ext cx="935736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5362194" y="799719"/>
            <a:ext cx="1511427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933069" y="1869948"/>
            <a:ext cx="1188339" cy="1859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2121408" y="1869948"/>
            <a:ext cx="1584960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3706368" y="1869948"/>
            <a:ext cx="720089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4426458" y="1869948"/>
            <a:ext cx="935736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5362194" y="1869948"/>
            <a:ext cx="1511427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2121408" y="2930652"/>
            <a:ext cx="158496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3706368" y="2930652"/>
            <a:ext cx="720089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4426458" y="2930652"/>
            <a:ext cx="935736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5362194" y="2930652"/>
            <a:ext cx="151142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933069" y="3729228"/>
            <a:ext cx="1188339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2121408" y="3729228"/>
            <a:ext cx="158496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3706368" y="3729228"/>
            <a:ext cx="720089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4426458" y="3729228"/>
            <a:ext cx="935736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5362194" y="3729228"/>
            <a:ext cx="1511427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933069" y="4264152"/>
            <a:ext cx="1188339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2121408" y="4264152"/>
            <a:ext cx="158496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3706368" y="4264152"/>
            <a:ext cx="720089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4426458" y="4264152"/>
            <a:ext cx="935736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5362194" y="4264152"/>
            <a:ext cx="1511427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933069" y="4930902"/>
            <a:ext cx="1188339" cy="13235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2121408" y="4930902"/>
            <a:ext cx="1584960" cy="13235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3706368" y="4930902"/>
            <a:ext cx="720089" cy="13235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4426458" y="4930902"/>
            <a:ext cx="935736" cy="13235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5362194" y="4930902"/>
            <a:ext cx="1511427" cy="13235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933069" y="6254496"/>
            <a:ext cx="1188339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21408" y="6254496"/>
            <a:ext cx="1584960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706368" y="6254496"/>
            <a:ext cx="720089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426458" y="6254496"/>
            <a:ext cx="935736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362194" y="6254496"/>
            <a:ext cx="1511427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933069" y="7184136"/>
            <a:ext cx="1188339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121408" y="7184136"/>
            <a:ext cx="1584960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706368" y="7184136"/>
            <a:ext cx="720089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26458" y="7184136"/>
            <a:ext cx="935736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362194" y="7184136"/>
            <a:ext cx="1511427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33069" y="8376665"/>
            <a:ext cx="1188339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8376665"/>
            <a:ext cx="1584960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8376665"/>
            <a:ext cx="720089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26458" y="8376665"/>
            <a:ext cx="935736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362194" y="8376665"/>
            <a:ext cx="1511427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418259" marR="399198" algn="ctr">
              <a:lnSpc>
                <a:spcPct val="95825"/>
              </a:lnSpc>
              <a:spcBef>
                <a:spcPts val="299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SC TIMA CONTROL </a:t>
            </a:r>
            <a:r>
              <a:rPr sz="900" b="1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Curs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ocie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 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c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ză noi locu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muncă</a:t>
            </a:r>
            <a:endParaRPr sz="900">
              <a:latin typeface="Times New Roman"/>
              <a:cs typeface="Times New Roman"/>
            </a:endParaRPr>
          </a:p>
          <a:p>
            <a:pPr marL="1616586" marR="483063" indent="-965457">
              <a:lnSpc>
                <a:spcPct val="95441"/>
              </a:lnSpc>
              <a:spcBef>
                <a:spcPts val="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TIM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ŞOARA         </a:t>
            </a:r>
            <a:r>
              <a:rPr sz="900" b="1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blare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rci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c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ză o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nouă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de </a:t>
            </a:r>
            <a:r>
              <a:rPr sz="900" spc="0" dirty="0" smtClean="0">
                <a:latin typeface="Times New Roman"/>
                <a:cs typeface="Times New Roman"/>
              </a:rPr>
              <a:t>adu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iune apă potabi</a:t>
            </a:r>
            <a:r>
              <a:rPr sz="900" spc="-9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iz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eţ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operator sudor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termoplaste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og</a:t>
            </a:r>
            <a:r>
              <a:rPr sz="900" spc="0" dirty="0" smtClean="0">
                <a:latin typeface="Times New Roman"/>
                <a:cs typeface="Times New Roman"/>
              </a:rPr>
              <a:t>ică a 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elor                                     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dist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ibu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pă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recon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er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eşte for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de uzate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        potabi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 ga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e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muncă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disponibiliza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ezv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natur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şomerii</a:t>
            </a:r>
            <a:endParaRPr sz="900">
              <a:latin typeface="Times New Roman"/>
              <a:cs typeface="Times New Roman"/>
            </a:endParaRPr>
          </a:p>
          <a:p>
            <a:pPr marL="1616609">
              <a:lnSpc>
                <a:spcPts val="1035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rurală dura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ilă a 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  </a:t>
            </a:r>
            <a:r>
              <a:rPr sz="900" spc="12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ref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ape</a:t>
            </a:r>
            <a:endParaRPr sz="900">
              <a:latin typeface="Times New Roman"/>
              <a:cs typeface="Times New Roman"/>
            </a:endParaRPr>
          </a:p>
          <a:p>
            <a:pPr marL="1616609">
              <a:lnSpc>
                <a:spcPts val="1030"/>
              </a:lnSpc>
            </a:pP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re, jud. Tim</a:t>
            </a:r>
            <a:r>
              <a:rPr sz="900" spc="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ş                                                </a:t>
            </a:r>
            <a:r>
              <a:rPr sz="900" spc="1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uza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79" marR="623217" indent="-879344" algn="just">
              <a:lnSpc>
                <a:spcPct val="94962"/>
              </a:lnSpc>
              <a:spcBef>
                <a:spcPts val="4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D.            </a:t>
            </a:r>
            <a:r>
              <a:rPr sz="900" b="1" spc="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şi tehnologi necesa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ucursalele SNIF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Determinarea momentului apl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iri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Sectorul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optim al ap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9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ud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sura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pala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SCDID</a:t>
            </a:r>
            <a:endParaRPr sz="900">
              <a:latin typeface="Times New Roman"/>
              <a:cs typeface="Times New Roman"/>
            </a:endParaRPr>
          </a:p>
          <a:p>
            <a:pPr marL="4005472" marR="1916096" indent="-2388881">
              <a:lnSpc>
                <a:spcPct val="95729"/>
              </a:lnSpc>
              <a:spcBef>
                <a:spcPts val="5"/>
              </a:spcBef>
            </a:pP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i.                                                    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neasa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Gurgi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;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CAZ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Oradea;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Carac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l; SCDA Simni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endParaRPr sz="900">
              <a:latin typeface="Times New Roman"/>
              <a:cs typeface="Times New Roman"/>
            </a:endParaRPr>
          </a:p>
          <a:p>
            <a:pPr marL="4171584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Craiova</a:t>
            </a:r>
            <a:endParaRPr sz="900">
              <a:latin typeface="Times New Roman"/>
              <a:cs typeface="Times New Roman"/>
            </a:endParaRPr>
          </a:p>
          <a:p>
            <a:pPr marL="1616582" marR="414028" indent="0">
              <a:lnSpc>
                <a:spcPct val="95729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Opti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izar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apli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 cu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ector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ezvoltare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Auto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 înregist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şi ajutorul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metodelor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zate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                        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SCDID B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neasa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trans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derea bilan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apei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iz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în                           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Giurgiu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opti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iz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apl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ud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 cadrul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tip</a:t>
            </a:r>
            <a:endParaRPr sz="900">
              <a:latin typeface="Times New Roman"/>
              <a:cs typeface="Times New Roman"/>
            </a:endParaRPr>
          </a:p>
          <a:p>
            <a:pPr marL="1616583" marR="3728297">
              <a:lnSpc>
                <a:spcPts val="1030"/>
              </a:lnSpc>
              <a:spcBef>
                <a:spcPts val="71"/>
              </a:spcBef>
            </a:pPr>
            <a:r>
              <a:rPr sz="900" spc="0" dirty="0" smtClean="0">
                <a:latin typeface="Times New Roman"/>
                <a:cs typeface="Times New Roman"/>
              </a:rPr>
              <a:t>SCADA (supervisory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control data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quisitio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).</a:t>
            </a:r>
            <a:endParaRPr sz="900">
              <a:latin typeface="Times New Roman"/>
              <a:cs typeface="Times New Roman"/>
            </a:endParaRPr>
          </a:p>
          <a:p>
            <a:pPr marL="1616579" marR="1122075" indent="-856484">
              <a:lnSpc>
                <a:spcPts val="1019"/>
              </a:lnSpc>
              <a:spcBef>
                <a:spcPts val="104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ITC SRL             </a:t>
            </a:r>
            <a:r>
              <a:rPr sz="900" b="1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Cerce</a:t>
            </a:r>
            <a:r>
              <a:rPr sz="900" spc="4" dirty="0" smtClean="0">
                <a:latin typeface="Times New Roman"/>
                <a:cs typeface="Times New Roman"/>
              </a:rPr>
              <a:t>tă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linii,  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ITC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oiuri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</a:t>
            </a:r>
            <a:r>
              <a:rPr sz="900" spc="-4" dirty="0" smtClean="0">
                <a:latin typeface="Times New Roman"/>
                <a:cs typeface="Times New Roman"/>
              </a:rPr>
              <a:t>pi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fa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ilii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soiuri de ra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de</a:t>
            </a:r>
            <a:endParaRPr sz="900">
              <a:latin typeface="Times New Roman"/>
              <a:cs typeface="Times New Roman"/>
            </a:endParaRPr>
          </a:p>
          <a:p>
            <a:pPr marL="1616590">
              <a:lnSpc>
                <a:spcPts val="1025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toamna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lei şi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endParaRPr sz="900">
              <a:latin typeface="Times New Roman"/>
              <a:cs typeface="Times New Roman"/>
            </a:endParaRPr>
          </a:p>
          <a:p>
            <a:pPr marL="1616590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destina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(ulei-furaj).</a:t>
            </a:r>
            <a:endParaRPr sz="900">
              <a:latin typeface="Times New Roman"/>
              <a:cs typeface="Times New Roman"/>
            </a:endParaRPr>
          </a:p>
          <a:p>
            <a:pPr marL="1616579" marR="485240" indent="-1000502">
              <a:lnSpc>
                <a:spcPts val="1010"/>
              </a:lnSpc>
              <a:spcBef>
                <a:spcPts val="17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SC CCEE SRL        </a:t>
            </a:r>
            <a:r>
              <a:rPr sz="900" b="1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Tehnologia tra</a:t>
            </a:r>
            <a:r>
              <a:rPr sz="900" spc="4" dirty="0" smtClean="0">
                <a:latin typeface="Times New Roman"/>
                <a:cs typeface="Times New Roman"/>
              </a:rPr>
              <a:t>tă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ICPCSZ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şov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la </a:t>
            </a:r>
            <a:r>
              <a:rPr sz="900" spc="-4" dirty="0" smtClean="0">
                <a:latin typeface="Times New Roman"/>
                <a:cs typeface="Times New Roman"/>
              </a:rPr>
              <a:t>he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ar </a:t>
            </a:r>
            <a:r>
              <a:rPr sz="900" spc="0" dirty="0" smtClean="0">
                <a:latin typeface="Times New Roman"/>
                <a:cs typeface="Times New Roman"/>
              </a:rPr>
              <a:t>el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 a cartofu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ui de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nţă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                     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5-20%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</a:t>
            </a:r>
            <a:r>
              <a:rPr sz="900" spc="-9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90" marR="531807" indent="0">
              <a:lnSpc>
                <a:spcPts val="1030"/>
              </a:lnSpc>
              <a:spcBef>
                <a:spcPts val="10"/>
              </a:spcBef>
            </a:pP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creşte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  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Caiet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                                  condi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ile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produsului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la       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ini</a:t>
            </a:r>
            <a:endParaRPr sz="900">
              <a:latin typeface="Times New Roman"/>
              <a:cs typeface="Times New Roman"/>
            </a:endParaRPr>
          </a:p>
          <a:p>
            <a:pPr marL="1616590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hec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ar)</a:t>
            </a:r>
            <a:endParaRPr sz="900">
              <a:latin typeface="Times New Roman"/>
              <a:cs typeface="Times New Roman"/>
            </a:endParaRPr>
          </a:p>
          <a:p>
            <a:pPr marL="534542" marR="2078077" indent="100584">
              <a:lnSpc>
                <a:spcPct val="95825"/>
              </a:lnSpc>
              <a:spcBef>
                <a:spcPts val="3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baterea 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 şi      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ICPCIZSD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ica a buru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enilor a</a:t>
            </a:r>
            <a:r>
              <a:rPr sz="900" spc="-9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rute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Fundulea </a:t>
            </a: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PRODUCŢIE  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za de re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ace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 apa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45531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CULT</a:t>
            </a:r>
            <a:r>
              <a:rPr sz="900" b="1" spc="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RA  </a:t>
            </a:r>
            <a:r>
              <a:rPr sz="900" b="1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foliar al sfe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r.</a:t>
            </a:r>
            <a:endParaRPr sz="900">
              <a:latin typeface="Times New Roman"/>
              <a:cs typeface="Times New Roman"/>
            </a:endParaRPr>
          </a:p>
          <a:p>
            <a:pPr marL="418786" marR="5187192" indent="38077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 IND</a:t>
            </a:r>
            <a:r>
              <a:rPr sz="900" b="1" spc="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STR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ALIZ</a:t>
            </a:r>
            <a:r>
              <a:rPr sz="900" b="1" spc="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RE A SFECLEI</a:t>
            </a:r>
            <a:endParaRPr sz="900">
              <a:latin typeface="Times New Roman"/>
              <a:cs typeface="Times New Roman"/>
            </a:endParaRPr>
          </a:p>
          <a:p>
            <a:pPr marL="68696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9" dirty="0" smtClean="0">
                <a:latin typeface="Times New Roman"/>
                <a:cs typeface="Times New Roman"/>
              </a:rPr>
              <a:t> </a:t>
            </a:r>
            <a:r>
              <a:rPr sz="900" b="1" spc="-9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AH</a:t>
            </a:r>
            <a:r>
              <a:rPr sz="900" b="1" spc="4" dirty="0" smtClean="0">
                <a:latin typeface="Times New Roman"/>
                <a:cs typeface="Times New Roman"/>
              </a:rPr>
              <a:t>Ă</a:t>
            </a:r>
            <a:r>
              <a:rPr sz="900" b="1" spc="0" dirty="0" smtClean="0">
                <a:latin typeface="Times New Roman"/>
                <a:cs typeface="Times New Roman"/>
              </a:rPr>
              <a:t>R</a:t>
            </a:r>
            <a:endParaRPr sz="900">
              <a:latin typeface="Times New Roman"/>
              <a:cs typeface="Times New Roman"/>
            </a:endParaRPr>
          </a:p>
          <a:p>
            <a:pPr marL="471323" marR="5180912" indent="0">
              <a:lnSpc>
                <a:spcPts val="1030"/>
              </a:lnSpc>
              <a:spcBef>
                <a:spcPts val="2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şi SUBSTA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Ţ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L</a:t>
            </a:r>
            <a:r>
              <a:rPr sz="900" b="1" spc="4" dirty="0" smtClean="0">
                <a:latin typeface="Times New Roman"/>
                <a:cs typeface="Times New Roman"/>
              </a:rPr>
              <a:t>OR </a:t>
            </a:r>
            <a:r>
              <a:rPr sz="900" b="1" spc="0" dirty="0" smtClean="0">
                <a:latin typeface="Times New Roman"/>
                <a:cs typeface="Times New Roman"/>
              </a:rPr>
              <a:t>DULCI FUND</a:t>
            </a:r>
            <a:r>
              <a:rPr sz="900" b="1" spc="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LEA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iunii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comune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Combinatele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ito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515489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pestici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pis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      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chi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lor, 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fluente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duse</a:t>
            </a:r>
            <a:endParaRPr sz="900">
              <a:latin typeface="Times New Roman"/>
              <a:cs typeface="Times New Roman"/>
            </a:endParaRPr>
          </a:p>
          <a:p>
            <a:pPr marL="58712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fenomenului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rgism şi                              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Asocia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asupra  ento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ofau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e,</a:t>
            </a:r>
            <a:endParaRPr sz="900">
              <a:latin typeface="Times New Roman"/>
              <a:cs typeface="Times New Roman"/>
            </a:endParaRPr>
          </a:p>
          <a:p>
            <a:pPr marL="729921" marR="802456" algn="ctr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antago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ef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                                       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omului şi a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ui</a:t>
            </a:r>
            <a:endParaRPr sz="900">
              <a:latin typeface="Times New Roman"/>
              <a:cs typeface="Times New Roman"/>
            </a:endParaRPr>
          </a:p>
          <a:p>
            <a:pPr marL="647322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PROTECŢIA         </a:t>
            </a:r>
            <a:r>
              <a:rPr sz="900" b="1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toxicolo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                                             </a:t>
            </a:r>
            <a:r>
              <a:rPr sz="900" spc="2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torii      înconju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endParaRPr sz="900">
              <a:latin typeface="Times New Roman"/>
              <a:cs typeface="Times New Roman"/>
            </a:endParaRPr>
          </a:p>
          <a:p>
            <a:pPr marL="63133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PLANTELOR        </a:t>
            </a:r>
            <a:r>
              <a:rPr sz="900" b="1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secundare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asupra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particula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67019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FUNDULEA         </a:t>
            </a:r>
            <a:r>
              <a:rPr sz="900" b="1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înconju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7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cre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logice la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Banca   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iştilor</a:t>
            </a:r>
            <a:endParaRPr sz="900">
              <a:latin typeface="Times New Roman"/>
              <a:cs typeface="Times New Roman"/>
            </a:endParaRPr>
          </a:p>
          <a:p>
            <a:pPr marL="49187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–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princi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spec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 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pajişti</a:t>
            </a:r>
            <a:endParaRPr sz="900">
              <a:latin typeface="Times New Roman"/>
              <a:cs typeface="Times New Roman"/>
            </a:endParaRPr>
          </a:p>
          <a:p>
            <a:pPr marL="58712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pajiş</a:t>
            </a:r>
            <a:r>
              <a:rPr sz="900" spc="4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4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ă asigu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endParaRPr sz="900">
              <a:latin typeface="Times New Roman"/>
              <a:cs typeface="Times New Roman"/>
            </a:endParaRPr>
          </a:p>
          <a:p>
            <a:pPr marL="485771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PAJIŞTI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-   </a:t>
            </a:r>
            <a:r>
              <a:rPr sz="900" b="1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progres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semnificativ</a:t>
            </a:r>
            <a:endParaRPr sz="900">
              <a:latin typeface="Times New Roman"/>
              <a:cs typeface="Times New Roman"/>
            </a:endParaRPr>
          </a:p>
          <a:p>
            <a:pPr marL="1616586" marR="3664974" indent="-867171">
              <a:lnSpc>
                <a:spcPct val="95441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BRAŞOV         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privind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şi adaptabilitatea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condi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ecoped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specifice 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niei, 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tură durabi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654176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Promovarea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ie a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                </a:t>
            </a:r>
            <a:r>
              <a:rPr sz="900" spc="1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    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logice</a:t>
            </a:r>
            <a:endParaRPr sz="900">
              <a:latin typeface="Times New Roman"/>
              <a:cs typeface="Times New Roman"/>
            </a:endParaRPr>
          </a:p>
          <a:p>
            <a:pPr marL="51549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loroa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rtof                          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ialului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testat</a:t>
            </a:r>
            <a:endParaRPr sz="900">
              <a:latin typeface="Times New Roman"/>
              <a:cs typeface="Times New Roman"/>
            </a:endParaRPr>
          </a:p>
          <a:p>
            <a:pPr marL="58712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ISTIS</a:t>
            </a:r>
            <a:endParaRPr sz="900">
              <a:latin typeface="Times New Roman"/>
              <a:cs typeface="Times New Roman"/>
            </a:endParaRPr>
          </a:p>
          <a:p>
            <a:pPr marL="49645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CARTOF   </a:t>
            </a:r>
            <a:r>
              <a:rPr sz="900" b="1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ere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6524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 86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18972" y="799719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16836" y="799719"/>
            <a:ext cx="1548384" cy="0"/>
          </a:xfrm>
          <a:custGeom>
            <a:avLst/>
            <a:gdLst/>
            <a:ahLst/>
            <a:cxnLst/>
            <a:rect l="l" t="t" r="r" b="b"/>
            <a:pathLst>
              <a:path w="1548384">
                <a:moveTo>
                  <a:pt x="0" y="0"/>
                </a:moveTo>
                <a:lnTo>
                  <a:pt x="154838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665220" y="799719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456938" y="799719"/>
            <a:ext cx="972312" cy="0"/>
          </a:xfrm>
          <a:custGeom>
            <a:avLst/>
            <a:gdLst/>
            <a:ahLst/>
            <a:cxnLst/>
            <a:rect l="l" t="t" r="r" b="b"/>
            <a:pathLst>
              <a:path w="972312">
                <a:moveTo>
                  <a:pt x="0" y="0"/>
                </a:moveTo>
                <a:lnTo>
                  <a:pt x="97231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429250" y="799719"/>
            <a:ext cx="1394459" cy="0"/>
          </a:xfrm>
          <a:custGeom>
            <a:avLst/>
            <a:gdLst/>
            <a:ahLst/>
            <a:cxnLst/>
            <a:rect l="l" t="t" r="r" b="b"/>
            <a:pathLst>
              <a:path w="1394459">
                <a:moveTo>
                  <a:pt x="0" y="0"/>
                </a:moveTo>
                <a:lnTo>
                  <a:pt x="13944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47166" y="213283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125980" y="2132838"/>
            <a:ext cx="1539240" cy="0"/>
          </a:xfrm>
          <a:custGeom>
            <a:avLst/>
            <a:gdLst/>
            <a:ahLst/>
            <a:cxnLst/>
            <a:rect l="l" t="t" r="r" b="b"/>
            <a:pathLst>
              <a:path w="1539240">
                <a:moveTo>
                  <a:pt x="0" y="0"/>
                </a:moveTo>
                <a:lnTo>
                  <a:pt x="153924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674364" y="213283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466082" y="2132838"/>
            <a:ext cx="963167" cy="0"/>
          </a:xfrm>
          <a:custGeom>
            <a:avLst/>
            <a:gdLst/>
            <a:ahLst/>
            <a:cxnLst/>
            <a:rect l="l" t="t" r="r" b="b"/>
            <a:pathLst>
              <a:path w="963167">
                <a:moveTo>
                  <a:pt x="0" y="0"/>
                </a:moveTo>
                <a:lnTo>
                  <a:pt x="96316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438394" y="2132838"/>
            <a:ext cx="1385316" cy="0"/>
          </a:xfrm>
          <a:custGeom>
            <a:avLst/>
            <a:gdLst/>
            <a:ahLst/>
            <a:cxnLst/>
            <a:rect l="l" t="t" r="r" b="b"/>
            <a:pathLst>
              <a:path w="1385316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47166" y="478993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125980" y="4789932"/>
            <a:ext cx="1539240" cy="0"/>
          </a:xfrm>
          <a:custGeom>
            <a:avLst/>
            <a:gdLst/>
            <a:ahLst/>
            <a:cxnLst/>
            <a:rect l="l" t="t" r="r" b="b"/>
            <a:pathLst>
              <a:path w="1539240">
                <a:moveTo>
                  <a:pt x="0" y="0"/>
                </a:moveTo>
                <a:lnTo>
                  <a:pt x="153924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674364" y="478993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66082" y="4789932"/>
            <a:ext cx="963167" cy="0"/>
          </a:xfrm>
          <a:custGeom>
            <a:avLst/>
            <a:gdLst/>
            <a:ahLst/>
            <a:cxnLst/>
            <a:rect l="l" t="t" r="r" b="b"/>
            <a:pathLst>
              <a:path w="963167">
                <a:moveTo>
                  <a:pt x="0" y="0"/>
                </a:moveTo>
                <a:lnTo>
                  <a:pt x="96316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38394" y="4789932"/>
            <a:ext cx="1385316" cy="0"/>
          </a:xfrm>
          <a:custGeom>
            <a:avLst/>
            <a:gdLst/>
            <a:ahLst/>
            <a:cxnLst/>
            <a:rect l="l" t="t" r="r" b="b"/>
            <a:pathLst>
              <a:path w="1385316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33069" y="786002"/>
            <a:ext cx="0" cy="7998333"/>
          </a:xfrm>
          <a:custGeom>
            <a:avLst/>
            <a:gdLst/>
            <a:ahLst/>
            <a:cxnLst/>
            <a:rect l="l" t="t" r="r" b="b"/>
            <a:pathLst>
              <a:path h="7998333">
                <a:moveTo>
                  <a:pt x="0" y="0"/>
                </a:moveTo>
                <a:lnTo>
                  <a:pt x="0" y="7998333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18972" y="8770239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125980" y="2930652"/>
            <a:ext cx="1539240" cy="0"/>
          </a:xfrm>
          <a:custGeom>
            <a:avLst/>
            <a:gdLst/>
            <a:ahLst/>
            <a:cxnLst/>
            <a:rect l="l" t="t" r="r" b="b"/>
            <a:pathLst>
              <a:path w="1539240">
                <a:moveTo>
                  <a:pt x="0" y="0"/>
                </a:moveTo>
                <a:lnTo>
                  <a:pt x="153924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674364" y="293065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466082" y="2930652"/>
            <a:ext cx="963167" cy="0"/>
          </a:xfrm>
          <a:custGeom>
            <a:avLst/>
            <a:gdLst/>
            <a:ahLst/>
            <a:cxnLst/>
            <a:rect l="l" t="t" r="r" b="b"/>
            <a:pathLst>
              <a:path w="963167">
                <a:moveTo>
                  <a:pt x="0" y="0"/>
                </a:moveTo>
                <a:lnTo>
                  <a:pt x="96316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8394" y="2930652"/>
            <a:ext cx="1385316" cy="0"/>
          </a:xfrm>
          <a:custGeom>
            <a:avLst/>
            <a:gdLst/>
            <a:ahLst/>
            <a:cxnLst/>
            <a:rect l="l" t="t" r="r" b="b"/>
            <a:pathLst>
              <a:path w="1385316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125980" y="3729228"/>
            <a:ext cx="1539240" cy="0"/>
          </a:xfrm>
          <a:custGeom>
            <a:avLst/>
            <a:gdLst/>
            <a:ahLst/>
            <a:cxnLst/>
            <a:rect l="l" t="t" r="r" b="b"/>
            <a:pathLst>
              <a:path w="1539240">
                <a:moveTo>
                  <a:pt x="0" y="0"/>
                </a:moveTo>
                <a:lnTo>
                  <a:pt x="153924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674364" y="372922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466082" y="3729228"/>
            <a:ext cx="963167" cy="0"/>
          </a:xfrm>
          <a:custGeom>
            <a:avLst/>
            <a:gdLst/>
            <a:ahLst/>
            <a:cxnLst/>
            <a:rect l="l" t="t" r="r" b="b"/>
            <a:pathLst>
              <a:path w="963167">
                <a:moveTo>
                  <a:pt x="0" y="0"/>
                </a:moveTo>
                <a:lnTo>
                  <a:pt x="96316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438394" y="3729228"/>
            <a:ext cx="1385316" cy="0"/>
          </a:xfrm>
          <a:custGeom>
            <a:avLst/>
            <a:gdLst/>
            <a:ahLst/>
            <a:cxnLst/>
            <a:rect l="l" t="t" r="r" b="b"/>
            <a:pathLst>
              <a:path w="1385316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125980" y="6245352"/>
            <a:ext cx="1539240" cy="0"/>
          </a:xfrm>
          <a:custGeom>
            <a:avLst/>
            <a:gdLst/>
            <a:ahLst/>
            <a:cxnLst/>
            <a:rect l="l" t="t" r="r" b="b"/>
            <a:pathLst>
              <a:path w="1539240">
                <a:moveTo>
                  <a:pt x="0" y="0"/>
                </a:moveTo>
                <a:lnTo>
                  <a:pt x="153924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674364" y="624535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466082" y="6245352"/>
            <a:ext cx="963167" cy="0"/>
          </a:xfrm>
          <a:custGeom>
            <a:avLst/>
            <a:gdLst/>
            <a:ahLst/>
            <a:cxnLst/>
            <a:rect l="l" t="t" r="r" b="b"/>
            <a:pathLst>
              <a:path w="963167">
                <a:moveTo>
                  <a:pt x="0" y="0"/>
                </a:moveTo>
                <a:lnTo>
                  <a:pt x="96316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438394" y="6245352"/>
            <a:ext cx="1385316" cy="0"/>
          </a:xfrm>
          <a:custGeom>
            <a:avLst/>
            <a:gdLst/>
            <a:ahLst/>
            <a:cxnLst/>
            <a:rect l="l" t="t" r="r" b="b"/>
            <a:pathLst>
              <a:path w="1385316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125980" y="7043165"/>
            <a:ext cx="1539240" cy="0"/>
          </a:xfrm>
          <a:custGeom>
            <a:avLst/>
            <a:gdLst/>
            <a:ahLst/>
            <a:cxnLst/>
            <a:rect l="l" t="t" r="r" b="b"/>
            <a:pathLst>
              <a:path w="1539240">
                <a:moveTo>
                  <a:pt x="0" y="0"/>
                </a:moveTo>
                <a:lnTo>
                  <a:pt x="153924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674364" y="7043165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466082" y="7043165"/>
            <a:ext cx="963167" cy="0"/>
          </a:xfrm>
          <a:custGeom>
            <a:avLst/>
            <a:gdLst/>
            <a:ahLst/>
            <a:cxnLst/>
            <a:rect l="l" t="t" r="r" b="b"/>
            <a:pathLst>
              <a:path w="963167">
                <a:moveTo>
                  <a:pt x="0" y="0"/>
                </a:moveTo>
                <a:lnTo>
                  <a:pt x="963167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438394" y="7043165"/>
            <a:ext cx="1385316" cy="0"/>
          </a:xfrm>
          <a:custGeom>
            <a:avLst/>
            <a:gdLst/>
            <a:ahLst/>
            <a:cxnLst/>
            <a:rect l="l" t="t" r="r" b="b"/>
            <a:pathLst>
              <a:path w="1385316">
                <a:moveTo>
                  <a:pt x="0" y="0"/>
                </a:moveTo>
                <a:lnTo>
                  <a:pt x="13853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121408" y="809625"/>
            <a:ext cx="0" cy="7946517"/>
          </a:xfrm>
          <a:custGeom>
            <a:avLst/>
            <a:gdLst/>
            <a:ahLst/>
            <a:cxnLst/>
            <a:rect l="l" t="t" r="r" b="b"/>
            <a:pathLst>
              <a:path h="7946517">
                <a:moveTo>
                  <a:pt x="0" y="0"/>
                </a:moveTo>
                <a:lnTo>
                  <a:pt x="0" y="7946517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116836" y="8770239"/>
            <a:ext cx="1548384" cy="0"/>
          </a:xfrm>
          <a:custGeom>
            <a:avLst/>
            <a:gdLst/>
            <a:ahLst/>
            <a:cxnLst/>
            <a:rect l="l" t="t" r="r" b="b"/>
            <a:pathLst>
              <a:path w="1548384">
                <a:moveTo>
                  <a:pt x="0" y="0"/>
                </a:moveTo>
                <a:lnTo>
                  <a:pt x="154838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669792" y="809625"/>
            <a:ext cx="0" cy="7946517"/>
          </a:xfrm>
          <a:custGeom>
            <a:avLst/>
            <a:gdLst/>
            <a:ahLst/>
            <a:cxnLst/>
            <a:rect l="l" t="t" r="r" b="b"/>
            <a:pathLst>
              <a:path h="7946517">
                <a:moveTo>
                  <a:pt x="0" y="0"/>
                </a:moveTo>
                <a:lnTo>
                  <a:pt x="0" y="7946517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665220" y="8770239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461510" y="809625"/>
            <a:ext cx="0" cy="7946517"/>
          </a:xfrm>
          <a:custGeom>
            <a:avLst/>
            <a:gdLst/>
            <a:ahLst/>
            <a:cxnLst/>
            <a:rect l="l" t="t" r="r" b="b"/>
            <a:pathLst>
              <a:path h="7946517">
                <a:moveTo>
                  <a:pt x="0" y="0"/>
                </a:moveTo>
                <a:lnTo>
                  <a:pt x="0" y="7946517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456938" y="8770239"/>
            <a:ext cx="972312" cy="0"/>
          </a:xfrm>
          <a:custGeom>
            <a:avLst/>
            <a:gdLst/>
            <a:ahLst/>
            <a:cxnLst/>
            <a:rect l="l" t="t" r="r" b="b"/>
            <a:pathLst>
              <a:path w="972312">
                <a:moveTo>
                  <a:pt x="0" y="0"/>
                </a:moveTo>
                <a:lnTo>
                  <a:pt x="97231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433822" y="809625"/>
            <a:ext cx="0" cy="7946517"/>
          </a:xfrm>
          <a:custGeom>
            <a:avLst/>
            <a:gdLst/>
            <a:ahLst/>
            <a:cxnLst/>
            <a:rect l="l" t="t" r="r" b="b"/>
            <a:pathLst>
              <a:path h="7946517">
                <a:moveTo>
                  <a:pt x="0" y="0"/>
                </a:moveTo>
                <a:lnTo>
                  <a:pt x="0" y="7946517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429250" y="8770239"/>
            <a:ext cx="1394459" cy="0"/>
          </a:xfrm>
          <a:custGeom>
            <a:avLst/>
            <a:gdLst/>
            <a:ahLst/>
            <a:cxnLst/>
            <a:rect l="l" t="t" r="r" b="b"/>
            <a:pathLst>
              <a:path w="1394459">
                <a:moveTo>
                  <a:pt x="0" y="0"/>
                </a:moveTo>
                <a:lnTo>
                  <a:pt x="139445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837807" y="785622"/>
            <a:ext cx="0" cy="7998713"/>
          </a:xfrm>
          <a:custGeom>
            <a:avLst/>
            <a:gdLst/>
            <a:ahLst/>
            <a:cxnLst/>
            <a:rect l="l" t="t" r="r" b="b"/>
            <a:pathLst>
              <a:path h="7998713">
                <a:moveTo>
                  <a:pt x="0" y="0"/>
                </a:moveTo>
                <a:lnTo>
                  <a:pt x="0" y="7998713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33069" y="799719"/>
            <a:ext cx="1188339" cy="1333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2121408" y="799719"/>
            <a:ext cx="1548384" cy="1333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3669792" y="799719"/>
            <a:ext cx="791717" cy="1333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4461510" y="799719"/>
            <a:ext cx="972312" cy="1333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5433822" y="799719"/>
            <a:ext cx="1403985" cy="1333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933069" y="2132838"/>
            <a:ext cx="1188339" cy="26570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2121408" y="2132838"/>
            <a:ext cx="1548384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3669792" y="2132838"/>
            <a:ext cx="791717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4461510" y="2132838"/>
            <a:ext cx="972312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5433822" y="2132838"/>
            <a:ext cx="1403985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2121408" y="2930652"/>
            <a:ext cx="1548384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3669792" y="2930652"/>
            <a:ext cx="79171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4461510" y="2930652"/>
            <a:ext cx="972312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5433822" y="2930652"/>
            <a:ext cx="1403985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2121408" y="3729228"/>
            <a:ext cx="1548384" cy="1060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3669792" y="3729228"/>
            <a:ext cx="791717" cy="1060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461510" y="3729228"/>
            <a:ext cx="972312" cy="1060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5433822" y="3729228"/>
            <a:ext cx="1403985" cy="10607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933069" y="4789932"/>
            <a:ext cx="1188339" cy="39803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2121408" y="4789932"/>
            <a:ext cx="1548384" cy="145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3669792" y="4789932"/>
            <a:ext cx="791717" cy="145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4461510" y="4789932"/>
            <a:ext cx="972312" cy="145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5433822" y="4789932"/>
            <a:ext cx="1403985" cy="145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121408" y="6245352"/>
            <a:ext cx="1548384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3669792" y="6245352"/>
            <a:ext cx="791717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4461510" y="6245352"/>
            <a:ext cx="972312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433822" y="6245352"/>
            <a:ext cx="1403985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7043165"/>
            <a:ext cx="1548384" cy="17270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669792" y="7043165"/>
            <a:ext cx="791717" cy="17270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61510" y="7043165"/>
            <a:ext cx="972312" cy="17270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433822" y="7043165"/>
            <a:ext cx="1403985" cy="17270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534546" marR="577351" indent="86102">
              <a:lnSpc>
                <a:spcPct val="95825"/>
              </a:lnSpc>
              <a:spcBef>
                <a:spcPts val="299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SC CENT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UL        </a:t>
            </a:r>
            <a:r>
              <a:rPr sz="900" b="1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Modele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Exploat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Biopesti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id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inci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inut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cipii active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experimentale,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active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tipul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alomonilor </a:t>
            </a:r>
            <a:r>
              <a:rPr sz="900" b="1" spc="0" dirty="0" smtClean="0">
                <a:latin typeface="Times New Roman"/>
                <a:cs typeface="Times New Roman"/>
              </a:rPr>
              <a:t>şi PRELUCRARE     </a:t>
            </a:r>
            <a:r>
              <a:rPr sz="900" b="1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tipul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alomonilor valorificat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rapoarte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755522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PLANTE            </a:t>
            </a:r>
            <a:r>
              <a:rPr sz="900" b="1" spc="2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biopesticid.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experimentare,</a:t>
            </a:r>
            <a:endParaRPr sz="900">
              <a:latin typeface="Times New Roman"/>
              <a:cs typeface="Times New Roman"/>
            </a:endParaRPr>
          </a:p>
          <a:p>
            <a:pPr marL="609219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MEDICI</a:t>
            </a:r>
            <a:r>
              <a:rPr sz="900" b="1" spc="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ALE                                                             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rapoarte</a:t>
            </a:r>
            <a:endParaRPr sz="900">
              <a:latin typeface="Times New Roman"/>
              <a:cs typeface="Times New Roman"/>
            </a:endParaRPr>
          </a:p>
          <a:p>
            <a:pPr marL="439591" marR="2923961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PLANTAVOREL SA                                                    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e,</a:t>
            </a:r>
            <a:endParaRPr sz="900">
              <a:latin typeface="Times New Roman"/>
              <a:cs typeface="Times New Roman"/>
            </a:endParaRPr>
          </a:p>
          <a:p>
            <a:pPr marL="541393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PIATRA NEA</a:t>
            </a:r>
            <a:r>
              <a:rPr sz="900" b="1" spc="4" dirty="0" smtClean="0">
                <a:latin typeface="Times New Roman"/>
                <a:cs typeface="Times New Roman"/>
              </a:rPr>
              <a:t>M</a:t>
            </a:r>
            <a:r>
              <a:rPr sz="900" b="1" spc="0" dirty="0" smtClean="0">
                <a:latin typeface="Times New Roman"/>
                <a:cs typeface="Times New Roman"/>
              </a:rPr>
              <a:t>Ţ                                                                 </a:t>
            </a:r>
            <a:r>
              <a:rPr sz="900" b="1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221395" marR="2875732" algn="ctr">
              <a:lnSpc>
                <a:spcPts val="1015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ri,</a:t>
            </a:r>
            <a:endParaRPr sz="900">
              <a:latin typeface="Times New Roman"/>
              <a:cs typeface="Times New Roman"/>
            </a:endParaRPr>
          </a:p>
          <a:p>
            <a:pPr marL="3321210" marR="2975678" indent="0" algn="ctr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standard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firma</a:t>
            </a:r>
            <a:endParaRPr sz="900">
              <a:latin typeface="Times New Roman"/>
              <a:cs typeface="Times New Roman"/>
            </a:endParaRPr>
          </a:p>
          <a:p>
            <a:pPr marL="506352" marR="684912" indent="147824">
              <a:lnSpc>
                <a:spcPct val="95825"/>
              </a:lnSpc>
              <a:spcBef>
                <a:spcPts val="2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notipu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plante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1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Genotipuri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 </a:t>
            </a:r>
            <a:r>
              <a:rPr sz="900" b="1" spc="0" dirty="0" smtClean="0">
                <a:latin typeface="Times New Roman"/>
                <a:cs typeface="Times New Roman"/>
              </a:rPr>
              <a:t>DE CERCETĂ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I     </a:t>
            </a:r>
            <a:r>
              <a:rPr sz="900" b="1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medicinale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aro</a:t>
            </a:r>
            <a:r>
              <a:rPr sz="900" spc="-4" dirty="0" smtClean="0">
                <a:latin typeface="Times New Roman"/>
                <a:cs typeface="Times New Roman"/>
              </a:rPr>
              <a:t>ma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cu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experimentare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plante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dicin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tive </a:t>
            </a:r>
            <a:r>
              <a:rPr sz="900" b="1" spc="0" dirty="0" smtClean="0">
                <a:latin typeface="Times New Roman"/>
                <a:cs typeface="Times New Roman"/>
              </a:rPr>
              <a:t>PENTRU PLANTE    </a:t>
            </a:r>
            <a:r>
              <a:rPr sz="900" b="1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poten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 şi productiv           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medicinale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piaţă</a:t>
            </a:r>
            <a:endParaRPr sz="900">
              <a:latin typeface="Times New Roman"/>
              <a:cs typeface="Times New Roman"/>
            </a:endParaRPr>
          </a:p>
          <a:p>
            <a:pPr marL="609222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MEDICI</a:t>
            </a:r>
            <a:r>
              <a:rPr sz="900" b="1" spc="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ALE       </a:t>
            </a:r>
            <a:r>
              <a:rPr sz="900" b="1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ridicat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stabile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57264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AROMATICE      </a:t>
            </a:r>
            <a:r>
              <a:rPr sz="900" b="1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vedere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tic competitive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endParaRPr sz="900">
              <a:latin typeface="Times New Roman"/>
              <a:cs typeface="Times New Roman"/>
            </a:endParaRPr>
          </a:p>
          <a:p>
            <a:pPr marL="67019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FUNDULEA         </a:t>
            </a:r>
            <a:r>
              <a:rPr sz="900" b="1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in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ionala.</a:t>
            </a:r>
            <a:endParaRPr sz="900">
              <a:latin typeface="Times New Roman"/>
              <a:cs typeface="Times New Roman"/>
            </a:endParaRPr>
          </a:p>
          <a:p>
            <a:pPr marL="1616583" marR="684935">
              <a:lnSpc>
                <a:spcPct val="95825"/>
              </a:lnSpc>
              <a:spcBef>
                <a:spcPts val="55"/>
              </a:spcBef>
            </a:pP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structu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gen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a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Genotipuri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 culturilor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inte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experimentare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plante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dicin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tive producerea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materialul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medicinale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piaţă</a:t>
            </a:r>
            <a:endParaRPr sz="900">
              <a:latin typeface="Times New Roman"/>
              <a:cs typeface="Times New Roman"/>
            </a:endParaRPr>
          </a:p>
          <a:p>
            <a:pPr marL="1616594" marR="3591407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categorii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iologice superioare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ecii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medicinale</a:t>
            </a:r>
            <a:endParaRPr sz="900">
              <a:latin typeface="Times New Roman"/>
              <a:cs typeface="Times New Roman"/>
            </a:endParaRPr>
          </a:p>
          <a:p>
            <a:pPr marL="1616594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616583" marR="640758">
              <a:lnSpc>
                <a:spcPct val="95825"/>
              </a:lnSpc>
              <a:spcBef>
                <a:spcPts val="24"/>
              </a:spcBef>
            </a:pP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                          Studii  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ola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experimental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integra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cartof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torilor speciil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p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ante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şi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care                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cart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endParaRPr sz="900">
              <a:latin typeface="Times New Roman"/>
              <a:cs typeface="Times New Roman"/>
            </a:endParaRPr>
          </a:p>
          <a:p>
            <a:pPr marL="1616594" marR="2849188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aro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cu ac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une 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ii </a:t>
            </a:r>
            <a:r>
              <a:rPr sz="900" spc="0" dirty="0" smtClean="0">
                <a:latin typeface="Times New Roman"/>
                <a:cs typeface="Times New Roman"/>
              </a:rPr>
              <a:t>insect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entul                    Model cartof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scopul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combaterii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 biologice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inci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lilor 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 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Modifica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netice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 de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de</a:t>
            </a:r>
            <a:endParaRPr sz="900">
              <a:latin typeface="Times New Roman"/>
              <a:cs typeface="Times New Roman"/>
            </a:endParaRPr>
          </a:p>
          <a:p>
            <a:pPr marL="55054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CERCETĂ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I     </a:t>
            </a:r>
            <a:r>
              <a:rPr sz="900" b="1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şi 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erist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cilor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experimentare    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ISTIS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bob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grâu</a:t>
            </a:r>
            <a:endParaRPr sz="900">
              <a:latin typeface="Times New Roman"/>
              <a:cs typeface="Times New Roman"/>
            </a:endParaRPr>
          </a:p>
          <a:p>
            <a:pPr marL="670182" marR="2901774" indent="-208026">
              <a:lnSpc>
                <a:spcPct val="95729"/>
              </a:lnSpc>
              <a:tabLst>
                <a:tab pos="15621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PENTRU CEREALE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zerva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bob,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Combina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PLANTE    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elio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de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hibride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 </a:t>
            </a:r>
            <a:r>
              <a:rPr sz="900" b="1" spc="0" dirty="0" smtClean="0">
                <a:latin typeface="Times New Roman"/>
                <a:cs typeface="Times New Roman"/>
              </a:rPr>
              <a:t>TEHNICE	</a:t>
            </a:r>
            <a:r>
              <a:rPr sz="900" spc="0" dirty="0" smtClean="0">
                <a:latin typeface="Times New Roman"/>
                <a:cs typeface="Times New Roman"/>
              </a:rPr>
              <a:t>panifica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irea                  Studiu </a:t>
            </a:r>
            <a:r>
              <a:rPr sz="900" b="1" spc="0" dirty="0" smtClean="0">
                <a:latin typeface="Times New Roman"/>
                <a:cs typeface="Times New Roman"/>
              </a:rPr>
              <a:t>FUNDULEA	 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a   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feza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307472" marR="2941952" indent="-1690874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grâului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sudul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tarii. 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377572" marR="2965966" indent="-46474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an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270197" marR="2924423" algn="ct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endParaRPr sz="900">
              <a:latin typeface="Times New Roman"/>
              <a:cs typeface="Times New Roman"/>
            </a:endParaRPr>
          </a:p>
          <a:p>
            <a:pPr marL="1616583" marR="583828">
              <a:lnSpc>
                <a:spcPct val="96112"/>
              </a:lnSpc>
              <a:spcBef>
                <a:spcPts val="24"/>
              </a:spcBef>
            </a:pP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notipu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 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genotipuri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lucerna lucer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grad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sporit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1616583" marR="2929640">
              <a:lnSpc>
                <a:spcPts val="1040"/>
              </a:lnSpc>
              <a:spcBef>
                <a:spcPts val="52"/>
              </a:spcBef>
            </a:pPr>
            <a:r>
              <a:rPr sz="900" spc="0" dirty="0" smtClean="0">
                <a:latin typeface="Times New Roman"/>
                <a:cs typeface="Times New Roman"/>
              </a:rPr>
              <a:t>autofe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nta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biotic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abio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   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ză</a:t>
            </a:r>
            <a:endParaRPr sz="900">
              <a:latin typeface="Times New Roman"/>
              <a:cs typeface="Times New Roman"/>
            </a:endParaRPr>
          </a:p>
          <a:p>
            <a:pPr marL="3354776" marR="3008399" algn="ct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Studiu</a:t>
            </a:r>
            <a:endParaRPr sz="900">
              <a:latin typeface="Times New Roman"/>
              <a:cs typeface="Times New Roman"/>
            </a:endParaRPr>
          </a:p>
          <a:p>
            <a:pPr marL="3181805" marR="2835505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82" marR="547519" indent="0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Manipula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genetica a         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grâu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da 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grâu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urta </a:t>
            </a: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ec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elor 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şi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Combina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1616594" marR="2910799" indent="-11">
              <a:lnSpc>
                <a:spcPts val="1040"/>
              </a:lnSpc>
              <a:spcBef>
                <a:spcPts val="57"/>
              </a:spcBef>
            </a:pP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rşi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asup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hibride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 grâu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fr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cve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 afe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  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</a:t>
            </a:r>
            <a:endParaRPr sz="900">
              <a:latin typeface="Times New Roman"/>
              <a:cs typeface="Times New Roman"/>
            </a:endParaRPr>
          </a:p>
          <a:p>
            <a:pPr marL="1616594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stres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0" dirty="0" smtClean="0">
                <a:latin typeface="Times New Roman"/>
                <a:cs typeface="Times New Roman"/>
              </a:rPr>
              <a:t>idric.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feza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218366" marR="2872251" indent="-691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Raport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sur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ana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ize de 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7775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object 106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18972" y="974978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116836" y="974978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01796" y="974978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93514" y="97497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21708" y="974978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501640" y="974978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47166" y="429844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125980" y="429844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710940" y="429844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02658" y="429844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10784" y="429844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47166" y="7622286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125980" y="762228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710940" y="762228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502658" y="762228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510784" y="7622286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47166" y="868375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125980" y="868375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710940" y="868375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502658" y="868375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510784" y="868375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33069" y="961262"/>
            <a:ext cx="0" cy="8543925"/>
          </a:xfrm>
          <a:custGeom>
            <a:avLst/>
            <a:gdLst/>
            <a:ahLst/>
            <a:cxnLst/>
            <a:rect l="l" t="t" r="r" b="b"/>
            <a:pathLst>
              <a:path h="8543925">
                <a:moveTo>
                  <a:pt x="0" y="0"/>
                </a:moveTo>
                <a:lnTo>
                  <a:pt x="0" y="854392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18972" y="9491091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125980" y="257098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710940" y="257098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502658" y="257098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510784" y="257098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25980" y="350062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710940" y="350062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502658" y="350062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510784" y="350062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125980" y="535990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10940" y="535990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502658" y="535990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510784" y="535990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125980" y="602665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710940" y="602665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502658" y="602665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510784" y="602665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125980" y="7087361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710940" y="7087361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502658" y="7087361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510784" y="7087361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121408" y="984884"/>
            <a:ext cx="0" cy="8492109"/>
          </a:xfrm>
          <a:custGeom>
            <a:avLst/>
            <a:gdLst/>
            <a:ahLst/>
            <a:cxnLst/>
            <a:rect l="l" t="t" r="r" b="b"/>
            <a:pathLst>
              <a:path h="8492109">
                <a:moveTo>
                  <a:pt x="0" y="0"/>
                </a:moveTo>
                <a:lnTo>
                  <a:pt x="0" y="8492109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116836" y="9491091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706368" y="984884"/>
            <a:ext cx="0" cy="8492109"/>
          </a:xfrm>
          <a:custGeom>
            <a:avLst/>
            <a:gdLst/>
            <a:ahLst/>
            <a:cxnLst/>
            <a:rect l="l" t="t" r="r" b="b"/>
            <a:pathLst>
              <a:path h="8492109">
                <a:moveTo>
                  <a:pt x="0" y="0"/>
                </a:moveTo>
                <a:lnTo>
                  <a:pt x="0" y="849210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701796" y="9491091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498086" y="984884"/>
            <a:ext cx="0" cy="8492109"/>
          </a:xfrm>
          <a:custGeom>
            <a:avLst/>
            <a:gdLst/>
            <a:ahLst/>
            <a:cxnLst/>
            <a:rect l="l" t="t" r="r" b="b"/>
            <a:pathLst>
              <a:path h="8492109">
                <a:moveTo>
                  <a:pt x="0" y="0"/>
                </a:moveTo>
                <a:lnTo>
                  <a:pt x="0" y="849210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493514" y="949109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521708" y="9491091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506212" y="984884"/>
            <a:ext cx="0" cy="8492109"/>
          </a:xfrm>
          <a:custGeom>
            <a:avLst/>
            <a:gdLst/>
            <a:ahLst/>
            <a:cxnLst/>
            <a:rect l="l" t="t" r="r" b="b"/>
            <a:pathLst>
              <a:path h="8492109">
                <a:moveTo>
                  <a:pt x="0" y="0"/>
                </a:moveTo>
                <a:lnTo>
                  <a:pt x="0" y="849210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501640" y="9491091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837807" y="960881"/>
            <a:ext cx="0" cy="8544306"/>
          </a:xfrm>
          <a:custGeom>
            <a:avLst/>
            <a:gdLst/>
            <a:ahLst/>
            <a:cxnLst/>
            <a:rect l="l" t="t" r="r" b="b"/>
            <a:pathLst>
              <a:path h="8544306">
                <a:moveTo>
                  <a:pt x="0" y="0"/>
                </a:moveTo>
                <a:lnTo>
                  <a:pt x="0" y="854430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933069" y="974978"/>
            <a:ext cx="1188339" cy="33234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2121408" y="974978"/>
            <a:ext cx="1584960" cy="15960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3706368" y="974978"/>
            <a:ext cx="791717" cy="15960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4498086" y="974978"/>
            <a:ext cx="1008126" cy="15960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5506212" y="974978"/>
            <a:ext cx="1331595" cy="15960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2121408" y="2570988"/>
            <a:ext cx="1584960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3706368" y="2570988"/>
            <a:ext cx="791717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4498086" y="2570988"/>
            <a:ext cx="1008126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5506212" y="2570988"/>
            <a:ext cx="1331595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2121408" y="3500627"/>
            <a:ext cx="1584960" cy="7978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3706368" y="3500627"/>
            <a:ext cx="791717" cy="7978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4498086" y="3500627"/>
            <a:ext cx="1008126" cy="7978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5506212" y="3500627"/>
            <a:ext cx="1331595" cy="7978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933069" y="4298442"/>
            <a:ext cx="1188339" cy="33238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2121408" y="4298442"/>
            <a:ext cx="1584960" cy="10614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3706368" y="4298442"/>
            <a:ext cx="791717" cy="10614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4498086" y="4298442"/>
            <a:ext cx="1008126" cy="10614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5506212" y="4298442"/>
            <a:ext cx="1331595" cy="10614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2121408" y="5359908"/>
            <a:ext cx="158496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3706368" y="5359908"/>
            <a:ext cx="791717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4498086" y="5359908"/>
            <a:ext cx="1008126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5506212" y="5359908"/>
            <a:ext cx="1331595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2121408" y="6026658"/>
            <a:ext cx="1584960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3706368" y="6026658"/>
            <a:ext cx="791717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4498086" y="6026658"/>
            <a:ext cx="1008126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5506212" y="6026658"/>
            <a:ext cx="1331595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21408" y="7087361"/>
            <a:ext cx="158496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706368" y="7087361"/>
            <a:ext cx="791717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498086" y="7087361"/>
            <a:ext cx="1008126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506212" y="7087361"/>
            <a:ext cx="1331595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933069" y="7622286"/>
            <a:ext cx="1188339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121408" y="7622286"/>
            <a:ext cx="1584960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706368" y="7622286"/>
            <a:ext cx="791717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98086" y="7622286"/>
            <a:ext cx="1008126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506212" y="7622286"/>
            <a:ext cx="1331595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33069" y="8683752"/>
            <a:ext cx="1188339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8683752"/>
            <a:ext cx="1584960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8683752"/>
            <a:ext cx="791717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8683752"/>
            <a:ext cx="1008126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506212" y="8683752"/>
            <a:ext cx="1331595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1616583" marR="422864">
              <a:lnSpc>
                <a:spcPct val="95825"/>
              </a:lnSpc>
              <a:spcBef>
                <a:spcPts val="4353"/>
              </a:spcBef>
            </a:pPr>
            <a:r>
              <a:rPr sz="900" spc="0" dirty="0" smtClean="0">
                <a:latin typeface="Times New Roman"/>
                <a:cs typeface="Times New Roman"/>
              </a:rPr>
              <a:t>Utili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nelor 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                     </a:t>
            </a:r>
            <a:r>
              <a:rPr sz="900" spc="1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oiuri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tr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cale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ezis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            </a:t>
            </a:r>
            <a:r>
              <a:rPr sz="900" spc="1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zis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enta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scopul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re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iste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tei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</a:t>
            </a:r>
            <a:endParaRPr sz="900">
              <a:latin typeface="Times New Roman"/>
              <a:cs typeface="Times New Roman"/>
            </a:endParaRPr>
          </a:p>
          <a:p>
            <a:pPr marL="1616583" marR="2801253">
              <a:lnSpc>
                <a:spcPts val="1030"/>
              </a:lnSpc>
              <a:spcBef>
                <a:spcPts val="71"/>
              </a:spcBef>
            </a:pPr>
            <a:r>
              <a:rPr sz="900" spc="0" dirty="0" smtClean="0">
                <a:latin typeface="Times New Roman"/>
                <a:cs typeface="Times New Roman"/>
              </a:rPr>
              <a:t>la 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eşterii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 şi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stabil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este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 la tr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e. 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295340" marR="2877576" algn="ctr">
              <a:lnSpc>
                <a:spcPts val="1019"/>
              </a:lnSpc>
            </a:pP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sur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</a:t>
            </a:r>
            <a:endParaRPr sz="900">
              <a:latin typeface="Times New Roman"/>
              <a:cs typeface="Times New Roman"/>
            </a:endParaRPr>
          </a:p>
          <a:p>
            <a:pPr marL="3270179" marR="2852663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Hibrizi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nou- cre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Raport</a:t>
            </a:r>
            <a:endParaRPr sz="900">
              <a:latin typeface="Times New Roman"/>
              <a:cs typeface="Times New Roman"/>
            </a:endParaRPr>
          </a:p>
          <a:p>
            <a:pPr marL="3320732" marR="2903292" algn="ctr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357058" marR="2940006" indent="0" algn="ctr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ana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ize</a:t>
            </a:r>
            <a:endParaRPr sz="900">
              <a:latin typeface="Times New Roman"/>
              <a:cs typeface="Times New Roman"/>
            </a:endParaRPr>
          </a:p>
          <a:p>
            <a:pPr marL="1616582" marR="495980" indent="0">
              <a:lnSpc>
                <a:spcPct val="95825"/>
              </a:lnSpc>
              <a:spcBef>
                <a:spcPts val="8"/>
              </a:spcBef>
            </a:pPr>
            <a:r>
              <a:rPr sz="900" spc="0" dirty="0" smtClean="0">
                <a:latin typeface="Times New Roman"/>
                <a:cs typeface="Times New Roman"/>
              </a:rPr>
              <a:t>Crearea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notipu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z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de orz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Genotipuri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orz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 orzoa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 de toa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oaica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poten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productiv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idicat ridicat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to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ta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teste</a:t>
            </a:r>
            <a:endParaRPr sz="900">
              <a:latin typeface="Times New Roman"/>
              <a:cs typeface="Times New Roman"/>
            </a:endParaRPr>
          </a:p>
          <a:p>
            <a:pPr marL="1616583" marR="2879122" indent="0">
              <a:lnSpc>
                <a:spcPct val="95729"/>
              </a:lnSpc>
            </a:pP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tă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stres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termic şi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hidric,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sistemul  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are 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redu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sur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 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nţ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616583" marR="502245">
              <a:lnSpc>
                <a:spcPct val="95921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</a:t>
            </a:r>
            <a:r>
              <a:rPr sz="900" spc="-4" dirty="0" smtClean="0">
                <a:latin typeface="Times New Roman"/>
                <a:cs typeface="Times New Roman"/>
              </a:rPr>
              <a:t>uţ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de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chi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 a      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floar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elui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chi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ica a buru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enilor buruienil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dicotiledo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ate                                                                             problema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"proble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a"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(Xanthiu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,                                                                   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floar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elui</a:t>
            </a:r>
            <a:endParaRPr sz="900">
              <a:latin typeface="Times New Roman"/>
              <a:cs typeface="Times New Roman"/>
            </a:endParaRPr>
          </a:p>
          <a:p>
            <a:pPr marL="1616583" marR="3632200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Ambrosia,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Cirsium)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cultura florii soarel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i.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2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Extinderea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roman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  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</a:t>
            </a:r>
            <a:r>
              <a:rPr sz="900" spc="2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de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supraf</a:t>
            </a:r>
            <a:r>
              <a:rPr sz="900" spc="-4" dirty="0" smtClean="0">
                <a:latin typeface="Times New Roman"/>
                <a:cs typeface="Times New Roman"/>
              </a:rPr>
              <a:t>eţ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endParaRPr sz="900">
              <a:latin typeface="Times New Roman"/>
              <a:cs typeface="Times New Roman"/>
            </a:endParaRPr>
          </a:p>
          <a:p>
            <a:pPr marL="53454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cartof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cultura.       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  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soiuri</a:t>
            </a:r>
            <a:endParaRPr sz="900">
              <a:latin typeface="Times New Roman"/>
              <a:cs typeface="Times New Roman"/>
            </a:endParaRPr>
          </a:p>
          <a:p>
            <a:pPr marL="591692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PRODUCŢIE                                                                    </a:t>
            </a:r>
            <a:r>
              <a:rPr sz="900" b="1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</a:t>
            </a:r>
            <a:r>
              <a:rPr sz="900" spc="1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româneşti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cartof</a:t>
            </a:r>
            <a:endParaRPr sz="900">
              <a:latin typeface="Times New Roman"/>
              <a:cs typeface="Times New Roman"/>
            </a:endParaRPr>
          </a:p>
          <a:p>
            <a:pPr marL="54750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A CARTOFULUI                                                                  </a:t>
            </a:r>
            <a:r>
              <a:rPr sz="900" b="1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354724" marR="2917283" indent="-2605285" algn="just">
              <a:lnSpc>
                <a:spcPct val="94962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BRAŞOV                                                                           </a:t>
            </a:r>
            <a:r>
              <a:rPr sz="900" spc="0" dirty="0" smtClean="0">
                <a:latin typeface="Times New Roman"/>
                <a:cs typeface="Times New Roman"/>
              </a:rPr>
              <a:t>Artico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Broşuri Rapoarte</a:t>
            </a:r>
            <a:endParaRPr sz="900">
              <a:latin typeface="Times New Roman"/>
              <a:cs typeface="Times New Roman"/>
            </a:endParaRPr>
          </a:p>
          <a:p>
            <a:pPr marL="3277821" marR="2859812" algn="ctr">
              <a:lnSpc>
                <a:spcPts val="1035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endParaRPr sz="900">
              <a:latin typeface="Times New Roman"/>
              <a:cs typeface="Times New Roman"/>
            </a:endParaRPr>
          </a:p>
          <a:p>
            <a:pPr marL="1616583" marR="452494">
              <a:lnSpc>
                <a:spcPct val="96112"/>
              </a:lnSpc>
              <a:spcBef>
                <a:spcPts val="23"/>
              </a:spcBef>
            </a:pP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rocedeu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Microtube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uli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soiurile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icrotuberc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lilor “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vitr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” în                            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cartof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romaneşti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cartof</a:t>
            </a:r>
            <a:endParaRPr sz="900">
              <a:latin typeface="Times New Roman"/>
              <a:cs typeface="Times New Roman"/>
            </a:endParaRPr>
          </a:p>
          <a:p>
            <a:pPr marL="1616583" marR="3594435">
              <a:lnSpc>
                <a:spcPts val="1040"/>
              </a:lnSpc>
              <a:spcBef>
                <a:spcPts val="52"/>
              </a:spcBef>
            </a:pPr>
            <a:r>
              <a:rPr sz="900" spc="0" dirty="0" smtClean="0">
                <a:latin typeface="Times New Roman"/>
                <a:cs typeface="Times New Roman"/>
              </a:rPr>
              <a:t>vederea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promo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soiurilor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cartof român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şti</a:t>
            </a:r>
            <a:endParaRPr sz="900">
              <a:latin typeface="Times New Roman"/>
              <a:cs typeface="Times New Roman"/>
            </a:endParaRPr>
          </a:p>
          <a:p>
            <a:pPr marL="1616594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pre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az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endParaRPr sz="900">
              <a:latin typeface="Times New Roman"/>
              <a:cs typeface="Times New Roman"/>
            </a:endParaRPr>
          </a:p>
          <a:p>
            <a:pPr marL="1616583" marR="710453">
              <a:lnSpc>
                <a:spcPts val="1030"/>
              </a:lnSpc>
              <a:spcBef>
                <a:spcPts val="90"/>
              </a:spcBef>
            </a:pP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roiec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area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promova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istem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ricu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tura sistem de agric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ltura 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olog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teste în 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  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cartof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ica</a:t>
            </a:r>
            <a:endParaRPr sz="900">
              <a:latin typeface="Times New Roman"/>
              <a:cs typeface="Times New Roman"/>
            </a:endParaRPr>
          </a:p>
          <a:p>
            <a:pPr marL="3354708" marR="2917070" indent="-1738125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(durabi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a)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 Ţ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Bârsei.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teste de laborator</a:t>
            </a:r>
            <a:endParaRPr sz="900">
              <a:latin typeface="Times New Roman"/>
              <a:cs typeface="Times New Roman"/>
            </a:endParaRPr>
          </a:p>
          <a:p>
            <a:pPr marL="3239945" marR="2822111" algn="ctr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Simpozioane</a:t>
            </a:r>
            <a:endParaRPr sz="900">
              <a:latin typeface="Times New Roman"/>
              <a:cs typeface="Times New Roman"/>
            </a:endParaRPr>
          </a:p>
          <a:p>
            <a:pPr marL="3360337" marR="2943297" algn="ctr">
              <a:lnSpc>
                <a:spcPts val="1030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Anali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3289210" marR="2871254" indent="-283" algn="ctr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Rapoarte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endParaRPr sz="900">
              <a:latin typeface="Times New Roman"/>
              <a:cs typeface="Times New Roman"/>
            </a:endParaRPr>
          </a:p>
          <a:p>
            <a:pPr marL="1616583" marR="486472">
              <a:lnSpc>
                <a:spcPct val="95825"/>
              </a:lnSpc>
              <a:spcBef>
                <a:spcPts val="8"/>
              </a:spcBef>
            </a:pPr>
            <a:r>
              <a:rPr sz="900" spc="0" dirty="0" smtClean="0">
                <a:latin typeface="Times New Roman"/>
                <a:cs typeface="Times New Roman"/>
              </a:rPr>
              <a:t>Moderniza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 a producere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clo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al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nţă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cartof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materialului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clonal (PREBAZA)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toful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Rapoarte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nţ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                               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654176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Diversifi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ipurilor de                     Raport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de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estec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lan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53455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estecuri cu</a:t>
            </a:r>
            <a:r>
              <a:rPr sz="900" spc="-4" dirty="0" smtClean="0">
                <a:latin typeface="Times New Roman"/>
                <a:cs typeface="Times New Roman"/>
              </a:rPr>
              <a:t> 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inoase şi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furaje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pajişti</a:t>
            </a:r>
            <a:endParaRPr sz="900">
              <a:latin typeface="Times New Roman"/>
              <a:cs typeface="Times New Roman"/>
            </a:endParaRPr>
          </a:p>
          <a:p>
            <a:pPr marL="59170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PRODUCŢIE  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inee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-4" dirty="0" smtClean="0">
                <a:latin typeface="Times New Roman"/>
                <a:cs typeface="Times New Roman"/>
              </a:rPr>
              <a:t>op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mi</a:t>
            </a:r>
            <a:r>
              <a:rPr sz="900" spc="4" dirty="0" smtClean="0">
                <a:latin typeface="Times New Roman"/>
                <a:cs typeface="Times New Roman"/>
              </a:rPr>
              <a:t>za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455317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CULT</a:t>
            </a:r>
            <a:r>
              <a:rPr sz="900" b="1" spc="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RA  </a:t>
            </a:r>
            <a:r>
              <a:rPr sz="900" b="1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regi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tri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 sol-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ize</a:t>
            </a:r>
            <a:endParaRPr sz="900">
              <a:latin typeface="Times New Roman"/>
              <a:cs typeface="Times New Roman"/>
            </a:endParaRPr>
          </a:p>
          <a:p>
            <a:pPr marL="64429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PAJIŞTILOR         </a:t>
            </a:r>
            <a:r>
              <a:rPr sz="900" b="1" spc="9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-plantă a </a:t>
            </a:r>
            <a:r>
              <a:rPr sz="900" spc="-4" dirty="0" smtClean="0">
                <a:latin typeface="Times New Roman"/>
                <a:cs typeface="Times New Roman"/>
              </a:rPr>
              <a:t>pa</a:t>
            </a:r>
            <a:r>
              <a:rPr sz="900" spc="0" dirty="0" smtClean="0">
                <a:latin typeface="Times New Roman"/>
                <a:cs typeface="Times New Roman"/>
              </a:rPr>
              <a:t>jişt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porare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endParaRPr sz="900">
              <a:latin typeface="Times New Roman"/>
              <a:cs typeface="Times New Roman"/>
            </a:endParaRPr>
          </a:p>
          <a:p>
            <a:pPr marL="1616628" marR="2879088" indent="-965480">
              <a:lnSpc>
                <a:spcPts val="1019"/>
              </a:lnSpc>
              <a:spcBef>
                <a:spcPts val="7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TIM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ŞOARA         </a:t>
            </a:r>
            <a:r>
              <a:rPr sz="900" b="1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agric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sur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 ecolo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abi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a.                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endParaRPr sz="900">
              <a:latin typeface="Times New Roman"/>
              <a:cs typeface="Times New Roman"/>
            </a:endParaRPr>
          </a:p>
          <a:p>
            <a:pPr marL="3264913" marR="2847735" algn="ctr">
              <a:lnSpc>
                <a:spcPts val="1025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746379">
              <a:lnSpc>
                <a:spcPct val="95825"/>
              </a:lnSpc>
              <a:spcBef>
                <a:spcPts val="3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CENTRU            </a:t>
            </a:r>
            <a:r>
              <a:rPr sz="900" b="1" spc="1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Identi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 car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rcet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revenir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55054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CERCETĂ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I     </a:t>
            </a:r>
            <a:r>
              <a:rPr sz="900" b="1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epide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ia, pre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eni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-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Prote</a:t>
            </a:r>
            <a:r>
              <a:rPr sz="900" spc="4" dirty="0" smtClean="0">
                <a:latin typeface="Times New Roman"/>
                <a:cs typeface="Times New Roman"/>
              </a:rPr>
              <a:t>cţ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virusurilor</a:t>
            </a:r>
            <a:endParaRPr sz="900">
              <a:latin typeface="Times New Roman"/>
              <a:cs typeface="Times New Roman"/>
            </a:endParaRPr>
          </a:p>
          <a:p>
            <a:pPr marL="75248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irusurilor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                 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Plantelor Bucu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eşti</a:t>
            </a:r>
            <a:endParaRPr sz="900">
              <a:latin typeface="Times New Roman"/>
              <a:cs typeface="Times New Roman"/>
            </a:endParaRPr>
          </a:p>
          <a:p>
            <a:pPr marL="631336" marR="3845377" indent="1599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PROTECŢIA         </a:t>
            </a:r>
            <a:r>
              <a:rPr sz="900" b="1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mozaicul grâ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şi </a:t>
            </a:r>
            <a:r>
              <a:rPr sz="900" b="1" spc="0" dirty="0" smtClean="0">
                <a:latin typeface="Times New Roman"/>
                <a:cs typeface="Times New Roman"/>
              </a:rPr>
              <a:t>PLANTELOR        </a:t>
            </a:r>
            <a:r>
              <a:rPr sz="900" b="1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îng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enir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b="1" spc="0" dirty="0" smtClean="0">
                <a:latin typeface="Times New Roman"/>
                <a:cs typeface="Times New Roman"/>
              </a:rPr>
              <a:t>BUCUR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ŞTI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a.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2087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5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bject 116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18972" y="974978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116836" y="974978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701796" y="974978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493514" y="97497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21708" y="974978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01640" y="974978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47166" y="178231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125980" y="178231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710940" y="178231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502658" y="178231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510784" y="178231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47166" y="2711957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125980" y="2711957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710940" y="2711957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502658" y="2711957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510784" y="2711957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47166" y="350977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125980" y="350977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710940" y="350977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502658" y="350977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510784" y="350977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47166" y="417652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25980" y="417652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710940" y="417652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502658" y="417652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510784" y="417652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47166" y="471220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125980" y="471220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710940" y="471220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502658" y="471220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510784" y="471220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947166" y="603580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125980" y="603580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710940" y="603580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502658" y="603580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510784" y="603580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947166" y="7096506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125980" y="709650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710940" y="709650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502658" y="709650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510784" y="7096506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947166" y="789508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125980" y="789508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710940" y="789508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502658" y="789508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510784" y="789508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933069" y="961262"/>
            <a:ext cx="0" cy="8149209"/>
          </a:xfrm>
          <a:custGeom>
            <a:avLst/>
            <a:gdLst/>
            <a:ahLst/>
            <a:cxnLst/>
            <a:rect l="l" t="t" r="r" b="b"/>
            <a:pathLst>
              <a:path h="8149209">
                <a:moveTo>
                  <a:pt x="0" y="0"/>
                </a:moveTo>
                <a:lnTo>
                  <a:pt x="0" y="8149209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18972" y="9096375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121408" y="984884"/>
            <a:ext cx="0" cy="8097393"/>
          </a:xfrm>
          <a:custGeom>
            <a:avLst/>
            <a:gdLst/>
            <a:ahLst/>
            <a:cxnLst/>
            <a:rect l="l" t="t" r="r" b="b"/>
            <a:pathLst>
              <a:path h="8097393">
                <a:moveTo>
                  <a:pt x="0" y="0"/>
                </a:moveTo>
                <a:lnTo>
                  <a:pt x="0" y="8097393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116836" y="9096375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706368" y="984884"/>
            <a:ext cx="0" cy="8097393"/>
          </a:xfrm>
          <a:custGeom>
            <a:avLst/>
            <a:gdLst/>
            <a:ahLst/>
            <a:cxnLst/>
            <a:rect l="l" t="t" r="r" b="b"/>
            <a:pathLst>
              <a:path h="8097393">
                <a:moveTo>
                  <a:pt x="0" y="0"/>
                </a:moveTo>
                <a:lnTo>
                  <a:pt x="0" y="809739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701796" y="9096375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498086" y="984884"/>
            <a:ext cx="0" cy="8097393"/>
          </a:xfrm>
          <a:custGeom>
            <a:avLst/>
            <a:gdLst/>
            <a:ahLst/>
            <a:cxnLst/>
            <a:rect l="l" t="t" r="r" b="b"/>
            <a:pathLst>
              <a:path h="8097393">
                <a:moveTo>
                  <a:pt x="0" y="0"/>
                </a:moveTo>
                <a:lnTo>
                  <a:pt x="0" y="809739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493514" y="9096375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521708" y="9096375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506212" y="984884"/>
            <a:ext cx="0" cy="8097393"/>
          </a:xfrm>
          <a:custGeom>
            <a:avLst/>
            <a:gdLst/>
            <a:ahLst/>
            <a:cxnLst/>
            <a:rect l="l" t="t" r="r" b="b"/>
            <a:pathLst>
              <a:path h="8097393">
                <a:moveTo>
                  <a:pt x="0" y="0"/>
                </a:moveTo>
                <a:lnTo>
                  <a:pt x="0" y="809739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501640" y="9096375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837807" y="960881"/>
            <a:ext cx="0" cy="8149590"/>
          </a:xfrm>
          <a:custGeom>
            <a:avLst/>
            <a:gdLst/>
            <a:ahLst/>
            <a:cxnLst/>
            <a:rect l="l" t="t" r="r" b="b"/>
            <a:pathLst>
              <a:path h="8149590">
                <a:moveTo>
                  <a:pt x="0" y="0"/>
                </a:moveTo>
                <a:lnTo>
                  <a:pt x="0" y="814959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933069" y="974978"/>
            <a:ext cx="1188339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2121408" y="974978"/>
            <a:ext cx="1584960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3706368" y="974978"/>
            <a:ext cx="791717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4498086" y="974978"/>
            <a:ext cx="1008126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5506212" y="974978"/>
            <a:ext cx="1331595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933069" y="1782317"/>
            <a:ext cx="1188339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2121408" y="1782317"/>
            <a:ext cx="1584960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3706368" y="1782317"/>
            <a:ext cx="791717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4498086" y="1782317"/>
            <a:ext cx="1008126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5506212" y="1782317"/>
            <a:ext cx="1331595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933069" y="2711957"/>
            <a:ext cx="1188339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2121408" y="2711957"/>
            <a:ext cx="1584960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3706368" y="2711957"/>
            <a:ext cx="791717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4498086" y="2711957"/>
            <a:ext cx="1008126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5506212" y="2711957"/>
            <a:ext cx="1331595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933069" y="3509771"/>
            <a:ext cx="1188339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2121408" y="3509771"/>
            <a:ext cx="158496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3706368" y="3509771"/>
            <a:ext cx="791717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4498086" y="3509771"/>
            <a:ext cx="1008126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5506212" y="3509771"/>
            <a:ext cx="1331595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933069" y="4176522"/>
            <a:ext cx="1188339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2121408" y="4176522"/>
            <a:ext cx="1584960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3706368" y="4176522"/>
            <a:ext cx="791717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4498086" y="4176522"/>
            <a:ext cx="1008126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5506212" y="4176522"/>
            <a:ext cx="1331595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933069" y="4712208"/>
            <a:ext cx="1188339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2121408" y="4712208"/>
            <a:ext cx="1584960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3706368" y="4712208"/>
            <a:ext cx="791717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4498086" y="4712208"/>
            <a:ext cx="1008126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5506212" y="4712208"/>
            <a:ext cx="1331595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933069" y="6035802"/>
            <a:ext cx="1188339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21408" y="6035802"/>
            <a:ext cx="1584960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706368" y="6035802"/>
            <a:ext cx="791717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498086" y="6035802"/>
            <a:ext cx="1008126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506212" y="6035802"/>
            <a:ext cx="1331595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933069" y="7096506"/>
            <a:ext cx="1188339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121408" y="7096506"/>
            <a:ext cx="158496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706368" y="7096506"/>
            <a:ext cx="79171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98086" y="7096506"/>
            <a:ext cx="1008126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506212" y="7096506"/>
            <a:ext cx="1331595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33069" y="7895082"/>
            <a:ext cx="1188339" cy="1201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7895082"/>
            <a:ext cx="1584960" cy="1201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7895082"/>
            <a:ext cx="791717" cy="1201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7895082"/>
            <a:ext cx="1008126" cy="1201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506212" y="7895082"/>
            <a:ext cx="1331595" cy="1201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612569" marR="657002" algn="ctr">
              <a:lnSpc>
                <a:spcPct val="95825"/>
              </a:lnSpc>
              <a:spcBef>
                <a:spcPts val="437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Dinamica  ve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iştilor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  </a:t>
            </a:r>
            <a:r>
              <a:rPr sz="900" spc="2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Repunerea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endParaRPr sz="900">
              <a:latin typeface="Times New Roman"/>
              <a:cs typeface="Times New Roman"/>
            </a:endParaRPr>
          </a:p>
          <a:p>
            <a:pPr marL="515489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ile e</a:t>
            </a:r>
            <a:r>
              <a:rPr sz="900" spc="-4" dirty="0" smtClean="0">
                <a:latin typeface="Times New Roman"/>
                <a:cs typeface="Times New Roman"/>
              </a:rPr>
              <a:t>x</a:t>
            </a:r>
            <a:r>
              <a:rPr sz="900" spc="0" dirty="0" smtClean="0">
                <a:latin typeface="Times New Roman"/>
                <a:cs typeface="Times New Roman"/>
              </a:rPr>
              <a:t>tensif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ii,                                    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pajişti 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jişt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gra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ate</a:t>
            </a:r>
            <a:endParaRPr sz="900">
              <a:latin typeface="Times New Roman"/>
              <a:cs typeface="Times New Roman"/>
            </a:endParaRPr>
          </a:p>
          <a:p>
            <a:pPr marL="58712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identi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gă</a:t>
            </a:r>
            <a:r>
              <a:rPr sz="900" spc="0" dirty="0" smtClean="0">
                <a:latin typeface="Times New Roman"/>
                <a:cs typeface="Times New Roman"/>
              </a:rPr>
              <a:t>turilor</a:t>
            </a:r>
            <a:endParaRPr sz="900">
              <a:latin typeface="Times New Roman"/>
              <a:cs typeface="Times New Roman"/>
            </a:endParaRPr>
          </a:p>
          <a:p>
            <a:pPr marL="499487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PAJIŞTI-    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</a:t>
            </a:r>
            <a:r>
              <a:rPr sz="900" spc="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ilor de</a:t>
            </a:r>
            <a:endParaRPr sz="900">
              <a:latin typeface="Times New Roman"/>
              <a:cs typeface="Times New Roman"/>
            </a:endParaRPr>
          </a:p>
          <a:p>
            <a:pPr marL="749415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BRAŞOV         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pajişti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surile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pune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609">
              <a:lnSpc>
                <a:spcPts val="1015"/>
              </a:lnSpc>
            </a:pP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loare a 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jişt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gra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ate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3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izata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ize</a:t>
            </a:r>
            <a:endParaRPr sz="900">
              <a:latin typeface="Times New Roman"/>
              <a:cs typeface="Times New Roman"/>
            </a:endParaRPr>
          </a:p>
          <a:p>
            <a:pPr marL="534554" marR="2772226" indent="144772" algn="just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NAŢIONAL          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biologice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adi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laser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He-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şi tr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în</a:t>
            </a:r>
            <a:endParaRPr sz="900">
              <a:latin typeface="Times New Roman"/>
              <a:cs typeface="Times New Roman"/>
            </a:endParaRPr>
          </a:p>
          <a:p>
            <a:pPr marL="75249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câmp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magnetic.</a:t>
            </a:r>
            <a:endParaRPr sz="900">
              <a:latin typeface="Times New Roman"/>
              <a:cs typeface="Times New Roman"/>
            </a:endParaRPr>
          </a:p>
          <a:p>
            <a:pPr marL="478222" marR="5208999" indent="0" algn="ctr">
              <a:lnSpc>
                <a:spcPts val="1030"/>
              </a:lnSpc>
              <a:spcBef>
                <a:spcPts val="2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BIOTEHNOLOGIE BUCUR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ŞTI</a:t>
            </a:r>
            <a:endParaRPr sz="900">
              <a:latin typeface="Times New Roman"/>
              <a:cs typeface="Times New Roman"/>
            </a:endParaRPr>
          </a:p>
          <a:p>
            <a:pPr marL="534550" marR="438598" indent="119626">
              <a:lnSpc>
                <a:spcPct val="95825"/>
              </a:lnSpc>
              <a:spcBef>
                <a:spcPts val="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Managementul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producerii         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Indicatori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 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 Unis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 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A.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ifrei de a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eri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 categorii          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fiz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ci: 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Bucur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şti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de noi locu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biologice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      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secven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Agrosem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muncă</a:t>
            </a:r>
            <a:endParaRPr sz="900">
              <a:latin typeface="Times New Roman"/>
              <a:cs typeface="Times New Roman"/>
            </a:endParaRPr>
          </a:p>
          <a:p>
            <a:pPr marL="752486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 la spec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tehnologice,     </a:t>
            </a:r>
            <a:r>
              <a:rPr sz="900" spc="2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Impex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S.R.L.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luj</a:t>
            </a:r>
            <a:endParaRPr sz="900">
              <a:latin typeface="Times New Roman"/>
              <a:cs typeface="Times New Roman"/>
            </a:endParaRPr>
          </a:p>
          <a:p>
            <a:pPr marL="46673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LEGUMICULTU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Ă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legumicole.   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produse,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Braşov</a:t>
            </a:r>
            <a:endParaRPr sz="900">
              <a:latin typeface="Times New Roman"/>
              <a:cs typeface="Times New Roman"/>
            </a:endParaRPr>
          </a:p>
          <a:p>
            <a:pPr marL="78449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BACĂU                                                                      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min</a:t>
            </a:r>
            <a:r>
              <a:rPr sz="900" spc="4" dirty="0" smtClean="0">
                <a:latin typeface="Times New Roman"/>
                <a:cs typeface="Times New Roman"/>
              </a:rPr>
              <a:t>ţe.</a:t>
            </a:r>
            <a:endParaRPr sz="900">
              <a:latin typeface="Times New Roman"/>
              <a:cs typeface="Times New Roman"/>
            </a:endParaRPr>
          </a:p>
          <a:p>
            <a:pPr marL="1616579" marR="2964743" indent="-1080512">
              <a:lnSpc>
                <a:spcPts val="1010"/>
              </a:lnSpc>
              <a:spcBef>
                <a:spcPts val="15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L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F.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VIDRA     </a:t>
            </a:r>
            <a:r>
              <a:rPr sz="900" b="1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"Producerea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semi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 din     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 categorii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endParaRPr sz="900">
              <a:latin typeface="Times New Roman"/>
              <a:cs typeface="Times New Roman"/>
            </a:endParaRPr>
          </a:p>
          <a:p>
            <a:pPr marL="1616579" marR="3725132">
              <a:lnSpc>
                <a:spcPts val="1030"/>
              </a:lnSpc>
              <a:spcBef>
                <a:spcPts val="10"/>
              </a:spcBef>
            </a:pPr>
            <a:r>
              <a:rPr sz="900" spc="0" dirty="0" smtClean="0">
                <a:latin typeface="Times New Roman"/>
                <a:cs typeface="Times New Roman"/>
              </a:rPr>
              <a:t>soiurile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F1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 cre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din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ilia Sola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79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(ardei, tomate,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te)“</a:t>
            </a:r>
            <a:endParaRPr sz="900">
              <a:latin typeface="Times New Roman"/>
              <a:cs typeface="Times New Roman"/>
            </a:endParaRPr>
          </a:p>
          <a:p>
            <a:pPr marL="768017" marR="673593" algn="ctr">
              <a:lnSpc>
                <a:spcPct val="95825"/>
              </a:lnSpc>
              <a:spcBef>
                <a:spcPts val="3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SCD</a:t>
            </a:r>
            <a:r>
              <a:rPr sz="900" b="1" spc="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V              </a:t>
            </a:r>
            <a:r>
              <a:rPr sz="900" b="1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ialului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ditor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SCDVV Ştef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şti,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Înfiin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area p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ant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endParaRPr sz="900">
              <a:latin typeface="Times New Roman"/>
              <a:cs typeface="Times New Roman"/>
            </a:endParaRPr>
          </a:p>
          <a:p>
            <a:pPr marL="608763" marR="590551" algn="ctr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ŞTEFĂNEŞ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        </a:t>
            </a:r>
            <a:r>
              <a:rPr sz="900" b="1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gori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 biolo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ice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virusologi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ICVV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Valea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ile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gii</a:t>
            </a:r>
            <a:endParaRPr sz="900">
              <a:latin typeface="Times New Roman"/>
              <a:cs typeface="Times New Roman"/>
            </a:endParaRPr>
          </a:p>
          <a:p>
            <a:pPr marL="79057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ARGEŞ              </a:t>
            </a:r>
            <a:r>
              <a:rPr sz="900" b="1" spc="2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rebazã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zã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denumi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lug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ea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;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nr.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266/2002</a:t>
            </a:r>
            <a:endParaRPr sz="900">
              <a:latin typeface="Times New Roman"/>
              <a:cs typeface="Times New Roman"/>
            </a:endParaRPr>
          </a:p>
          <a:p>
            <a:pPr marL="1595314" marR="1838403" algn="ctr">
              <a:lnSpc>
                <a:spcPts val="1015"/>
              </a:lnSpc>
              <a:spcBef>
                <a:spcPts val="50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România                                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SCDVV Greaca.</a:t>
            </a:r>
            <a:endParaRPr sz="900">
              <a:latin typeface="Times New Roman"/>
              <a:cs typeface="Times New Roman"/>
            </a:endParaRPr>
          </a:p>
          <a:p>
            <a:pPr marL="571119">
              <a:lnSpc>
                <a:spcPct val="95825"/>
              </a:lnSpc>
              <a:spcBef>
                <a:spcPts val="3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</a:t>
            </a:r>
            <a:r>
              <a:rPr sz="900" b="1" spc="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I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Institutul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Strategie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Podgoria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că</a:t>
            </a:r>
            <a:r>
              <a:rPr sz="900" spc="0" dirty="0" smtClean="0">
                <a:latin typeface="Times New Roman"/>
                <a:cs typeface="Times New Roman"/>
              </a:rPr>
              <a:t>derea costurilor de</a:t>
            </a:r>
            <a:endParaRPr sz="900">
              <a:latin typeface="Times New Roman"/>
              <a:cs typeface="Times New Roman"/>
            </a:endParaRPr>
          </a:p>
          <a:p>
            <a:pPr marL="656769" marR="620094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NAŢIONAL          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e-Dezvo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Copou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Iaşi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urm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în</a:t>
            </a:r>
            <a:endParaRPr sz="900">
              <a:latin typeface="Times New Roman"/>
              <a:cs typeface="Times New Roman"/>
            </a:endParaRPr>
          </a:p>
          <a:p>
            <a:pPr marL="51550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Ştiin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Bucur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 /         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Sectorul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l, redu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erii</a:t>
            </a:r>
            <a:endParaRPr sz="900">
              <a:latin typeface="Times New Roman"/>
              <a:cs typeface="Times New Roman"/>
            </a:endParaRPr>
          </a:p>
          <a:p>
            <a:pPr marL="587132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Institutul de Cer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ice          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 SCPP –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che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tui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lilor ve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igii</a:t>
            </a:r>
            <a:endParaRPr sz="900">
              <a:latin typeface="Times New Roman"/>
              <a:cs typeface="Times New Roman"/>
            </a:endParaRPr>
          </a:p>
          <a:p>
            <a:pPr marL="50635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ŞTII</a:t>
            </a:r>
            <a:r>
              <a:rPr sz="900" b="1" spc="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ŢE    </a:t>
            </a:r>
            <a:r>
              <a:rPr sz="900" b="1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      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lti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eni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</a:t>
            </a:r>
            <a:r>
              <a:rPr sz="900" spc="-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endParaRPr sz="900">
              <a:latin typeface="Times New Roman"/>
              <a:cs typeface="Times New Roman"/>
            </a:endParaRPr>
          </a:p>
          <a:p>
            <a:pPr marL="61075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BIOLOGICE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–                                                                                                                              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fitosani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ră</a:t>
            </a:r>
            <a:endParaRPr sz="900">
              <a:latin typeface="Times New Roman"/>
              <a:cs typeface="Times New Roman"/>
            </a:endParaRPr>
          </a:p>
          <a:p>
            <a:pPr marL="635138" marR="5333990" indent="-11430">
              <a:lnSpc>
                <a:spcPts val="1040"/>
              </a:lnSpc>
              <a:spcBef>
                <a:spcPts val="57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BUCUR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ŞTI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/ 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</a:t>
            </a:r>
            <a:endParaRPr sz="900">
              <a:latin typeface="Times New Roman"/>
              <a:cs typeface="Times New Roman"/>
            </a:endParaRPr>
          </a:p>
          <a:p>
            <a:pPr marL="550556">
              <a:lnSpc>
                <a:spcPts val="1019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CERCETĂ</a:t>
            </a:r>
            <a:r>
              <a:rPr sz="900" b="1" spc="4" dirty="0" smtClean="0">
                <a:latin typeface="Times New Roman"/>
                <a:cs typeface="Times New Roman"/>
              </a:rPr>
              <a:t>RI</a:t>
            </a:r>
            <a:endParaRPr sz="900">
              <a:latin typeface="Times New Roman"/>
              <a:cs typeface="Times New Roman"/>
            </a:endParaRPr>
          </a:p>
          <a:p>
            <a:pPr marL="48883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BIOLOGICE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-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-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endParaRPr sz="900">
              <a:latin typeface="Times New Roman"/>
              <a:cs typeface="Times New Roman"/>
            </a:endParaRPr>
          </a:p>
          <a:p>
            <a:pPr marL="613683" marR="604613" algn="ctr">
              <a:lnSpc>
                <a:spcPct val="95825"/>
              </a:lnSpc>
              <a:spcBef>
                <a:spcPts val="7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Managerial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Subsiste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Ov.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relucrarea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endParaRPr sz="900">
              <a:latin typeface="Times New Roman"/>
              <a:cs typeface="Times New Roman"/>
            </a:endParaRPr>
          </a:p>
          <a:p>
            <a:pPr marL="515489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controlul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          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Pagini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web                         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informa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 domeniul</a:t>
            </a:r>
            <a:endParaRPr sz="900">
              <a:latin typeface="Times New Roman"/>
              <a:cs typeface="Times New Roman"/>
            </a:endParaRPr>
          </a:p>
          <a:p>
            <a:pPr marL="587120">
              <a:lnSpc>
                <a:spcPts val="1030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la a Vinurilor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                                         </a:t>
            </a:r>
            <a:r>
              <a:rPr sz="900" spc="9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Vinuri şi alte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</a:t>
            </a:r>
            <a:endParaRPr sz="900">
              <a:latin typeface="Times New Roman"/>
              <a:cs typeface="Times New Roman"/>
            </a:endParaRPr>
          </a:p>
          <a:p>
            <a:pPr marL="75247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Vitiv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nic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                                      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vitivi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ire</a:t>
            </a:r>
            <a:endParaRPr sz="900">
              <a:latin typeface="Times New Roman"/>
              <a:cs typeface="Times New Roman"/>
            </a:endParaRPr>
          </a:p>
          <a:p>
            <a:pPr marL="581028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VITI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ULTURA      </a:t>
            </a:r>
            <a:r>
              <a:rPr sz="900" b="1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denumire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Origi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e-                                                                                  </a:t>
            </a:r>
            <a:r>
              <a:rPr sz="900" spc="2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ori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endParaRPr sz="900">
              <a:latin typeface="Times New Roman"/>
              <a:cs typeface="Times New Roman"/>
            </a:endParaRPr>
          </a:p>
          <a:p>
            <a:pPr marL="506356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 VINI</a:t>
            </a:r>
            <a:r>
              <a:rPr sz="900" b="1" spc="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IFIC</a:t>
            </a:r>
            <a:r>
              <a:rPr sz="900" b="1" spc="-4" dirty="0" smtClean="0">
                <a:latin typeface="Times New Roman"/>
                <a:cs typeface="Times New Roman"/>
              </a:rPr>
              <a:t>A</a:t>
            </a:r>
            <a:r>
              <a:rPr sz="900" b="1" spc="4" dirty="0" smtClean="0">
                <a:latin typeface="Times New Roman"/>
                <a:cs typeface="Times New Roman"/>
              </a:rPr>
              <a:t>Ţ</a:t>
            </a:r>
            <a:r>
              <a:rPr sz="900" b="1" spc="0" dirty="0" smtClean="0">
                <a:latin typeface="Times New Roman"/>
                <a:cs typeface="Times New Roman"/>
              </a:rPr>
              <a:t>IE    </a:t>
            </a:r>
            <a:r>
              <a:rPr sz="900" b="1" spc="4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vvDO,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onizat cu</a:t>
            </a:r>
            <a:endParaRPr sz="900">
              <a:latin typeface="Times New Roman"/>
              <a:cs typeface="Times New Roman"/>
            </a:endParaRPr>
          </a:p>
          <a:p>
            <a:pPr marL="78753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VALEA              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regle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int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rna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ionale</a:t>
            </a:r>
            <a:endParaRPr sz="900">
              <a:latin typeface="Times New Roman"/>
              <a:cs typeface="Times New Roman"/>
            </a:endParaRPr>
          </a:p>
          <a:p>
            <a:pPr marL="504836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CĂLUGĂR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AS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524693" marR="487929" indent="13220" algn="ctr">
              <a:lnSpc>
                <a:spcPct val="95825"/>
              </a:lnSpc>
              <a:spcBef>
                <a:spcPts val="7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 in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tă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ie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ectorul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sud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Moldo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ei.                                   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 şi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punct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cantitativ 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Longevitatea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iilor de 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ţă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lă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ativ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sorti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b="1" spc="0" dirty="0" smtClean="0">
                <a:latin typeface="Times New Roman"/>
                <a:cs typeface="Times New Roman"/>
              </a:rPr>
              <a:t>VITI</a:t>
            </a:r>
            <a:r>
              <a:rPr sz="900" b="1" spc="4" dirty="0" smtClean="0">
                <a:latin typeface="Times New Roman"/>
                <a:cs typeface="Times New Roman"/>
              </a:rPr>
              <a:t>V</a:t>
            </a:r>
            <a:r>
              <a:rPr sz="900" b="1" spc="0" dirty="0" smtClean="0">
                <a:latin typeface="Times New Roman"/>
                <a:cs typeface="Times New Roman"/>
              </a:rPr>
              <a:t>IN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COLĂ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nde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ţă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                         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ceru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 Reducerea </a:t>
            </a:r>
            <a:r>
              <a:rPr sz="900" b="1" spc="0" dirty="0" smtClean="0">
                <a:latin typeface="Times New Roman"/>
                <a:cs typeface="Times New Roman"/>
              </a:rPr>
              <a:t>ODOBEŞTI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_  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fitosani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ră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.                                                             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polu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</a:t>
            </a:r>
            <a:endParaRPr sz="900">
              <a:latin typeface="Times New Roman"/>
              <a:cs typeface="Times New Roman"/>
            </a:endParaRPr>
          </a:p>
          <a:p>
            <a:pPr marL="701417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VRA</a:t>
            </a:r>
            <a:r>
              <a:rPr sz="900" b="1" spc="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CEA                                                                                                                                 </a:t>
            </a:r>
            <a:r>
              <a:rPr sz="900" b="1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mediului.</a:t>
            </a:r>
            <a:endParaRPr sz="900">
              <a:latin typeface="Times New Roman"/>
              <a:cs typeface="Times New Roman"/>
            </a:endParaRPr>
          </a:p>
          <a:p>
            <a:pPr marL="534550" marR="505253" indent="119626">
              <a:lnSpc>
                <a:spcPct val="95825"/>
              </a:lnSpc>
              <a:spcBef>
                <a:spcPts val="2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Moderniza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Indicatori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rma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u;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cifr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af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ceri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batere 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tegr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tă a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fiz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ci, 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UNISEM SA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r>
              <a:rPr sz="900" spc="-4" dirty="0" smtClean="0">
                <a:latin typeface="Times New Roman"/>
                <a:cs typeface="Times New Roman"/>
              </a:rPr>
              <a:t>0</a:t>
            </a:r>
            <a:r>
              <a:rPr sz="900" spc="0" dirty="0" smtClean="0">
                <a:latin typeface="Times New Roman"/>
                <a:cs typeface="Times New Roman"/>
              </a:rPr>
              <a:t>% 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patoge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ei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Artico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e,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Bucur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n,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curi de</a:t>
            </a:r>
            <a:endParaRPr sz="900">
              <a:latin typeface="Times New Roman"/>
              <a:cs typeface="Times New Roman"/>
            </a:endParaRPr>
          </a:p>
          <a:p>
            <a:pPr marL="729928" marR="594266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lturi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ecven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     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;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muncă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ltură</a:t>
            </a:r>
            <a:endParaRPr sz="900">
              <a:latin typeface="Times New Roman"/>
              <a:cs typeface="Times New Roman"/>
            </a:endParaRPr>
          </a:p>
          <a:p>
            <a:pPr marL="46673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LEGUMICULTU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Ă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conservativ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scopul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cerii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tehnologice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şov;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rurală</a:t>
            </a:r>
            <a:endParaRPr sz="900">
              <a:latin typeface="Times New Roman"/>
              <a:cs typeface="Times New Roman"/>
            </a:endParaRPr>
          </a:p>
          <a:p>
            <a:pPr marL="1616594" marR="1779572" indent="-832103">
              <a:lnSpc>
                <a:spcPct val="94962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BACĂU             </a:t>
            </a:r>
            <a:r>
              <a:rPr sz="900" b="1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polu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mediului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ambiant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Yurta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aşov; 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Agrocom Sem 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inute                                                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ci;</a:t>
            </a:r>
            <a:endParaRPr sz="900">
              <a:latin typeface="Times New Roman"/>
              <a:cs typeface="Times New Roman"/>
            </a:endParaRPr>
          </a:p>
          <a:p>
            <a:pPr marL="4076353">
              <a:lnSpc>
                <a:spcPts val="1035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Drag Sem B</a:t>
            </a:r>
            <a:r>
              <a:rPr sz="900" spc="4" dirty="0" smtClean="0">
                <a:latin typeface="Times New Roman"/>
                <a:cs typeface="Times New Roman"/>
              </a:rPr>
              <a:t>ră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5161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bject 84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18972" y="974978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16836" y="974978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01796" y="974978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93514" y="974978"/>
            <a:ext cx="899922" cy="0"/>
          </a:xfrm>
          <a:custGeom>
            <a:avLst/>
            <a:gdLst/>
            <a:ahLst/>
            <a:cxnLst/>
            <a:rect l="l" t="t" r="r" b="b"/>
            <a:pathLst>
              <a:path w="899922">
                <a:moveTo>
                  <a:pt x="0" y="0"/>
                </a:moveTo>
                <a:lnTo>
                  <a:pt x="89992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393436" y="97497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421630" y="974978"/>
            <a:ext cx="1402079" cy="0"/>
          </a:xfrm>
          <a:custGeom>
            <a:avLst/>
            <a:gdLst/>
            <a:ahLst/>
            <a:cxnLst/>
            <a:rect l="l" t="t" r="r" b="b"/>
            <a:pathLst>
              <a:path w="1402079">
                <a:moveTo>
                  <a:pt x="0" y="0"/>
                </a:moveTo>
                <a:lnTo>
                  <a:pt x="140207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47166" y="1913381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25980" y="1913381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710940" y="1913381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502658" y="1913381"/>
            <a:ext cx="890777" cy="0"/>
          </a:xfrm>
          <a:custGeom>
            <a:avLst/>
            <a:gdLst/>
            <a:ahLst/>
            <a:cxnLst/>
            <a:rect l="l" t="t" r="r" b="b"/>
            <a:pathLst>
              <a:path w="890777">
                <a:moveTo>
                  <a:pt x="0" y="0"/>
                </a:moveTo>
                <a:lnTo>
                  <a:pt x="89077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402580" y="1913381"/>
            <a:ext cx="1421129" cy="0"/>
          </a:xfrm>
          <a:custGeom>
            <a:avLst/>
            <a:gdLst/>
            <a:ahLst/>
            <a:cxnLst/>
            <a:rect l="l" t="t" r="r" b="b"/>
            <a:pathLst>
              <a:path w="1421129">
                <a:moveTo>
                  <a:pt x="0" y="0"/>
                </a:moveTo>
                <a:lnTo>
                  <a:pt x="1421129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47166" y="2580131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125980" y="2580131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10940" y="2580131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502658" y="2580131"/>
            <a:ext cx="890777" cy="0"/>
          </a:xfrm>
          <a:custGeom>
            <a:avLst/>
            <a:gdLst/>
            <a:ahLst/>
            <a:cxnLst/>
            <a:rect l="l" t="t" r="r" b="b"/>
            <a:pathLst>
              <a:path w="890777">
                <a:moveTo>
                  <a:pt x="0" y="0"/>
                </a:moveTo>
                <a:lnTo>
                  <a:pt x="89077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402580" y="2580131"/>
            <a:ext cx="1421129" cy="0"/>
          </a:xfrm>
          <a:custGeom>
            <a:avLst/>
            <a:gdLst/>
            <a:ahLst/>
            <a:cxnLst/>
            <a:rect l="l" t="t" r="r" b="b"/>
            <a:pathLst>
              <a:path w="1421129">
                <a:moveTo>
                  <a:pt x="0" y="0"/>
                </a:moveTo>
                <a:lnTo>
                  <a:pt x="1421129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47166" y="3246881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125980" y="3246881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710940" y="3246881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502658" y="3246881"/>
            <a:ext cx="890777" cy="0"/>
          </a:xfrm>
          <a:custGeom>
            <a:avLst/>
            <a:gdLst/>
            <a:ahLst/>
            <a:cxnLst/>
            <a:rect l="l" t="t" r="r" b="b"/>
            <a:pathLst>
              <a:path w="890777">
                <a:moveTo>
                  <a:pt x="0" y="0"/>
                </a:moveTo>
                <a:lnTo>
                  <a:pt x="89077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402580" y="3246881"/>
            <a:ext cx="1421129" cy="0"/>
          </a:xfrm>
          <a:custGeom>
            <a:avLst/>
            <a:gdLst/>
            <a:ahLst/>
            <a:cxnLst/>
            <a:rect l="l" t="t" r="r" b="b"/>
            <a:pathLst>
              <a:path w="1421129">
                <a:moveTo>
                  <a:pt x="0" y="0"/>
                </a:moveTo>
                <a:lnTo>
                  <a:pt x="1421129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47166" y="404545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125980" y="404545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710940" y="404545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502658" y="4045458"/>
            <a:ext cx="890777" cy="0"/>
          </a:xfrm>
          <a:custGeom>
            <a:avLst/>
            <a:gdLst/>
            <a:ahLst/>
            <a:cxnLst/>
            <a:rect l="l" t="t" r="r" b="b"/>
            <a:pathLst>
              <a:path w="890777">
                <a:moveTo>
                  <a:pt x="0" y="0"/>
                </a:moveTo>
                <a:lnTo>
                  <a:pt x="89077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02580" y="4045458"/>
            <a:ext cx="1421129" cy="0"/>
          </a:xfrm>
          <a:custGeom>
            <a:avLst/>
            <a:gdLst/>
            <a:ahLst/>
            <a:cxnLst/>
            <a:rect l="l" t="t" r="r" b="b"/>
            <a:pathLst>
              <a:path w="1421129">
                <a:moveTo>
                  <a:pt x="0" y="0"/>
                </a:moveTo>
                <a:lnTo>
                  <a:pt x="1421129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33069" y="961262"/>
            <a:ext cx="0" cy="8121015"/>
          </a:xfrm>
          <a:custGeom>
            <a:avLst/>
            <a:gdLst/>
            <a:ahLst/>
            <a:cxnLst/>
            <a:rect l="l" t="t" r="r" b="b"/>
            <a:pathLst>
              <a:path h="8121015">
                <a:moveTo>
                  <a:pt x="0" y="0"/>
                </a:moveTo>
                <a:lnTo>
                  <a:pt x="0" y="812101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18972" y="9068181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125980" y="615772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710940" y="615772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502658" y="6157722"/>
            <a:ext cx="890777" cy="0"/>
          </a:xfrm>
          <a:custGeom>
            <a:avLst/>
            <a:gdLst/>
            <a:ahLst/>
            <a:cxnLst/>
            <a:rect l="l" t="t" r="r" b="b"/>
            <a:pathLst>
              <a:path w="890777">
                <a:moveTo>
                  <a:pt x="0" y="0"/>
                </a:moveTo>
                <a:lnTo>
                  <a:pt x="890777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402580" y="6157722"/>
            <a:ext cx="1421129" cy="0"/>
          </a:xfrm>
          <a:custGeom>
            <a:avLst/>
            <a:gdLst/>
            <a:ahLst/>
            <a:cxnLst/>
            <a:rect l="l" t="t" r="r" b="b"/>
            <a:pathLst>
              <a:path w="1421129">
                <a:moveTo>
                  <a:pt x="0" y="0"/>
                </a:moveTo>
                <a:lnTo>
                  <a:pt x="1421129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121408" y="984884"/>
            <a:ext cx="0" cy="8069199"/>
          </a:xfrm>
          <a:custGeom>
            <a:avLst/>
            <a:gdLst/>
            <a:ahLst/>
            <a:cxnLst/>
            <a:rect l="l" t="t" r="r" b="b"/>
            <a:pathLst>
              <a:path h="8069199">
                <a:moveTo>
                  <a:pt x="0" y="0"/>
                </a:moveTo>
                <a:lnTo>
                  <a:pt x="0" y="8069199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116836" y="9068181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706368" y="984884"/>
            <a:ext cx="0" cy="8069199"/>
          </a:xfrm>
          <a:custGeom>
            <a:avLst/>
            <a:gdLst/>
            <a:ahLst/>
            <a:cxnLst/>
            <a:rect l="l" t="t" r="r" b="b"/>
            <a:pathLst>
              <a:path h="8069199">
                <a:moveTo>
                  <a:pt x="0" y="0"/>
                </a:moveTo>
                <a:lnTo>
                  <a:pt x="0" y="806919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701796" y="9068181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498086" y="984884"/>
            <a:ext cx="0" cy="8069199"/>
          </a:xfrm>
          <a:custGeom>
            <a:avLst/>
            <a:gdLst/>
            <a:ahLst/>
            <a:cxnLst/>
            <a:rect l="l" t="t" r="r" b="b"/>
            <a:pathLst>
              <a:path h="8069199">
                <a:moveTo>
                  <a:pt x="0" y="0"/>
                </a:moveTo>
                <a:lnTo>
                  <a:pt x="0" y="806919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493514" y="9068181"/>
            <a:ext cx="899922" cy="0"/>
          </a:xfrm>
          <a:custGeom>
            <a:avLst/>
            <a:gdLst/>
            <a:ahLst/>
            <a:cxnLst/>
            <a:rect l="l" t="t" r="r" b="b"/>
            <a:pathLst>
              <a:path w="899922">
                <a:moveTo>
                  <a:pt x="0" y="0"/>
                </a:moveTo>
                <a:lnTo>
                  <a:pt x="89992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398008" y="984884"/>
            <a:ext cx="0" cy="8069199"/>
          </a:xfrm>
          <a:custGeom>
            <a:avLst/>
            <a:gdLst/>
            <a:ahLst/>
            <a:cxnLst/>
            <a:rect l="l" t="t" r="r" b="b"/>
            <a:pathLst>
              <a:path h="8069199">
                <a:moveTo>
                  <a:pt x="0" y="0"/>
                </a:moveTo>
                <a:lnTo>
                  <a:pt x="0" y="806919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393436" y="906818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421630" y="9068181"/>
            <a:ext cx="1402079" cy="0"/>
          </a:xfrm>
          <a:custGeom>
            <a:avLst/>
            <a:gdLst/>
            <a:ahLst/>
            <a:cxnLst/>
            <a:rect l="l" t="t" r="r" b="b"/>
            <a:pathLst>
              <a:path w="1402079">
                <a:moveTo>
                  <a:pt x="0" y="0"/>
                </a:moveTo>
                <a:lnTo>
                  <a:pt x="140207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837807" y="960881"/>
            <a:ext cx="0" cy="8121396"/>
          </a:xfrm>
          <a:custGeom>
            <a:avLst/>
            <a:gdLst/>
            <a:ahLst/>
            <a:cxnLst/>
            <a:rect l="l" t="t" r="r" b="b"/>
            <a:pathLst>
              <a:path h="8121396">
                <a:moveTo>
                  <a:pt x="0" y="0"/>
                </a:moveTo>
                <a:lnTo>
                  <a:pt x="0" y="812139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33069" y="974978"/>
            <a:ext cx="1188339" cy="9384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2121408" y="974978"/>
            <a:ext cx="1584960" cy="9384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3706368" y="974978"/>
            <a:ext cx="791717" cy="9384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4498086" y="974978"/>
            <a:ext cx="899922" cy="9384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5398008" y="974978"/>
            <a:ext cx="1439799" cy="9384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933069" y="1913381"/>
            <a:ext cx="1188339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2121408" y="1913381"/>
            <a:ext cx="158496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3706368" y="1913381"/>
            <a:ext cx="791717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4498086" y="1913381"/>
            <a:ext cx="899922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5398008" y="1913381"/>
            <a:ext cx="1439799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933069" y="2580131"/>
            <a:ext cx="1188339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2121408" y="2580131"/>
            <a:ext cx="158496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3706368" y="2580131"/>
            <a:ext cx="791717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4498086" y="2580131"/>
            <a:ext cx="899922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5398008" y="2580131"/>
            <a:ext cx="1439799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933069" y="3246881"/>
            <a:ext cx="1188339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2121408" y="3246881"/>
            <a:ext cx="158496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3706368" y="3246881"/>
            <a:ext cx="79171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4498086" y="3246881"/>
            <a:ext cx="899922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5398008" y="3246881"/>
            <a:ext cx="1439799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933069" y="4045458"/>
            <a:ext cx="1188339" cy="5022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121408" y="4045458"/>
            <a:ext cx="1584960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3706368" y="4045458"/>
            <a:ext cx="791717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4498086" y="4045458"/>
            <a:ext cx="899922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398008" y="4045458"/>
            <a:ext cx="1439799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6157722"/>
            <a:ext cx="1584960" cy="29104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6157722"/>
            <a:ext cx="791717" cy="29104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6157722"/>
            <a:ext cx="899922" cy="29104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398008" y="6157722"/>
            <a:ext cx="1439799" cy="29104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437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Managementul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combaterii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Buletin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icultori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Cca. 50%</a:t>
            </a:r>
            <a:endParaRPr sz="900">
              <a:latin typeface="Times New Roman"/>
              <a:cs typeface="Times New Roman"/>
            </a:endParaRPr>
          </a:p>
          <a:p>
            <a:pPr marL="515489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integ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ate a 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cip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lilor pa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az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asiste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ţă</a:t>
            </a:r>
            <a:endParaRPr sz="900">
              <a:latin typeface="Times New Roman"/>
              <a:cs typeface="Times New Roman"/>
            </a:endParaRPr>
          </a:p>
          <a:p>
            <a:pPr marL="58712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care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eclinul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549024" marR="4536974" indent="203453">
              <a:lnSpc>
                <a:spcPts val="1030"/>
              </a:lnSpc>
              <a:spcBef>
                <a:spcPts val="2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România </a:t>
            </a:r>
            <a:r>
              <a:rPr sz="900" b="1" spc="0" dirty="0" smtClean="0">
                <a:latin typeface="Times New Roman"/>
                <a:cs typeface="Times New Roman"/>
              </a:rPr>
              <a:t>POMICULTURĂ </a:t>
            </a:r>
            <a:r>
              <a:rPr sz="900" b="1" spc="4" dirty="0" smtClean="0">
                <a:latin typeface="Times New Roman"/>
                <a:cs typeface="Times New Roman"/>
              </a:rPr>
              <a:t>M</a:t>
            </a:r>
            <a:r>
              <a:rPr sz="900" b="1" spc="0" dirty="0" smtClean="0">
                <a:latin typeface="Times New Roman"/>
                <a:cs typeface="Times New Roman"/>
              </a:rPr>
              <a:t>ĂRĂC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NENI,</a:t>
            </a:r>
            <a:endParaRPr sz="900">
              <a:latin typeface="Times New Roman"/>
              <a:cs typeface="Times New Roman"/>
            </a:endParaRPr>
          </a:p>
          <a:p>
            <a:pPr marL="790586">
              <a:lnSpc>
                <a:spcPts val="10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ARGEŞ</a:t>
            </a:r>
            <a:endParaRPr sz="900">
              <a:latin typeface="Times New Roman"/>
              <a:cs typeface="Times New Roman"/>
            </a:endParaRPr>
          </a:p>
          <a:p>
            <a:pPr marL="780669">
              <a:lnSpc>
                <a:spcPct val="95825"/>
              </a:lnSpc>
              <a:spcBef>
                <a:spcPts val="2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P. 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Cerce</a:t>
            </a:r>
            <a:r>
              <a:rPr sz="900" spc="4" dirty="0" smtClean="0">
                <a:latin typeface="Times New Roman"/>
                <a:cs typeface="Times New Roman"/>
              </a:rPr>
              <a:t>tă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ind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comportarea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Lot     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rma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nr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1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</a:t>
            </a:r>
            <a:r>
              <a:rPr sz="900" spc="-4" dirty="0" smtClean="0">
                <a:latin typeface="Times New Roman"/>
                <a:cs typeface="Times New Roman"/>
              </a:rPr>
              <a:t> t</a:t>
            </a:r>
            <a:r>
              <a:rPr sz="900" spc="0" dirty="0" smtClean="0">
                <a:latin typeface="Times New Roman"/>
                <a:cs typeface="Times New Roman"/>
              </a:rPr>
              <a:t>/ha</a:t>
            </a:r>
            <a:endParaRPr sz="900">
              <a:latin typeface="Times New Roman"/>
              <a:cs typeface="Times New Roman"/>
            </a:endParaRPr>
          </a:p>
          <a:p>
            <a:pPr marL="1616590" marR="631482" indent="-988317">
              <a:lnSpc>
                <a:spcPts val="1019"/>
              </a:lnSpc>
              <a:spcBef>
                <a:spcPts val="7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CONSTAN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A  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elite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superi</a:t>
            </a:r>
            <a:r>
              <a:rPr sz="900" spc="-4" dirty="0" smtClean="0">
                <a:latin typeface="Times New Roman"/>
                <a:cs typeface="Times New Roman"/>
              </a:rPr>
              <a:t>oa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cais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demonstrativ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ra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an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ficiu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cca.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20 vederea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omolog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x</a:t>
            </a:r>
            <a:r>
              <a:rPr sz="900" spc="0" dirty="0" smtClean="0">
                <a:latin typeface="Times New Roman"/>
                <a:cs typeface="Times New Roman"/>
              </a:rPr>
              <a:t>tin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rii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Dosar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-9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P.       </a:t>
            </a:r>
            <a:r>
              <a:rPr sz="900" spc="13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il./ha</a:t>
            </a:r>
            <a:endParaRPr sz="900">
              <a:latin typeface="Times New Roman"/>
              <a:cs typeface="Times New Roman"/>
            </a:endParaRPr>
          </a:p>
          <a:p>
            <a:pPr marL="1616590">
              <a:lnSpc>
                <a:spcPts val="1025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ari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.              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omologare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Constanta</a:t>
            </a:r>
            <a:endParaRPr sz="900">
              <a:latin typeface="Times New Roman"/>
              <a:cs typeface="Times New Roman"/>
            </a:endParaRPr>
          </a:p>
          <a:p>
            <a:pPr marL="3475108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nou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Proprieta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695627" marR="568851" algn="ctr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V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V.         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Managementul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integrat al          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tudiu       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.C.D.V.V.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viti-vinicole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endParaRPr sz="900">
              <a:latin typeface="Times New Roman"/>
              <a:cs typeface="Times New Roman"/>
            </a:endParaRPr>
          </a:p>
          <a:p>
            <a:pPr marL="1616583" marR="673217" indent="-1000502">
              <a:lnSpc>
                <a:spcPct val="94962"/>
              </a:lnSpc>
              <a:spcBef>
                <a:spcPts val="5"/>
              </a:spcBef>
              <a:tabLst>
                <a:tab pos="16129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MURFATLAR	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MUR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ATLAR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înal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cu 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pact secet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                                                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minim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asupra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viti-vi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îna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ta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e, cu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  <a:spcBef>
                <a:spcPts val="5"/>
              </a:spcBef>
            </a:pPr>
            <a:r>
              <a:rPr sz="900" spc="0" dirty="0" smtClean="0">
                <a:latin typeface="Times New Roman"/>
                <a:cs typeface="Times New Roman"/>
              </a:rPr>
              <a:t>impact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minim asupra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</a:t>
            </a:r>
            <a:endParaRPr sz="900">
              <a:latin typeface="Times New Roman"/>
              <a:cs typeface="Times New Roman"/>
            </a:endParaRPr>
          </a:p>
          <a:p>
            <a:pPr marL="1616575" marR="444929" indent="-1029454">
              <a:lnSpc>
                <a:spcPts val="1010"/>
              </a:lnSpc>
              <a:spcBef>
                <a:spcPts val="17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V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V.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IAŞI       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ei clo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cu                    </a:t>
            </a:r>
            <a:r>
              <a:rPr sz="900" spc="1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V. 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şi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însuşiri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superi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ie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                                   Busuioacă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Bohotin</a:t>
            </a:r>
            <a:endParaRPr sz="900">
              <a:latin typeface="Times New Roman"/>
              <a:cs typeface="Times New Roman"/>
            </a:endParaRPr>
          </a:p>
          <a:p>
            <a:pPr marL="1616575">
              <a:lnSpc>
                <a:spcPts val="1030"/>
              </a:lnSpc>
              <a:spcBef>
                <a:spcPts val="1"/>
              </a:spcBef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ui auto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0" dirty="0" smtClean="0">
                <a:latin typeface="Times New Roman"/>
                <a:cs typeface="Times New Roman"/>
              </a:rPr>
              <a:t>ton                </a:t>
            </a:r>
            <a:r>
              <a:rPr sz="900" spc="179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câ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endParaRPr sz="900">
              <a:latin typeface="Times New Roman"/>
              <a:cs typeface="Times New Roman"/>
            </a:endParaRPr>
          </a:p>
          <a:p>
            <a:pPr marL="1616575" marR="2876730">
              <a:lnSpc>
                <a:spcPts val="1040"/>
              </a:lnSpc>
              <a:spcBef>
                <a:spcPts val="5"/>
              </a:spcBef>
            </a:pPr>
            <a:r>
              <a:rPr sz="900" spc="0" dirty="0" smtClean="0">
                <a:latin typeface="Times New Roman"/>
                <a:cs typeface="Times New Roman"/>
              </a:rPr>
              <a:t>Busuioaca de Bohoti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 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urs producerii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rilor roze</a:t>
            </a:r>
            <a:endParaRPr sz="900">
              <a:latin typeface="Times New Roman"/>
              <a:cs typeface="Times New Roman"/>
            </a:endParaRPr>
          </a:p>
          <a:p>
            <a:pPr marL="1616575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aro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ate.</a:t>
            </a:r>
            <a:endParaRPr sz="900">
              <a:latin typeface="Times New Roman"/>
              <a:cs typeface="Times New Roman"/>
            </a:endParaRPr>
          </a:p>
          <a:p>
            <a:pPr marL="654176">
              <a:lnSpc>
                <a:spcPct val="95825"/>
              </a:lnSpc>
              <a:spcBef>
                <a:spcPts val="3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STAŢ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UNEA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“</a:t>
            </a:r>
            <a:r>
              <a:rPr sz="900" spc="0" dirty="0" smtClean="0">
                <a:latin typeface="Times New Roman"/>
                <a:cs typeface="Times New Roman"/>
              </a:rPr>
              <a:t>Manage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nteg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at al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supraf</a:t>
            </a:r>
            <a:r>
              <a:rPr sz="900" spc="-4" dirty="0" smtClean="0">
                <a:latin typeface="Times New Roman"/>
                <a:cs typeface="Times New Roman"/>
              </a:rPr>
              <a:t>eţ</a:t>
            </a:r>
            <a:r>
              <a:rPr sz="900" spc="0" dirty="0" smtClean="0">
                <a:latin typeface="Times New Roman"/>
                <a:cs typeface="Times New Roman"/>
              </a:rPr>
              <a:t>elor</a:t>
            </a:r>
            <a:endParaRPr sz="900">
              <a:latin typeface="Times New Roman"/>
              <a:cs typeface="Times New Roman"/>
            </a:endParaRPr>
          </a:p>
          <a:p>
            <a:pPr marL="534550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legu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tii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tehnica          </a:t>
            </a:r>
            <a:r>
              <a:rPr sz="900" spc="2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priva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din ju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.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 pro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ej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endParaRPr sz="900">
              <a:latin typeface="Times New Roman"/>
              <a:cs typeface="Times New Roman"/>
            </a:endParaRPr>
          </a:p>
          <a:p>
            <a:pPr marL="53455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-9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VOLTARE     </a:t>
            </a:r>
            <a:r>
              <a:rPr sz="900" b="1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protejate”                                         </a:t>
            </a:r>
            <a:r>
              <a:rPr sz="900" spc="14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Rapoarte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</a:t>
            </a:r>
            <a:r>
              <a:rPr sz="900" spc="4" dirty="0" smtClean="0">
                <a:latin typeface="Times New Roman"/>
                <a:cs typeface="Times New Roman"/>
              </a:rPr>
              <a:t>ză</a:t>
            </a:r>
            <a:r>
              <a:rPr sz="900" spc="0" dirty="0" smtClean="0">
                <a:latin typeface="Times New Roman"/>
                <a:cs typeface="Times New Roman"/>
              </a:rPr>
              <a:t>u, Vranc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a,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purii</a:t>
            </a:r>
            <a:endParaRPr sz="900">
              <a:latin typeface="Times New Roman"/>
              <a:cs typeface="Times New Roman"/>
            </a:endParaRPr>
          </a:p>
          <a:p>
            <a:pPr marL="58408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LEGUMICOLA                                                         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experimentare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Ialom</a:t>
            </a:r>
            <a:r>
              <a:rPr sz="900" spc="4" dirty="0" smtClean="0">
                <a:latin typeface="Times New Roman"/>
                <a:cs typeface="Times New Roman"/>
              </a:rPr>
              <a:t>iţ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i,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10% şi a 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tot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endParaRPr sz="900">
              <a:latin typeface="Times New Roman"/>
              <a:cs typeface="Times New Roman"/>
            </a:endParaRPr>
          </a:p>
          <a:p>
            <a:pPr marL="78754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BU</a:t>
            </a:r>
            <a:r>
              <a:rPr sz="900" b="1" spc="-4" dirty="0" smtClean="0">
                <a:latin typeface="Times New Roman"/>
                <a:cs typeface="Times New Roman"/>
              </a:rPr>
              <a:t>Z</a:t>
            </a:r>
            <a:r>
              <a:rPr sz="900" b="1" spc="0" dirty="0" smtClean="0">
                <a:latin typeface="Times New Roman"/>
                <a:cs typeface="Times New Roman"/>
              </a:rPr>
              <a:t>ĂU                                                                    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Demonstr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ii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Ilfov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20%</a:t>
            </a:r>
            <a:endParaRPr sz="900">
              <a:latin typeface="Times New Roman"/>
              <a:cs typeface="Times New Roman"/>
            </a:endParaRPr>
          </a:p>
          <a:p>
            <a:pPr marL="4931271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ch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endParaRPr sz="900">
              <a:latin typeface="Times New Roman"/>
              <a:cs typeface="Times New Roman"/>
            </a:endParaRPr>
          </a:p>
          <a:p>
            <a:pPr marL="4931271" marR="527564">
              <a:lnSpc>
                <a:spcPts val="1040"/>
              </a:lnSpc>
              <a:spcBef>
                <a:spcPts val="6"/>
              </a:spcBef>
            </a:pP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materialul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biologic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</a:t>
            </a:r>
            <a:r>
              <a:rPr sz="900" spc="-4" dirty="0" smtClean="0">
                <a:latin typeface="Times New Roman"/>
                <a:cs typeface="Times New Roman"/>
              </a:rPr>
              <a:t>3</a:t>
            </a:r>
            <a:r>
              <a:rPr sz="900" spc="0" dirty="0" smtClean="0">
                <a:latin typeface="Times New Roman"/>
                <a:cs typeface="Times New Roman"/>
              </a:rPr>
              <a:t>.6%</a:t>
            </a:r>
            <a:endParaRPr sz="900">
              <a:latin typeface="Times New Roman"/>
              <a:cs typeface="Times New Roman"/>
            </a:endParaRPr>
          </a:p>
          <a:p>
            <a:pPr marL="4931271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ch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endParaRPr sz="900">
              <a:latin typeface="Times New Roman"/>
              <a:cs typeface="Times New Roman"/>
            </a:endParaRPr>
          </a:p>
          <a:p>
            <a:pPr marL="4931271" marR="509115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ata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tos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20%</a:t>
            </a:r>
            <a:endParaRPr sz="900">
              <a:latin typeface="Times New Roman"/>
              <a:cs typeface="Times New Roman"/>
            </a:endParaRPr>
          </a:p>
          <a:p>
            <a:pPr marL="4931271" marR="435677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pierd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a util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 la iri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are 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30%</a:t>
            </a:r>
            <a:endParaRPr sz="900">
              <a:latin typeface="Times New Roman"/>
              <a:cs typeface="Times New Roman"/>
            </a:endParaRPr>
          </a:p>
          <a:p>
            <a:pPr marL="4931271" marR="666689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costur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cu fertilizarea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5%</a:t>
            </a:r>
            <a:endParaRPr sz="900">
              <a:latin typeface="Times New Roman"/>
              <a:cs typeface="Times New Roman"/>
            </a:endParaRPr>
          </a:p>
          <a:p>
            <a:pPr marL="4931271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1616583" marR="625100">
              <a:lnSpc>
                <a:spcPct val="96112"/>
              </a:lnSpc>
              <a:spcBef>
                <a:spcPts val="18"/>
              </a:spcBef>
            </a:pPr>
            <a:r>
              <a:rPr sz="900" spc="-4" dirty="0" smtClean="0">
                <a:latin typeface="Times New Roman"/>
                <a:cs typeface="Times New Roman"/>
              </a:rPr>
              <a:t>“</a:t>
            </a:r>
            <a:r>
              <a:rPr sz="900" spc="0" dirty="0" smtClean="0">
                <a:latin typeface="Times New Roman"/>
                <a:cs typeface="Times New Roman"/>
              </a:rPr>
              <a:t>Diversifica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Asocia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Aplica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proi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are legume şi flori prin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legumicole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impact economic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asupra</a:t>
            </a:r>
            <a:endParaRPr sz="900">
              <a:latin typeface="Times New Roman"/>
              <a:cs typeface="Times New Roman"/>
            </a:endParaRPr>
          </a:p>
          <a:p>
            <a:pPr marL="1616594" marR="536798" indent="-11">
              <a:lnSpc>
                <a:spcPts val="1040"/>
              </a:lnSpc>
              <a:spcBef>
                <a:spcPts val="52"/>
              </a:spcBef>
            </a:pP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ltura a noi spec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şi soiuri în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pecif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ocie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cole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 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scopul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consumatorilor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tehnica 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profil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venitur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la uni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605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proaspete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tot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legumicol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suprafa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min.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15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%,</a:t>
            </a:r>
            <a:endParaRPr sz="900">
              <a:latin typeface="Times New Roman"/>
              <a:cs typeface="Times New Roman"/>
            </a:endParaRPr>
          </a:p>
          <a:p>
            <a:pPr marL="4256935" marR="476201" indent="-2640330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parcursul anul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i”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experimentare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        datori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lturi priva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asoci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suc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esive</a:t>
            </a:r>
            <a:endParaRPr sz="900">
              <a:latin typeface="Times New Roman"/>
              <a:cs typeface="Times New Roman"/>
            </a:endParaRPr>
          </a:p>
          <a:p>
            <a:pPr marL="4903119" marR="514076" indent="19053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diversi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 prepar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endParaRPr sz="900">
              <a:latin typeface="Times New Roman"/>
              <a:cs typeface="Times New Roman"/>
            </a:endParaRPr>
          </a:p>
          <a:p>
            <a:pPr marL="4903119" marR="444741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posibili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losi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gr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dina f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mili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 cul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 </a:t>
            </a:r>
            <a:r>
              <a:rPr sz="900" spc="4" dirty="0" smtClean="0">
                <a:latin typeface="Times New Roman"/>
                <a:cs typeface="Times New Roman"/>
              </a:rPr>
              <a:t>cu</a:t>
            </a:r>
            <a:endParaRPr sz="900">
              <a:latin typeface="Times New Roman"/>
              <a:cs typeface="Times New Roman"/>
            </a:endParaRPr>
          </a:p>
          <a:p>
            <a:pPr marL="4903130" marR="502211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legu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lturi aso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protejează recipr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</a:t>
            </a:r>
            <a:r>
              <a:rPr sz="900" spc="-9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4903119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princip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4903119" marR="514727" indent="0">
              <a:lnSpc>
                <a:spcPts val="1040"/>
              </a:lnSpc>
              <a:spcBef>
                <a:spcPts val="5"/>
              </a:spcBef>
            </a:pPr>
            <a:r>
              <a:rPr sz="900" spc="0" dirty="0" smtClean="0">
                <a:latin typeface="Times New Roman"/>
                <a:cs typeface="Times New Roman"/>
              </a:rPr>
              <a:t>ecolo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inând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-se produse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mult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endParaRPr sz="900">
              <a:latin typeface="Times New Roman"/>
              <a:cs typeface="Times New Roman"/>
            </a:endParaRPr>
          </a:p>
          <a:p>
            <a:pPr marL="4903130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tine</a:t>
            </a:r>
            <a:endParaRPr sz="900">
              <a:latin typeface="Times New Roman"/>
              <a:cs typeface="Times New Roman"/>
            </a:endParaRPr>
          </a:p>
          <a:p>
            <a:pPr marL="4903130" marR="482247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Aplica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 asolamente 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adul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îmburuienare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terenul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legumicol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diminuea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 at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lilor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torilor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5435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7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bject 92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18972" y="974978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116836" y="974978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701796" y="974978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93514" y="97497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521708" y="974978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501640" y="974978"/>
            <a:ext cx="1358645" cy="0"/>
          </a:xfrm>
          <a:custGeom>
            <a:avLst/>
            <a:gdLst/>
            <a:ahLst/>
            <a:cxnLst/>
            <a:rect l="l" t="t" r="r" b="b"/>
            <a:pathLst>
              <a:path w="1358645">
                <a:moveTo>
                  <a:pt x="0" y="0"/>
                </a:moveTo>
                <a:lnTo>
                  <a:pt x="1358645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47166" y="3359657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25980" y="3359657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710940" y="3359657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502658" y="3359657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510784" y="3359657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47166" y="402640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25980" y="402640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710940" y="402640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502658" y="402640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510784" y="4026408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47166" y="508711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125980" y="508711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710940" y="508711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502658" y="508711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510784" y="5087112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47166" y="7199376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125980" y="719937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710940" y="719937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502658" y="719937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510784" y="7199376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33069" y="961262"/>
            <a:ext cx="0" cy="8524875"/>
          </a:xfrm>
          <a:custGeom>
            <a:avLst/>
            <a:gdLst/>
            <a:ahLst/>
            <a:cxnLst/>
            <a:rect l="l" t="t" r="r" b="b"/>
            <a:pathLst>
              <a:path h="8524875">
                <a:moveTo>
                  <a:pt x="0" y="0"/>
                </a:moveTo>
                <a:lnTo>
                  <a:pt x="0" y="852487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18972" y="9472041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125980" y="786612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710940" y="786612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502658" y="786612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510784" y="7866126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125980" y="866470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710940" y="866470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502658" y="866470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510784" y="8664702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121408" y="984884"/>
            <a:ext cx="0" cy="8473059"/>
          </a:xfrm>
          <a:custGeom>
            <a:avLst/>
            <a:gdLst/>
            <a:ahLst/>
            <a:cxnLst/>
            <a:rect l="l" t="t" r="r" b="b"/>
            <a:pathLst>
              <a:path h="8473059">
                <a:moveTo>
                  <a:pt x="0" y="0"/>
                </a:moveTo>
                <a:lnTo>
                  <a:pt x="0" y="8473059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116836" y="9472041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706368" y="984884"/>
            <a:ext cx="0" cy="8473059"/>
          </a:xfrm>
          <a:custGeom>
            <a:avLst/>
            <a:gdLst/>
            <a:ahLst/>
            <a:cxnLst/>
            <a:rect l="l" t="t" r="r" b="b"/>
            <a:pathLst>
              <a:path h="8473059">
                <a:moveTo>
                  <a:pt x="0" y="0"/>
                </a:moveTo>
                <a:lnTo>
                  <a:pt x="0" y="847305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01796" y="9472041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498086" y="984884"/>
            <a:ext cx="0" cy="8473059"/>
          </a:xfrm>
          <a:custGeom>
            <a:avLst/>
            <a:gdLst/>
            <a:ahLst/>
            <a:cxnLst/>
            <a:rect l="l" t="t" r="r" b="b"/>
            <a:pathLst>
              <a:path h="8473059">
                <a:moveTo>
                  <a:pt x="0" y="0"/>
                </a:moveTo>
                <a:lnTo>
                  <a:pt x="0" y="847305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493514" y="947204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521708" y="9472041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506212" y="984884"/>
            <a:ext cx="0" cy="8473059"/>
          </a:xfrm>
          <a:custGeom>
            <a:avLst/>
            <a:gdLst/>
            <a:ahLst/>
            <a:cxnLst/>
            <a:rect l="l" t="t" r="r" b="b"/>
            <a:pathLst>
              <a:path h="8473059">
                <a:moveTo>
                  <a:pt x="0" y="0"/>
                </a:moveTo>
                <a:lnTo>
                  <a:pt x="0" y="847305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501640" y="9472041"/>
            <a:ext cx="1358645" cy="0"/>
          </a:xfrm>
          <a:custGeom>
            <a:avLst/>
            <a:gdLst/>
            <a:ahLst/>
            <a:cxnLst/>
            <a:rect l="l" t="t" r="r" b="b"/>
            <a:pathLst>
              <a:path w="1358645">
                <a:moveTo>
                  <a:pt x="0" y="0"/>
                </a:moveTo>
                <a:lnTo>
                  <a:pt x="1358645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874383" y="960881"/>
            <a:ext cx="0" cy="8525256"/>
          </a:xfrm>
          <a:custGeom>
            <a:avLst/>
            <a:gdLst/>
            <a:ahLst/>
            <a:cxnLst/>
            <a:rect l="l" t="t" r="r" b="b"/>
            <a:pathLst>
              <a:path h="8525256">
                <a:moveTo>
                  <a:pt x="0" y="0"/>
                </a:moveTo>
                <a:lnTo>
                  <a:pt x="0" y="852525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33069" y="974978"/>
            <a:ext cx="1188339" cy="23846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2121408" y="974978"/>
            <a:ext cx="1584960" cy="23846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3706368" y="974978"/>
            <a:ext cx="791717" cy="23846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4498086" y="974978"/>
            <a:ext cx="1008126" cy="23846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5506212" y="974978"/>
            <a:ext cx="1368170" cy="23846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933069" y="3359657"/>
            <a:ext cx="1188339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2121408" y="3359657"/>
            <a:ext cx="158496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3706368" y="3359657"/>
            <a:ext cx="791717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4498086" y="3359657"/>
            <a:ext cx="1008126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5506212" y="3359657"/>
            <a:ext cx="136817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933069" y="4026408"/>
            <a:ext cx="1188339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2121408" y="4026408"/>
            <a:ext cx="1584960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3706368" y="4026408"/>
            <a:ext cx="791717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4498086" y="4026408"/>
            <a:ext cx="1008126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5506212" y="4026408"/>
            <a:ext cx="1368170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933069" y="5087112"/>
            <a:ext cx="1188339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2121408" y="5087112"/>
            <a:ext cx="1584960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3706368" y="5087112"/>
            <a:ext cx="791717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498086" y="5087112"/>
            <a:ext cx="1008126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5506212" y="5087112"/>
            <a:ext cx="1368170" cy="21122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933069" y="7199376"/>
            <a:ext cx="1188339" cy="22726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2121408" y="7199376"/>
            <a:ext cx="158496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3706368" y="7199376"/>
            <a:ext cx="791717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4498086" y="7199376"/>
            <a:ext cx="1008126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5506212" y="7199376"/>
            <a:ext cx="136817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121408" y="7866126"/>
            <a:ext cx="158496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3706368" y="7866126"/>
            <a:ext cx="79171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4498086" y="7866126"/>
            <a:ext cx="1008126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5506212" y="7866126"/>
            <a:ext cx="136817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8664702"/>
            <a:ext cx="1584960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8664702"/>
            <a:ext cx="791717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8664702"/>
            <a:ext cx="1008126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506212" y="8664702"/>
            <a:ext cx="1368170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515492">
              <a:lnSpc>
                <a:spcPct val="95825"/>
              </a:lnSpc>
              <a:spcBef>
                <a:spcPts val="437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SERICAROM    </a:t>
            </a:r>
            <a:r>
              <a:rPr sz="900" b="1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icu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r-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Butaşi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dud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 SERICA-ROM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ut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liz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endParaRPr sz="900">
              <a:latin typeface="Times New Roman"/>
              <a:cs typeface="Times New Roman"/>
            </a:endParaRPr>
          </a:p>
          <a:p>
            <a:pPr marL="590165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A.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–</a:t>
            </a:r>
            <a:r>
              <a:rPr sz="900" b="1" spc="-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FILIALA       </a:t>
            </a:r>
            <a:r>
              <a:rPr sz="900" b="1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arbuscula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în 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A.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îngr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mintelor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chimice</a:t>
            </a:r>
            <a:endParaRPr sz="900">
              <a:latin typeface="Times New Roman"/>
              <a:cs typeface="Times New Roman"/>
            </a:endParaRPr>
          </a:p>
          <a:p>
            <a:pPr marL="628261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CERCET</a:t>
            </a:r>
            <a:r>
              <a:rPr sz="900" b="1" spc="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RE                                                                 </a:t>
            </a:r>
            <a:r>
              <a:rPr sz="900" b="1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mature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dud   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material</a:t>
            </a:r>
            <a:endParaRPr sz="900">
              <a:latin typeface="Times New Roman"/>
              <a:cs typeface="Times New Roman"/>
            </a:endParaRPr>
          </a:p>
          <a:p>
            <a:pPr marL="3292228" marR="408643" indent="-2577865">
              <a:lnSpc>
                <a:spcPts val="1010"/>
              </a:lnSpc>
              <a:spcBef>
                <a:spcPts val="34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BĂNEA</a:t>
            </a:r>
            <a:r>
              <a:rPr sz="900" b="1" spc="4" dirty="0" smtClean="0">
                <a:latin typeface="Times New Roman"/>
                <a:cs typeface="Times New Roman"/>
              </a:rPr>
              <a:t>S</a:t>
            </a:r>
            <a:r>
              <a:rPr sz="900" b="1" spc="0" dirty="0" smtClean="0">
                <a:latin typeface="Times New Roman"/>
                <a:cs typeface="Times New Roman"/>
              </a:rPr>
              <a:t>A                                                                        </a:t>
            </a:r>
            <a:r>
              <a:rPr sz="900" b="1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inoculate                               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ditor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în</a:t>
            </a:r>
            <a:r>
              <a:rPr sz="900" spc="-4" dirty="0" smtClean="0">
                <a:latin typeface="Times New Roman"/>
                <a:cs typeface="Times New Roman"/>
              </a:rPr>
              <a:t> p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dud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icor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ze</a:t>
            </a:r>
            <a:endParaRPr sz="900">
              <a:latin typeface="Times New Roman"/>
              <a:cs typeface="Times New Roman"/>
            </a:endParaRPr>
          </a:p>
          <a:p>
            <a:pPr marL="3263332" marR="2845631" algn="ctr">
              <a:lnSpc>
                <a:spcPts val="1025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tip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VAM</a:t>
            </a:r>
            <a:endParaRPr sz="900">
              <a:latin typeface="Times New Roman"/>
              <a:cs typeface="Times New Roman"/>
            </a:endParaRPr>
          </a:p>
          <a:p>
            <a:pPr marL="3341754" marR="431708" indent="-101349">
              <a:lnSpc>
                <a:spcPts val="1040"/>
              </a:lnSpc>
              <a:spcBef>
                <a:spcPts val="5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onstrarea     SC SERICA-ROM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pre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cost existen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ei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A.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ditor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dud</a:t>
            </a:r>
            <a:endParaRPr sz="900">
              <a:latin typeface="Times New Roman"/>
              <a:cs typeface="Times New Roman"/>
            </a:endParaRPr>
          </a:p>
          <a:p>
            <a:pPr marL="3289176" marR="481949" algn="just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infl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Diversifi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gori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endParaRPr sz="900">
              <a:latin typeface="Times New Roman"/>
              <a:cs typeface="Times New Roman"/>
            </a:endParaRPr>
          </a:p>
          <a:p>
            <a:pPr marL="3264042" marR="472956" indent="33524" algn="just">
              <a:lnSpc>
                <a:spcPct val="95825"/>
              </a:lnSpc>
            </a:pP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icoriz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 REDOX 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ditor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dud VAM asupra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TRADING 2000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Diversificarea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materialului  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fitosani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ate</a:t>
            </a:r>
            <a:endParaRPr sz="900">
              <a:latin typeface="Times New Roman"/>
              <a:cs typeface="Times New Roman"/>
            </a:endParaRPr>
          </a:p>
          <a:p>
            <a:pPr marL="3383735" marR="2966414" algn="ctr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ditor</a:t>
            </a:r>
            <a:endParaRPr sz="900">
              <a:latin typeface="Times New Roman"/>
              <a:cs typeface="Times New Roman"/>
            </a:endParaRPr>
          </a:p>
          <a:p>
            <a:pPr marL="3283917" marR="2865596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telor</a:t>
            </a:r>
            <a:endParaRPr sz="900">
              <a:latin typeface="Times New Roman"/>
              <a:cs typeface="Times New Roman"/>
            </a:endParaRPr>
          </a:p>
          <a:p>
            <a:pPr marL="3198566" marR="2780521" algn="ctr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tilizate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3326597" marR="2909161" algn="ct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vier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endParaRPr sz="900">
              <a:latin typeface="Times New Roman"/>
              <a:cs typeface="Times New Roman"/>
            </a:endParaRPr>
          </a:p>
          <a:p>
            <a:pPr marL="3312115" marR="2895489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tase</a:t>
            </a:r>
            <a:endParaRPr sz="900">
              <a:latin typeface="Times New Roman"/>
              <a:cs typeface="Times New Roman"/>
            </a:endParaRPr>
          </a:p>
          <a:p>
            <a:pPr marL="534542" marR="485807" indent="100584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Multipl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alul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Institutul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Multipl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alul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 la al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ina 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neas</a:t>
            </a:r>
            <a:r>
              <a:rPr sz="900" spc="-9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                                    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etare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 la al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ina 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                                                                                     </a:t>
            </a:r>
            <a:r>
              <a:rPr sz="900" b="1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nească</a:t>
            </a:r>
            <a:endParaRPr sz="900">
              <a:latin typeface="Times New Roman"/>
              <a:cs typeface="Times New Roman"/>
            </a:endParaRPr>
          </a:p>
          <a:p>
            <a:pPr marL="75247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                                                                               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Apicultu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60617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APICULT</a:t>
            </a:r>
            <a:r>
              <a:rPr sz="900" b="1" spc="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RA</a:t>
            </a:r>
            <a:endParaRPr sz="900">
              <a:latin typeface="Times New Roman"/>
              <a:cs typeface="Times New Roman"/>
            </a:endParaRPr>
          </a:p>
          <a:p>
            <a:pPr marL="645791" marR="410115" indent="-188972" algn="just">
              <a:lnSpc>
                <a:spcPct val="95825"/>
              </a:lnSpc>
              <a:spcBef>
                <a:spcPts val="2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IBNA – BALOTEŞTI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nut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raselor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Raport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 Avi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ola SA –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performa</a:t>
            </a:r>
            <a:r>
              <a:rPr sz="900" spc="-4" dirty="0" smtClean="0">
                <a:latin typeface="Times New Roman"/>
                <a:cs typeface="Times New Roman"/>
              </a:rPr>
              <a:t>nţ</a:t>
            </a:r>
            <a:r>
              <a:rPr sz="900" spc="4" dirty="0" smtClean="0">
                <a:latin typeface="Times New Roman"/>
                <a:cs typeface="Times New Roman"/>
              </a:rPr>
              <a:t>e- </a:t>
            </a:r>
            <a:r>
              <a:rPr sz="900" b="1" spc="0" dirty="0" smtClean="0">
                <a:latin typeface="Times New Roman"/>
                <a:cs typeface="Times New Roman"/>
              </a:rPr>
              <a:t>SC SIAT </a:t>
            </a:r>
            <a:r>
              <a:rPr sz="900" b="1" spc="4" dirty="0" smtClean="0">
                <a:latin typeface="Times New Roman"/>
                <a:cs typeface="Times New Roman"/>
              </a:rPr>
              <a:t>S</a:t>
            </a:r>
            <a:r>
              <a:rPr sz="900" b="1" spc="0" dirty="0" smtClean="0">
                <a:latin typeface="Times New Roman"/>
                <a:cs typeface="Times New Roman"/>
              </a:rPr>
              <a:t>A -         </a:t>
            </a:r>
            <a:r>
              <a:rPr sz="900" b="1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hibrizilor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ini ou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       experimentare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Bucur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şti;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productive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economice </a:t>
            </a:r>
            <a:r>
              <a:rPr sz="900" b="1" spc="0" dirty="0" smtClean="0">
                <a:latin typeface="Times New Roman"/>
                <a:cs typeface="Times New Roman"/>
              </a:rPr>
              <a:t>BUCUR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ŞTI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noast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Cresc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 ou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endParaRPr sz="900">
              <a:latin typeface="Times New Roman"/>
              <a:cs typeface="Times New Roman"/>
            </a:endParaRPr>
          </a:p>
          <a:p>
            <a:pPr marL="1616586" marR="419226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ecolo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nd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particula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Minimizarea costurilor prin poten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lul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-4" dirty="0" smtClean="0">
                <a:latin typeface="Times New Roman"/>
                <a:cs typeface="Times New Roman"/>
              </a:rPr>
              <a:t>fa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or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</a:t>
            </a:r>
            <a:r>
              <a:rPr sz="900" spc="1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ini ou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are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reformularea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etelor de</a:t>
            </a:r>
            <a:endParaRPr sz="900">
              <a:latin typeface="Times New Roman"/>
              <a:cs typeface="Times New Roman"/>
            </a:endParaRPr>
          </a:p>
          <a:p>
            <a:pPr marL="1616598" marR="463875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exogeni,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ealizarea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                                                                       </a:t>
            </a:r>
            <a:r>
              <a:rPr sz="900" spc="1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nutre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bin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 software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 (GONUT –                                                        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endParaRPr sz="900">
              <a:latin typeface="Times New Roman"/>
              <a:cs typeface="Times New Roman"/>
            </a:endParaRPr>
          </a:p>
          <a:p>
            <a:pPr marL="1616598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01)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3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 </a:t>
            </a:r>
            <a:r>
              <a:rPr sz="900" b="1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fermelor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Rece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turi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FNC,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Ferma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IBNA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Include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str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NC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60083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BIOLOGIE       </a:t>
            </a:r>
            <a:r>
              <a:rPr sz="900" b="1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taurine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valorifica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NC                                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â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orez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(</a:t>
            </a:r>
            <a:r>
              <a:rPr sz="900" spc="0" dirty="0" smtClean="0">
                <a:latin typeface="Times New Roman"/>
                <a:cs typeface="Times New Roman"/>
              </a:rPr>
              <a:t>E1)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</a:t>
            </a:r>
            <a:endParaRPr sz="900">
              <a:latin typeface="Times New Roman"/>
              <a:cs typeface="Times New Roman"/>
            </a:endParaRPr>
          </a:p>
          <a:p>
            <a:pPr marL="657232" marR="470249" indent="-4583">
              <a:lnSpc>
                <a:spcPct val="95825"/>
              </a:lnSpc>
              <a:tabLst>
                <a:tab pos="15621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şi NUTR</a:t>
            </a:r>
            <a:r>
              <a:rPr sz="900" b="1" spc="-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ŢIE         </a:t>
            </a:r>
            <a:r>
              <a:rPr sz="900" b="1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superioară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         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rturilor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orez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(E</a:t>
            </a:r>
            <a:r>
              <a:rPr sz="900" spc="-4" dirty="0" smtClean="0">
                <a:latin typeface="Times New Roman"/>
                <a:cs typeface="Times New Roman"/>
              </a:rPr>
              <a:t>2</a:t>
            </a:r>
            <a:r>
              <a:rPr sz="900" spc="0" dirty="0" smtClean="0">
                <a:latin typeface="Times New Roman"/>
                <a:cs typeface="Times New Roman"/>
              </a:rPr>
              <a:t>)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</a:t>
            </a:r>
            <a:r>
              <a:rPr sz="900" b="1" spc="0" dirty="0" smtClean="0">
                <a:latin typeface="Times New Roman"/>
                <a:cs typeface="Times New Roman"/>
              </a:rPr>
              <a:t>ANIMALA	</a:t>
            </a:r>
            <a:r>
              <a:rPr sz="900" spc="0" dirty="0" smtClean="0">
                <a:latin typeface="Times New Roman"/>
                <a:cs typeface="Times New Roman"/>
              </a:rPr>
              <a:t>subproduse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provenite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la                                                           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etul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supus </a:t>
            </a:r>
            <a:r>
              <a:rPr sz="900" b="1" spc="0" dirty="0" smtClean="0">
                <a:latin typeface="Times New Roman"/>
                <a:cs typeface="Times New Roman"/>
              </a:rPr>
              <a:t>BALOTEŞTI         </a:t>
            </a:r>
            <a:r>
              <a:rPr sz="900" b="1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industriile alco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lului şi                                                                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îngr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nit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pe</a:t>
            </a:r>
            <a:endParaRPr sz="900">
              <a:latin typeface="Times New Roman"/>
              <a:cs typeface="Times New Roman"/>
            </a:endParaRPr>
          </a:p>
          <a:p>
            <a:pPr marL="1616598">
              <a:lnSpc>
                <a:spcPts val="1015"/>
              </a:lnSpc>
              <a:spcBef>
                <a:spcPts val="50"/>
              </a:spcBef>
            </a:pPr>
            <a:r>
              <a:rPr sz="900" spc="0" dirty="0" smtClean="0">
                <a:latin typeface="Times New Roman"/>
                <a:cs typeface="Times New Roman"/>
              </a:rPr>
              <a:t>mor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ritului                                                                  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ba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siloz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orz,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5001398" marR="404206" indent="11">
              <a:lnSpc>
                <a:spcPct val="95729"/>
              </a:lnSpc>
            </a:pPr>
            <a:r>
              <a:rPr sz="900" spc="0" dirty="0" smtClean="0">
                <a:latin typeface="Times New Roman"/>
                <a:cs typeface="Times New Roman"/>
              </a:rPr>
              <a:t>deter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 sporuri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eu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f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ţă de lot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M, 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unor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specifice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ici la lotur</a:t>
            </a:r>
            <a:r>
              <a:rPr sz="900" spc="-4" dirty="0" smtClean="0">
                <a:latin typeface="Times New Roman"/>
                <a:cs typeface="Times New Roman"/>
              </a:rPr>
              <a:t>il</a:t>
            </a:r>
            <a:r>
              <a:rPr sz="900" spc="0" dirty="0" smtClean="0">
                <a:latin typeface="Times New Roman"/>
                <a:cs typeface="Times New Roman"/>
              </a:rPr>
              <a:t>e experimentale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ă de M;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schimb,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costul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a fost,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ordi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cres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e, după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cum ur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-4" dirty="0" smtClean="0">
                <a:latin typeface="Times New Roman"/>
                <a:cs typeface="Times New Roman"/>
              </a:rPr>
              <a:t>ză</a:t>
            </a:r>
            <a:r>
              <a:rPr sz="900" spc="0" dirty="0" smtClean="0">
                <a:latin typeface="Times New Roman"/>
                <a:cs typeface="Times New Roman"/>
              </a:rPr>
              <a:t>: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1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endParaRPr sz="900">
              <a:latin typeface="Times New Roman"/>
              <a:cs typeface="Times New Roman"/>
            </a:endParaRPr>
          </a:p>
          <a:p>
            <a:pPr marR="1413765" algn="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E2 .</a:t>
            </a:r>
            <a:endParaRPr sz="900">
              <a:latin typeface="Times New Roman"/>
              <a:cs typeface="Times New Roman"/>
            </a:endParaRPr>
          </a:p>
          <a:p>
            <a:pPr marL="467789" marR="438115" algn="ctr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S.N.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“INSTITUTUL   </a:t>
            </a:r>
            <a:r>
              <a:rPr sz="900" b="1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inere/testare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bioproduse   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S.N.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“</a:t>
            </a:r>
            <a:r>
              <a:rPr sz="900" spc="0" dirty="0" smtClean="0">
                <a:latin typeface="Times New Roman"/>
                <a:cs typeface="Times New Roman"/>
              </a:rPr>
              <a:t>Institut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Optimizarea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iagnosticului</a:t>
            </a:r>
            <a:endParaRPr sz="900">
              <a:latin typeface="Times New Roman"/>
              <a:cs typeface="Times New Roman"/>
            </a:endParaRPr>
          </a:p>
          <a:p>
            <a:pPr marL="1616590" marR="1153470" indent="-1040895">
              <a:lnSpc>
                <a:spcPts val="1019"/>
              </a:lnSpc>
              <a:spcBef>
                <a:spcPts val="7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PASTEUR” 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A.   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avia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el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area                             </a:t>
            </a:r>
            <a:r>
              <a:rPr sz="900" spc="12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biologic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ur”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ecanis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 etio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ice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 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Departa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</a:t>
            </a:r>
            <a:endParaRPr sz="900">
              <a:latin typeface="Times New Roman"/>
              <a:cs typeface="Times New Roman"/>
            </a:endParaRPr>
          </a:p>
          <a:p>
            <a:pPr marL="1616590">
              <a:lnSpc>
                <a:spcPts val="1025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afe</a:t>
            </a:r>
            <a:r>
              <a:rPr sz="900" spc="9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iuni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  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Cerceta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90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folosirea</a:t>
            </a:r>
            <a:r>
              <a:rPr sz="900" spc="4" dirty="0" smtClean="0">
                <a:latin typeface="Times New Roman"/>
                <a:cs typeface="Times New Roman"/>
              </a:rPr>
              <a:t> gă</a:t>
            </a:r>
            <a:r>
              <a:rPr sz="900" spc="0" dirty="0" smtClean="0">
                <a:latin typeface="Times New Roman"/>
                <a:cs typeface="Times New Roman"/>
              </a:rPr>
              <a:t>inilor SPF.</a:t>
            </a:r>
            <a:endParaRPr sz="900">
              <a:latin typeface="Times New Roman"/>
              <a:cs typeface="Times New Roman"/>
            </a:endParaRPr>
          </a:p>
          <a:p>
            <a:pPr marL="1616583" marR="552560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Tehnologie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iagnostic           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aci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pierd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precoce,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profilaxie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pie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epide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lapte    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de sindromului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partu</a:t>
            </a:r>
            <a:r>
              <a:rPr sz="900" spc="-4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lapte,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reprodu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stare</a:t>
            </a:r>
            <a:endParaRPr sz="900">
              <a:latin typeface="Times New Roman"/>
              <a:cs typeface="Times New Roman"/>
            </a:endParaRPr>
          </a:p>
          <a:p>
            <a:pPr marL="5001406" marR="441985" indent="-3384823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ri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tă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te                                                                       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)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rintr-un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ag- nostic efi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rec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endParaRPr sz="900">
              <a:latin typeface="Times New Roman"/>
              <a:cs typeface="Times New Roman"/>
            </a:endParaRPr>
          </a:p>
          <a:p>
            <a:pPr marR="591302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două ferme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endParaRPr sz="900">
              <a:latin typeface="Times New Roman"/>
              <a:cs typeface="Times New Roman"/>
            </a:endParaRPr>
          </a:p>
          <a:p>
            <a:pPr marL="1616583" marR="637802">
              <a:lnSpc>
                <a:spcPct val="95825"/>
              </a:lnSpc>
              <a:spcBef>
                <a:spcPts val="24"/>
              </a:spcBef>
            </a:pPr>
            <a:r>
              <a:rPr sz="900" spc="0" dirty="0" smtClean="0">
                <a:latin typeface="Times New Roman"/>
                <a:cs typeface="Times New Roman"/>
              </a:rPr>
              <a:t>Metodologie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e/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Proceduri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Institutul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Diagnostic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rapid de prepara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ici     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logie 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ur SA        </a:t>
            </a:r>
            <a:r>
              <a:rPr sz="900" spc="2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patoge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la E</a:t>
            </a:r>
            <a:r>
              <a:rPr sz="900" spc="-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 avans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for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    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olecula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ă  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IDSA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(maxim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24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vac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ef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pentru                                                                     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primirea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elor) controlul in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ac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Diagnostic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imunologic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                    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infe</a:t>
            </a:r>
            <a:r>
              <a:rPr sz="900" spc="4" dirty="0" smtClean="0">
                <a:latin typeface="Times New Roman"/>
                <a:cs typeface="Times New Roman"/>
              </a:rPr>
              <a:t>cţ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ile cu</a:t>
            </a:r>
            <a:r>
              <a:rPr sz="900" spc="-4" dirty="0" smtClean="0">
                <a:latin typeface="Times New Roman"/>
                <a:cs typeface="Times New Roman"/>
              </a:rPr>
              <a:t> E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i.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2255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8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bject 96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18972" y="1150239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16836" y="1150239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701796" y="1150239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493514" y="115023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521708" y="1150239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01640" y="1150239"/>
            <a:ext cx="1358645" cy="0"/>
          </a:xfrm>
          <a:custGeom>
            <a:avLst/>
            <a:gdLst/>
            <a:ahLst/>
            <a:cxnLst/>
            <a:rect l="l" t="t" r="r" b="b"/>
            <a:pathLst>
              <a:path w="1358645">
                <a:moveTo>
                  <a:pt x="0" y="0"/>
                </a:moveTo>
                <a:lnTo>
                  <a:pt x="1358645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47166" y="7919465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125980" y="7919465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710940" y="7919465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02658" y="7919465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510784" y="7919465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47166" y="898093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125980" y="898093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710940" y="898093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502658" y="898093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10784" y="8980932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33069" y="1136523"/>
            <a:ext cx="0" cy="8402955"/>
          </a:xfrm>
          <a:custGeom>
            <a:avLst/>
            <a:gdLst/>
            <a:ahLst/>
            <a:cxnLst/>
            <a:rect l="l" t="t" r="r" b="b"/>
            <a:pathLst>
              <a:path h="8402955">
                <a:moveTo>
                  <a:pt x="0" y="0"/>
                </a:moveTo>
                <a:lnTo>
                  <a:pt x="0" y="840295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18972" y="9525381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125980" y="222046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710940" y="222046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502658" y="222046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510784" y="2220468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125980" y="3150107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710940" y="3150107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502658" y="3150107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510784" y="3150107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125980" y="407974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710940" y="407974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502658" y="407974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510784" y="4079748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125980" y="658596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710940" y="658596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502658" y="658596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510784" y="6585966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125980" y="738454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710940" y="738454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502658" y="738454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510784" y="7384542"/>
            <a:ext cx="1349502" cy="0"/>
          </a:xfrm>
          <a:custGeom>
            <a:avLst/>
            <a:gdLst/>
            <a:ahLst/>
            <a:cxnLst/>
            <a:rect l="l" t="t" r="r" b="b"/>
            <a:pathLst>
              <a:path w="1349502">
                <a:moveTo>
                  <a:pt x="0" y="0"/>
                </a:moveTo>
                <a:lnTo>
                  <a:pt x="134950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121408" y="1160144"/>
            <a:ext cx="0" cy="8351139"/>
          </a:xfrm>
          <a:custGeom>
            <a:avLst/>
            <a:gdLst/>
            <a:ahLst/>
            <a:cxnLst/>
            <a:rect l="l" t="t" r="r" b="b"/>
            <a:pathLst>
              <a:path h="8351139">
                <a:moveTo>
                  <a:pt x="0" y="0"/>
                </a:moveTo>
                <a:lnTo>
                  <a:pt x="0" y="8351139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116836" y="9525381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706368" y="1160144"/>
            <a:ext cx="0" cy="8351139"/>
          </a:xfrm>
          <a:custGeom>
            <a:avLst/>
            <a:gdLst/>
            <a:ahLst/>
            <a:cxnLst/>
            <a:rect l="l" t="t" r="r" b="b"/>
            <a:pathLst>
              <a:path h="8351139">
                <a:moveTo>
                  <a:pt x="0" y="0"/>
                </a:moveTo>
                <a:lnTo>
                  <a:pt x="0" y="835113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701796" y="9525381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498086" y="1160144"/>
            <a:ext cx="0" cy="8351139"/>
          </a:xfrm>
          <a:custGeom>
            <a:avLst/>
            <a:gdLst/>
            <a:ahLst/>
            <a:cxnLst/>
            <a:rect l="l" t="t" r="r" b="b"/>
            <a:pathLst>
              <a:path h="8351139">
                <a:moveTo>
                  <a:pt x="0" y="0"/>
                </a:moveTo>
                <a:lnTo>
                  <a:pt x="0" y="835113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493514" y="952538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521708" y="9525381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506212" y="1160144"/>
            <a:ext cx="0" cy="8351139"/>
          </a:xfrm>
          <a:custGeom>
            <a:avLst/>
            <a:gdLst/>
            <a:ahLst/>
            <a:cxnLst/>
            <a:rect l="l" t="t" r="r" b="b"/>
            <a:pathLst>
              <a:path h="8351139">
                <a:moveTo>
                  <a:pt x="0" y="0"/>
                </a:moveTo>
                <a:lnTo>
                  <a:pt x="0" y="8351139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501640" y="9525381"/>
            <a:ext cx="1358645" cy="0"/>
          </a:xfrm>
          <a:custGeom>
            <a:avLst/>
            <a:gdLst/>
            <a:ahLst/>
            <a:cxnLst/>
            <a:rect l="l" t="t" r="r" b="b"/>
            <a:pathLst>
              <a:path w="1358645">
                <a:moveTo>
                  <a:pt x="0" y="0"/>
                </a:moveTo>
                <a:lnTo>
                  <a:pt x="1358645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874383" y="1136142"/>
            <a:ext cx="0" cy="8403336"/>
          </a:xfrm>
          <a:custGeom>
            <a:avLst/>
            <a:gdLst/>
            <a:ahLst/>
            <a:cxnLst/>
            <a:rect l="l" t="t" r="r" b="b"/>
            <a:pathLst>
              <a:path h="8403336">
                <a:moveTo>
                  <a:pt x="0" y="0"/>
                </a:moveTo>
                <a:lnTo>
                  <a:pt x="0" y="840333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33069" y="1150238"/>
            <a:ext cx="1188339" cy="67692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2121408" y="1150238"/>
            <a:ext cx="1584960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3706368" y="1150238"/>
            <a:ext cx="791717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4498086" y="1150238"/>
            <a:ext cx="1008126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5506212" y="1150238"/>
            <a:ext cx="1368170" cy="1070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2121408" y="2220467"/>
            <a:ext cx="1584960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3706368" y="2220467"/>
            <a:ext cx="791717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4498086" y="2220467"/>
            <a:ext cx="1008126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5506212" y="2220467"/>
            <a:ext cx="1368170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2121408" y="3150107"/>
            <a:ext cx="1584960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3706368" y="3150107"/>
            <a:ext cx="791717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4498086" y="3150107"/>
            <a:ext cx="1008126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5506212" y="3150107"/>
            <a:ext cx="1368170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2121408" y="4079748"/>
            <a:ext cx="1584960" cy="25062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3706368" y="4079748"/>
            <a:ext cx="791717" cy="25062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4498086" y="4079748"/>
            <a:ext cx="1008126" cy="25062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5506212" y="4079748"/>
            <a:ext cx="1368170" cy="25062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2121408" y="6585966"/>
            <a:ext cx="1584960" cy="79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3706368" y="6585966"/>
            <a:ext cx="791717" cy="79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4498086" y="6585966"/>
            <a:ext cx="1008126" cy="79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5506212" y="6585966"/>
            <a:ext cx="1368170" cy="798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21408" y="7384542"/>
            <a:ext cx="158496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706368" y="7384542"/>
            <a:ext cx="791717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498086" y="7384542"/>
            <a:ext cx="1008126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506212" y="7384542"/>
            <a:ext cx="136817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933069" y="7919465"/>
            <a:ext cx="1188339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121408" y="7919465"/>
            <a:ext cx="1584960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706368" y="7919465"/>
            <a:ext cx="791717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98086" y="7919465"/>
            <a:ext cx="1008126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506212" y="7919465"/>
            <a:ext cx="1368170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33069" y="8980932"/>
            <a:ext cx="1188339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8980932"/>
            <a:ext cx="1584960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8980932"/>
            <a:ext cx="791717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8980932"/>
            <a:ext cx="1008126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506212" y="8980932"/>
            <a:ext cx="1368170" cy="5444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2463928" marR="1578583" indent="-878587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1616586" marR="612629" indent="-1093473">
              <a:lnSpc>
                <a:spcPct val="94962"/>
              </a:lnSpc>
              <a:spcBef>
                <a:spcPts val="575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O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-9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PALAS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</a:t>
            </a:r>
            <a:r>
              <a:rPr sz="900" spc="-1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tudiu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I.C.D.O.C</a:t>
            </a:r>
            <a:r>
              <a:rPr sz="900" spc="-4" dirty="0" smtClean="0">
                <a:latin typeface="Times New Roman"/>
                <a:cs typeface="Times New Roman"/>
              </a:rPr>
              <a:t> 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    </a:t>
            </a:r>
            <a:r>
              <a:rPr sz="900" spc="2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Sporirea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grad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constructive,  fun</a:t>
            </a:r>
            <a:r>
              <a:rPr sz="900" spc="9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 Reghin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confo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ovine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ecani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 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   explo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endParaRPr sz="900">
              <a:latin typeface="Times New Roman"/>
              <a:cs typeface="Times New Roman"/>
            </a:endParaRPr>
          </a:p>
          <a:p>
            <a:pPr marL="1616586" marR="641697">
              <a:lnSpc>
                <a:spcPts val="1030"/>
              </a:lnSpc>
              <a:spcBef>
                <a:spcPts val="71"/>
              </a:spcBef>
            </a:pP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-4" dirty="0" smtClean="0">
                <a:latin typeface="Times New Roman"/>
                <a:cs typeface="Times New Roman"/>
              </a:rPr>
              <a:t>ov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Caranseb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Sporirea re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capri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                 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endParaRPr sz="900">
              <a:latin typeface="Times New Roman"/>
              <a:cs typeface="Times New Roman"/>
            </a:endParaRPr>
          </a:p>
          <a:p>
            <a:pPr marR="440941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capri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20-</a:t>
            </a:r>
            <a:r>
              <a:rPr sz="900" spc="-4" dirty="0" smtClean="0">
                <a:latin typeface="Times New Roman"/>
                <a:cs typeface="Times New Roman"/>
              </a:rPr>
              <a:t>2</a:t>
            </a:r>
            <a:r>
              <a:rPr sz="900" spc="0" dirty="0" smtClean="0">
                <a:latin typeface="Times New Roman"/>
                <a:cs typeface="Times New Roman"/>
              </a:rPr>
              <a:t>5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%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endParaRPr sz="900">
              <a:latin typeface="Times New Roman"/>
              <a:cs typeface="Times New Roman"/>
            </a:endParaRPr>
          </a:p>
          <a:p>
            <a:pPr marL="5001398" marR="625892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dimensionarea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rimii exploata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iilor</a:t>
            </a:r>
            <a:endParaRPr sz="900">
              <a:latin typeface="Times New Roman"/>
              <a:cs typeface="Times New Roman"/>
            </a:endParaRPr>
          </a:p>
          <a:p>
            <a:pPr marL="1616583" marR="397101">
              <a:lnSpc>
                <a:spcPct val="96112"/>
              </a:lnSpc>
              <a:spcBef>
                <a:spcPts val="8"/>
              </a:spcBef>
            </a:pPr>
            <a:r>
              <a:rPr sz="900" spc="0" dirty="0" smtClean="0">
                <a:latin typeface="Times New Roman"/>
                <a:cs typeface="Times New Roman"/>
              </a:rPr>
              <a:t>Ameliorarea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lap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Mocanu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Costi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de la efecti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ovi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</a:t>
            </a:r>
            <a:r>
              <a:rPr sz="900" spc="17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Cresc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ovine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lapte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peste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150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/cap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mpie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 Palas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50-60 l f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de</a:t>
            </a:r>
            <a:endParaRPr sz="900">
              <a:latin typeface="Times New Roman"/>
              <a:cs typeface="Times New Roman"/>
            </a:endParaRPr>
          </a:p>
          <a:p>
            <a:pPr marL="4087061" marR="1113233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 Ba</a:t>
            </a:r>
            <a:r>
              <a:rPr sz="900" spc="4" dirty="0" smtClean="0">
                <a:latin typeface="Times New Roman"/>
                <a:cs typeface="Times New Roman"/>
              </a:rPr>
              <a:t>că</a:t>
            </a:r>
            <a:r>
              <a:rPr sz="900" spc="0" dirty="0" smtClean="0">
                <a:latin typeface="Times New Roman"/>
                <a:cs typeface="Times New Roman"/>
              </a:rPr>
              <a:t>u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rasele 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5001406" marR="462987" indent="-923543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Ruş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u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venit suplimentar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500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000 lei</a:t>
            </a:r>
            <a:endParaRPr sz="900">
              <a:latin typeface="Times New Roman"/>
              <a:cs typeface="Times New Roman"/>
            </a:endParaRPr>
          </a:p>
          <a:p>
            <a:pPr marR="1339905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/oa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e/an</a:t>
            </a:r>
            <a:endParaRPr sz="900">
              <a:latin typeface="Times New Roman"/>
              <a:cs typeface="Times New Roman"/>
            </a:endParaRPr>
          </a:p>
          <a:p>
            <a:pPr marL="1616583" marR="390496">
              <a:lnSpc>
                <a:spcPct val="95825"/>
              </a:lnSpc>
              <a:spcBef>
                <a:spcPts val="24"/>
              </a:spcBef>
            </a:pPr>
            <a:r>
              <a:rPr sz="900" spc="0" dirty="0" smtClean="0">
                <a:latin typeface="Times New Roman"/>
                <a:cs typeface="Times New Roman"/>
              </a:rPr>
              <a:t>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</a:t>
            </a:r>
            <a:r>
              <a:rPr sz="900" spc="-1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tudiu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I.C.D.O.C</a:t>
            </a:r>
            <a:r>
              <a:rPr sz="900" spc="-4" dirty="0" smtClean="0">
                <a:latin typeface="Times New Roman"/>
                <a:cs typeface="Times New Roman"/>
              </a:rPr>
              <a:t> 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Sporirea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adului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confo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 constructive,  fun</a:t>
            </a:r>
            <a:r>
              <a:rPr sz="900" spc="9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 Reghin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ecani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 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   explo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Sporirea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ntabilit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</a:pP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-4" dirty="0" smtClean="0">
                <a:latin typeface="Times New Roman"/>
                <a:cs typeface="Times New Roman"/>
              </a:rPr>
              <a:t>ov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Caranseb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 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endParaRPr sz="900">
              <a:latin typeface="Times New Roman"/>
              <a:cs typeface="Times New Roman"/>
            </a:endParaRPr>
          </a:p>
          <a:p>
            <a:pPr marL="5001394" marR="421230" indent="-3384811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capri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                 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capri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20-</a:t>
            </a:r>
            <a:r>
              <a:rPr sz="900" spc="-4" dirty="0" smtClean="0">
                <a:latin typeface="Times New Roman"/>
                <a:cs typeface="Times New Roman"/>
              </a:rPr>
              <a:t>2</a:t>
            </a:r>
            <a:r>
              <a:rPr sz="900" spc="0" dirty="0" smtClean="0">
                <a:latin typeface="Times New Roman"/>
                <a:cs typeface="Times New Roman"/>
              </a:rPr>
              <a:t>5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%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 dimensionarea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rimii</a:t>
            </a:r>
            <a:endParaRPr sz="900">
              <a:latin typeface="Times New Roman"/>
              <a:cs typeface="Times New Roman"/>
            </a:endParaRPr>
          </a:p>
          <a:p>
            <a:pPr marR="1092517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exploata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iilor</a:t>
            </a:r>
            <a:endParaRPr sz="900">
              <a:latin typeface="Times New Roman"/>
              <a:cs typeface="Times New Roman"/>
            </a:endParaRPr>
          </a:p>
          <a:p>
            <a:pPr marL="1616582" marR="391717" indent="0">
              <a:lnSpc>
                <a:spcPct val="95825"/>
              </a:lnSpc>
              <a:spcBef>
                <a:spcPts val="24"/>
              </a:spcBef>
            </a:pPr>
            <a:r>
              <a:rPr sz="900" spc="0" dirty="0" smtClean="0">
                <a:latin typeface="Times New Roman"/>
                <a:cs typeface="Times New Roman"/>
              </a:rPr>
              <a:t>Opti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izarea tehnolo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iilor de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I.C.D.O.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Palas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Sporirea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30-40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litri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 şi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exploata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ovinelor                      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Ruş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u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lap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de ras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ul   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O.          </a:t>
            </a:r>
            <a:r>
              <a:rPr sz="900" spc="1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prelungi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dei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zonei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eştere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nsiunile                       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Caranseb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        </a:t>
            </a:r>
            <a:r>
              <a:rPr sz="900" spc="17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65-</a:t>
            </a:r>
            <a:r>
              <a:rPr sz="900" spc="-4" dirty="0" smtClean="0">
                <a:latin typeface="Times New Roman"/>
                <a:cs typeface="Times New Roman"/>
              </a:rPr>
              <a:t>7</a:t>
            </a:r>
            <a:r>
              <a:rPr sz="900" spc="0" dirty="0" smtClean="0">
                <a:latin typeface="Times New Roman"/>
                <a:cs typeface="Times New Roman"/>
              </a:rPr>
              <a:t>0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zile exploata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                                                                   </a:t>
            </a:r>
            <a:r>
              <a:rPr sz="900" spc="4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Sporirea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rne </a:t>
            </a:r>
            <a:r>
              <a:rPr sz="900" spc="0" dirty="0" smtClean="0">
                <a:latin typeface="Times New Roman"/>
                <a:cs typeface="Times New Roman"/>
              </a:rPr>
              <a:t>efi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ien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ei econo</a:t>
            </a:r>
            <a:r>
              <a:rPr sz="900" spc="-4" dirty="0" smtClean="0">
                <a:latin typeface="Times New Roman"/>
                <a:cs typeface="Times New Roman"/>
              </a:rPr>
              <a:t>mi</a:t>
            </a:r>
            <a:r>
              <a:rPr sz="900" spc="0" dirty="0" smtClean="0">
                <a:latin typeface="Times New Roman"/>
                <a:cs typeface="Times New Roman"/>
              </a:rPr>
              <a:t>ce şi ob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ine-                                                        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nu-m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ecologice                                                                 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alizarea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endParaRPr sz="900">
              <a:latin typeface="Times New Roman"/>
              <a:cs typeface="Times New Roman"/>
            </a:endParaRPr>
          </a:p>
          <a:p>
            <a:pPr marR="619870" algn="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sporuri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dii z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lni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5001371" marR="396676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200-230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ament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crif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49-50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%</a:t>
            </a:r>
            <a:endParaRPr sz="900">
              <a:latin typeface="Times New Roman"/>
              <a:cs typeface="Times New Roman"/>
            </a:endParaRPr>
          </a:p>
          <a:p>
            <a:pPr marR="596217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rni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el</a:t>
            </a:r>
            <a:endParaRPr sz="900">
              <a:latin typeface="Times New Roman"/>
              <a:cs typeface="Times New Roman"/>
            </a:endParaRPr>
          </a:p>
          <a:p>
            <a:pPr marL="5001371" marR="450690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lap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o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ie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od rit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 tot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rcursul anului,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lori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icarea</a:t>
            </a:r>
            <a:endParaRPr sz="900">
              <a:latin typeface="Times New Roman"/>
              <a:cs typeface="Times New Roman"/>
            </a:endParaRPr>
          </a:p>
          <a:p>
            <a:pPr marL="5001371" marR="397867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acesto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pr</a:t>
            </a:r>
            <a:r>
              <a:rPr sz="900" spc="-9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uri 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ri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lte sez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ane d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cât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endParaRPr sz="900">
              <a:latin typeface="Times New Roman"/>
              <a:cs typeface="Times New Roman"/>
            </a:endParaRPr>
          </a:p>
          <a:p>
            <a:pPr marR="664744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tradi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 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R="616148" algn="r">
              <a:lnSpc>
                <a:spcPts val="1030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venitul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350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000 lei</a:t>
            </a:r>
            <a:endParaRPr sz="900">
              <a:latin typeface="Times New Roman"/>
              <a:cs typeface="Times New Roman"/>
            </a:endParaRPr>
          </a:p>
          <a:p>
            <a:pPr marR="1339939" algn="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/oa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e/an</a:t>
            </a:r>
            <a:endParaRPr sz="900">
              <a:latin typeface="Times New Roman"/>
              <a:cs typeface="Times New Roman"/>
            </a:endParaRPr>
          </a:p>
          <a:p>
            <a:pPr marL="1616583" marR="397101">
              <a:lnSpc>
                <a:spcPct val="95729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tehnologiilor de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Cealera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Dumitr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de 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exploatare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condi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cres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lapte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peste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170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tri /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ap 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a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pr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                 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particular          </a:t>
            </a:r>
            <a:r>
              <a:rPr sz="900" spc="4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venit Dobrogea                                                            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 Reghin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suplimentar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200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000 lei</a:t>
            </a:r>
            <a:endParaRPr sz="900">
              <a:latin typeface="Times New Roman"/>
              <a:cs typeface="Times New Roman"/>
            </a:endParaRPr>
          </a:p>
          <a:p>
            <a:pPr marR="1371971" algn="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O.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/ca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/an</a:t>
            </a:r>
            <a:endParaRPr sz="900">
              <a:latin typeface="Times New Roman"/>
              <a:cs typeface="Times New Roman"/>
            </a:endParaRPr>
          </a:p>
          <a:p>
            <a:pPr marL="4200551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Caranseb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endParaRPr sz="900">
              <a:latin typeface="Times New Roman"/>
              <a:cs typeface="Times New Roman"/>
            </a:endParaRPr>
          </a:p>
          <a:p>
            <a:pPr marL="1616594" marR="400078" indent="-11" algn="just">
              <a:lnSpc>
                <a:spcPct val="95825"/>
              </a:lnSpc>
              <a:spcBef>
                <a:spcPts val="23"/>
              </a:spcBef>
            </a:pP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 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Cealera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Gheorghe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sei 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te şi car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 a                        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era Du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itraş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 ovinelor carab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Dobrogea  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Cresc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zooteh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4225686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particula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superioară</a:t>
            </a:r>
            <a:endParaRPr sz="900">
              <a:latin typeface="Times New Roman"/>
              <a:cs typeface="Times New Roman"/>
            </a:endParaRPr>
          </a:p>
          <a:p>
            <a:pPr marL="1616586" marR="1777852" indent="-1050039">
              <a:lnSpc>
                <a:spcPct val="95441"/>
              </a:lnSpc>
              <a:spcBef>
                <a:spcPts val="9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P. NUCET      </a:t>
            </a:r>
            <a:r>
              <a:rPr sz="900" b="1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producere     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Piscicola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Tour arti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edezvoltare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 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Jurilovca sistem intensiv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ei de                          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Bi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 sturion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nord-ame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ican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</a:t>
            </a:r>
            <a:r>
              <a:rPr sz="900" spc="4" dirty="0" smtClean="0">
                <a:latin typeface="Times New Roman"/>
                <a:cs typeface="Times New Roman"/>
              </a:rPr>
              <a:t>y</a:t>
            </a:r>
            <a:r>
              <a:rPr sz="900" spc="0" dirty="0" smtClean="0">
                <a:latin typeface="Times New Roman"/>
                <a:cs typeface="Times New Roman"/>
              </a:rPr>
              <a:t>odon                       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Dostat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Alba spathula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(acipense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iformes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                    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 Pis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ola pol</a:t>
            </a:r>
            <a:r>
              <a:rPr sz="900" spc="9" dirty="0" smtClean="0">
                <a:latin typeface="Times New Roman"/>
                <a:cs typeface="Times New Roman"/>
              </a:rPr>
              <a:t>y</a:t>
            </a:r>
            <a:r>
              <a:rPr sz="900" spc="0" dirty="0" smtClean="0">
                <a:latin typeface="Times New Roman"/>
                <a:cs typeface="Times New Roman"/>
              </a:rPr>
              <a:t>odo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tidae)                                              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reni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</a:t>
            </a:r>
            <a:endParaRPr sz="900">
              <a:latin typeface="Times New Roman"/>
              <a:cs typeface="Times New Roman"/>
            </a:endParaRPr>
          </a:p>
          <a:p>
            <a:pPr marL="4170060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SC Pis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ola</a:t>
            </a:r>
            <a:endParaRPr sz="900">
              <a:latin typeface="Times New Roman"/>
              <a:cs typeface="Times New Roman"/>
            </a:endParaRPr>
          </a:p>
          <a:p>
            <a:pPr marL="4186062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</a:t>
            </a:r>
            <a:endParaRPr sz="900">
              <a:latin typeface="Times New Roman"/>
              <a:cs typeface="Times New Roman"/>
            </a:endParaRPr>
          </a:p>
          <a:p>
            <a:pPr marL="1616579" marR="575057" indent="-1117088">
              <a:lnSpc>
                <a:spcPct val="95346"/>
              </a:lnSpc>
              <a:spcBef>
                <a:spcPts val="4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ICDB BALOT</a:t>
            </a:r>
            <a:r>
              <a:rPr sz="900" b="1" spc="-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Ş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   </a:t>
            </a:r>
            <a:r>
              <a:rPr sz="900" b="1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Metodologie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selectare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    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Semtest-BVN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fa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toril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 tauril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loroş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,                       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Tg.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Mureş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genetici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diminua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 liberi de bo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red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                                                              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productive investig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ito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ică                                                              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efectelor economice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1836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2</a:t>
            </a:r>
            <a:r>
              <a:rPr sz="1000" spc="0" dirty="0" smtClean="0">
                <a:latin typeface="Times New Roman"/>
                <a:cs typeface="Times New Roman"/>
              </a:rPr>
              <a:t>9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object 121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918972" y="624458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116836" y="624458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701796" y="624458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4493514" y="62445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4521708" y="624458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501640" y="624458"/>
            <a:ext cx="1358645" cy="0"/>
          </a:xfrm>
          <a:custGeom>
            <a:avLst/>
            <a:gdLst/>
            <a:ahLst/>
            <a:cxnLst/>
            <a:rect l="l" t="t" r="r" b="b"/>
            <a:pathLst>
              <a:path w="1358645">
                <a:moveTo>
                  <a:pt x="0" y="0"/>
                </a:moveTo>
                <a:lnTo>
                  <a:pt x="1358645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933069" y="610742"/>
            <a:ext cx="0" cy="187071"/>
          </a:xfrm>
          <a:custGeom>
            <a:avLst/>
            <a:gdLst/>
            <a:ahLst/>
            <a:cxnLst/>
            <a:rect l="l" t="t" r="r" b="b"/>
            <a:pathLst>
              <a:path h="187071">
                <a:moveTo>
                  <a:pt x="0" y="0"/>
                </a:moveTo>
                <a:lnTo>
                  <a:pt x="0" y="187071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918972" y="783717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121408" y="634364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255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116836" y="783717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706368" y="634364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25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701796" y="783717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498086" y="634364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25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493514" y="783717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521708" y="783717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506212" y="634364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25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501640" y="783717"/>
            <a:ext cx="1358645" cy="0"/>
          </a:xfrm>
          <a:custGeom>
            <a:avLst/>
            <a:gdLst/>
            <a:ahLst/>
            <a:cxnLst/>
            <a:rect l="l" t="t" r="r" b="b"/>
            <a:pathLst>
              <a:path w="1358645">
                <a:moveTo>
                  <a:pt x="0" y="0"/>
                </a:moveTo>
                <a:lnTo>
                  <a:pt x="1358645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874383" y="610361"/>
            <a:ext cx="0" cy="187452"/>
          </a:xfrm>
          <a:custGeom>
            <a:avLst/>
            <a:gdLst/>
            <a:ahLst/>
            <a:cxnLst/>
            <a:rect l="l" t="t" r="r" b="b"/>
            <a:pathLst>
              <a:path h="187452">
                <a:moveTo>
                  <a:pt x="0" y="0"/>
                </a:moveTo>
                <a:lnTo>
                  <a:pt x="0" y="187452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00684" y="1163193"/>
            <a:ext cx="1188719" cy="0"/>
          </a:xfrm>
          <a:custGeom>
            <a:avLst/>
            <a:gdLst/>
            <a:ahLst/>
            <a:cxnLst/>
            <a:rect l="l" t="t" r="r" b="b"/>
            <a:pathLst>
              <a:path w="1188719">
                <a:moveTo>
                  <a:pt x="0" y="0"/>
                </a:moveTo>
                <a:lnTo>
                  <a:pt x="118871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089404" y="1163193"/>
            <a:ext cx="1564386" cy="0"/>
          </a:xfrm>
          <a:custGeom>
            <a:avLst/>
            <a:gdLst/>
            <a:ahLst/>
            <a:cxnLst/>
            <a:rect l="l" t="t" r="r" b="b"/>
            <a:pathLst>
              <a:path w="1564386">
                <a:moveTo>
                  <a:pt x="0" y="0"/>
                </a:moveTo>
                <a:lnTo>
                  <a:pt x="156438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653790" y="1163193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>
                <a:moveTo>
                  <a:pt x="0" y="0"/>
                </a:moveTo>
                <a:lnTo>
                  <a:pt x="8001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53890" y="1163193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482084" y="1163193"/>
            <a:ext cx="1000506" cy="0"/>
          </a:xfrm>
          <a:custGeom>
            <a:avLst/>
            <a:gdLst/>
            <a:ahLst/>
            <a:cxnLst/>
            <a:rect l="l" t="t" r="r" b="b"/>
            <a:pathLst>
              <a:path w="1000506">
                <a:moveTo>
                  <a:pt x="0" y="0"/>
                </a:moveTo>
                <a:lnTo>
                  <a:pt x="100050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482590" y="1163193"/>
            <a:ext cx="1361693" cy="0"/>
          </a:xfrm>
          <a:custGeom>
            <a:avLst/>
            <a:gdLst/>
            <a:ahLst/>
            <a:cxnLst/>
            <a:rect l="l" t="t" r="r" b="b"/>
            <a:pathLst>
              <a:path w="1361693">
                <a:moveTo>
                  <a:pt x="0" y="0"/>
                </a:moveTo>
                <a:lnTo>
                  <a:pt x="1361693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28878" y="3416807"/>
            <a:ext cx="1160525" cy="0"/>
          </a:xfrm>
          <a:custGeom>
            <a:avLst/>
            <a:gdLst/>
            <a:ahLst/>
            <a:cxnLst/>
            <a:rect l="l" t="t" r="r" b="b"/>
            <a:pathLst>
              <a:path w="1160525">
                <a:moveTo>
                  <a:pt x="0" y="0"/>
                </a:moveTo>
                <a:lnTo>
                  <a:pt x="11605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098548" y="3416807"/>
            <a:ext cx="1555241" cy="0"/>
          </a:xfrm>
          <a:custGeom>
            <a:avLst/>
            <a:gdLst/>
            <a:ahLst/>
            <a:cxnLst/>
            <a:rect l="l" t="t" r="r" b="b"/>
            <a:pathLst>
              <a:path w="1555241">
                <a:moveTo>
                  <a:pt x="0" y="0"/>
                </a:moveTo>
                <a:lnTo>
                  <a:pt x="155524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662934" y="3416807"/>
            <a:ext cx="790956" cy="0"/>
          </a:xfrm>
          <a:custGeom>
            <a:avLst/>
            <a:gdLst/>
            <a:ahLst/>
            <a:cxnLst/>
            <a:rect l="l" t="t" r="r" b="b"/>
            <a:pathLst>
              <a:path w="790956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463034" y="3416807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91734" y="3416807"/>
            <a:ext cx="1352550" cy="0"/>
          </a:xfrm>
          <a:custGeom>
            <a:avLst/>
            <a:gdLst/>
            <a:ahLst/>
            <a:cxnLst/>
            <a:rect l="l" t="t" r="r" b="b"/>
            <a:pathLst>
              <a:path w="1352550">
                <a:moveTo>
                  <a:pt x="0" y="0"/>
                </a:moveTo>
                <a:lnTo>
                  <a:pt x="13525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28878" y="3951732"/>
            <a:ext cx="1160525" cy="0"/>
          </a:xfrm>
          <a:custGeom>
            <a:avLst/>
            <a:gdLst/>
            <a:ahLst/>
            <a:cxnLst/>
            <a:rect l="l" t="t" r="r" b="b"/>
            <a:pathLst>
              <a:path w="1160525">
                <a:moveTo>
                  <a:pt x="0" y="0"/>
                </a:moveTo>
                <a:lnTo>
                  <a:pt x="11605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098548" y="3951732"/>
            <a:ext cx="1555241" cy="0"/>
          </a:xfrm>
          <a:custGeom>
            <a:avLst/>
            <a:gdLst/>
            <a:ahLst/>
            <a:cxnLst/>
            <a:rect l="l" t="t" r="r" b="b"/>
            <a:pathLst>
              <a:path w="1555241">
                <a:moveTo>
                  <a:pt x="0" y="0"/>
                </a:moveTo>
                <a:lnTo>
                  <a:pt x="155524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662934" y="3951732"/>
            <a:ext cx="790956" cy="0"/>
          </a:xfrm>
          <a:custGeom>
            <a:avLst/>
            <a:gdLst/>
            <a:ahLst/>
            <a:cxnLst/>
            <a:rect l="l" t="t" r="r" b="b"/>
            <a:pathLst>
              <a:path w="790956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463034" y="395173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491734" y="3951732"/>
            <a:ext cx="1352550" cy="0"/>
          </a:xfrm>
          <a:custGeom>
            <a:avLst/>
            <a:gdLst/>
            <a:ahLst/>
            <a:cxnLst/>
            <a:rect l="l" t="t" r="r" b="b"/>
            <a:pathLst>
              <a:path w="1352550">
                <a:moveTo>
                  <a:pt x="0" y="0"/>
                </a:moveTo>
                <a:lnTo>
                  <a:pt x="13525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928878" y="4750308"/>
            <a:ext cx="1160525" cy="0"/>
          </a:xfrm>
          <a:custGeom>
            <a:avLst/>
            <a:gdLst/>
            <a:ahLst/>
            <a:cxnLst/>
            <a:rect l="l" t="t" r="r" b="b"/>
            <a:pathLst>
              <a:path w="1160525">
                <a:moveTo>
                  <a:pt x="0" y="0"/>
                </a:moveTo>
                <a:lnTo>
                  <a:pt x="11605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098548" y="4750308"/>
            <a:ext cx="1555241" cy="0"/>
          </a:xfrm>
          <a:custGeom>
            <a:avLst/>
            <a:gdLst/>
            <a:ahLst/>
            <a:cxnLst/>
            <a:rect l="l" t="t" r="r" b="b"/>
            <a:pathLst>
              <a:path w="1555241">
                <a:moveTo>
                  <a:pt x="0" y="0"/>
                </a:moveTo>
                <a:lnTo>
                  <a:pt x="155524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662934" y="4750308"/>
            <a:ext cx="790956" cy="0"/>
          </a:xfrm>
          <a:custGeom>
            <a:avLst/>
            <a:gdLst/>
            <a:ahLst/>
            <a:cxnLst/>
            <a:rect l="l" t="t" r="r" b="b"/>
            <a:pathLst>
              <a:path w="790956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463034" y="4750308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491734" y="4750308"/>
            <a:ext cx="1352550" cy="0"/>
          </a:xfrm>
          <a:custGeom>
            <a:avLst/>
            <a:gdLst/>
            <a:ahLst/>
            <a:cxnLst/>
            <a:rect l="l" t="t" r="r" b="b"/>
            <a:pathLst>
              <a:path w="1352550">
                <a:moveTo>
                  <a:pt x="0" y="0"/>
                </a:moveTo>
                <a:lnTo>
                  <a:pt x="13525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14781" y="1149477"/>
            <a:ext cx="0" cy="8402955"/>
          </a:xfrm>
          <a:custGeom>
            <a:avLst/>
            <a:gdLst/>
            <a:ahLst/>
            <a:cxnLst/>
            <a:rect l="l" t="t" r="r" b="b"/>
            <a:pathLst>
              <a:path h="8402955">
                <a:moveTo>
                  <a:pt x="0" y="0"/>
                </a:moveTo>
                <a:lnTo>
                  <a:pt x="0" y="840295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00684" y="9538335"/>
            <a:ext cx="1188719" cy="0"/>
          </a:xfrm>
          <a:custGeom>
            <a:avLst/>
            <a:gdLst/>
            <a:ahLst/>
            <a:cxnLst/>
            <a:rect l="l" t="t" r="r" b="b"/>
            <a:pathLst>
              <a:path w="1188719">
                <a:moveTo>
                  <a:pt x="0" y="0"/>
                </a:moveTo>
                <a:lnTo>
                  <a:pt x="118871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098548" y="5285232"/>
            <a:ext cx="1555241" cy="0"/>
          </a:xfrm>
          <a:custGeom>
            <a:avLst/>
            <a:gdLst/>
            <a:ahLst/>
            <a:cxnLst/>
            <a:rect l="l" t="t" r="r" b="b"/>
            <a:pathLst>
              <a:path w="1555241">
                <a:moveTo>
                  <a:pt x="0" y="0"/>
                </a:moveTo>
                <a:lnTo>
                  <a:pt x="155524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662934" y="5285232"/>
            <a:ext cx="790956" cy="0"/>
          </a:xfrm>
          <a:custGeom>
            <a:avLst/>
            <a:gdLst/>
            <a:ahLst/>
            <a:cxnLst/>
            <a:rect l="l" t="t" r="r" b="b"/>
            <a:pathLst>
              <a:path w="790956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463034" y="528523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491734" y="5285232"/>
            <a:ext cx="1352550" cy="0"/>
          </a:xfrm>
          <a:custGeom>
            <a:avLst/>
            <a:gdLst/>
            <a:ahLst/>
            <a:cxnLst/>
            <a:rect l="l" t="t" r="r" b="b"/>
            <a:pathLst>
              <a:path w="1352550">
                <a:moveTo>
                  <a:pt x="0" y="0"/>
                </a:moveTo>
                <a:lnTo>
                  <a:pt x="13525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098548" y="6214872"/>
            <a:ext cx="1555241" cy="0"/>
          </a:xfrm>
          <a:custGeom>
            <a:avLst/>
            <a:gdLst/>
            <a:ahLst/>
            <a:cxnLst/>
            <a:rect l="l" t="t" r="r" b="b"/>
            <a:pathLst>
              <a:path w="1555241">
                <a:moveTo>
                  <a:pt x="0" y="0"/>
                </a:moveTo>
                <a:lnTo>
                  <a:pt x="1555241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662934" y="6214872"/>
            <a:ext cx="790956" cy="0"/>
          </a:xfrm>
          <a:custGeom>
            <a:avLst/>
            <a:gdLst/>
            <a:ahLst/>
            <a:cxnLst/>
            <a:rect l="l" t="t" r="r" b="b"/>
            <a:pathLst>
              <a:path w="790956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463034" y="621487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491734" y="6214872"/>
            <a:ext cx="1352550" cy="0"/>
          </a:xfrm>
          <a:custGeom>
            <a:avLst/>
            <a:gdLst/>
            <a:ahLst/>
            <a:cxnLst/>
            <a:rect l="l" t="t" r="r" b="b"/>
            <a:pathLst>
              <a:path w="1352550">
                <a:moveTo>
                  <a:pt x="0" y="0"/>
                </a:moveTo>
                <a:lnTo>
                  <a:pt x="135255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098548" y="7933182"/>
            <a:ext cx="1555241" cy="0"/>
          </a:xfrm>
          <a:custGeom>
            <a:avLst/>
            <a:gdLst/>
            <a:ahLst/>
            <a:cxnLst/>
            <a:rect l="l" t="t" r="r" b="b"/>
            <a:pathLst>
              <a:path w="1555241">
                <a:moveTo>
                  <a:pt x="0" y="0"/>
                </a:moveTo>
                <a:lnTo>
                  <a:pt x="1555241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662934" y="7933182"/>
            <a:ext cx="790956" cy="0"/>
          </a:xfrm>
          <a:custGeom>
            <a:avLst/>
            <a:gdLst/>
            <a:ahLst/>
            <a:cxnLst/>
            <a:rect l="l" t="t" r="r" b="b"/>
            <a:pathLst>
              <a:path w="790956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463034" y="793318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491734" y="7933182"/>
            <a:ext cx="1352550" cy="0"/>
          </a:xfrm>
          <a:custGeom>
            <a:avLst/>
            <a:gdLst/>
            <a:ahLst/>
            <a:cxnLst/>
            <a:rect l="l" t="t" r="r" b="b"/>
            <a:pathLst>
              <a:path w="1352550">
                <a:moveTo>
                  <a:pt x="0" y="0"/>
                </a:moveTo>
                <a:lnTo>
                  <a:pt x="13525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098548" y="8862822"/>
            <a:ext cx="1555241" cy="0"/>
          </a:xfrm>
          <a:custGeom>
            <a:avLst/>
            <a:gdLst/>
            <a:ahLst/>
            <a:cxnLst/>
            <a:rect l="l" t="t" r="r" b="b"/>
            <a:pathLst>
              <a:path w="1555241">
                <a:moveTo>
                  <a:pt x="0" y="0"/>
                </a:moveTo>
                <a:lnTo>
                  <a:pt x="1555241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662934" y="8862822"/>
            <a:ext cx="790956" cy="0"/>
          </a:xfrm>
          <a:custGeom>
            <a:avLst/>
            <a:gdLst/>
            <a:ahLst/>
            <a:cxnLst/>
            <a:rect l="l" t="t" r="r" b="b"/>
            <a:pathLst>
              <a:path w="790956">
                <a:moveTo>
                  <a:pt x="0" y="0"/>
                </a:moveTo>
                <a:lnTo>
                  <a:pt x="7909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463034" y="8862822"/>
            <a:ext cx="1019556" cy="0"/>
          </a:xfrm>
          <a:custGeom>
            <a:avLst/>
            <a:gdLst/>
            <a:ahLst/>
            <a:cxnLst/>
            <a:rect l="l" t="t" r="r" b="b"/>
            <a:pathLst>
              <a:path w="1019556">
                <a:moveTo>
                  <a:pt x="0" y="0"/>
                </a:moveTo>
                <a:lnTo>
                  <a:pt x="101955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491734" y="8862822"/>
            <a:ext cx="1352550" cy="0"/>
          </a:xfrm>
          <a:custGeom>
            <a:avLst/>
            <a:gdLst/>
            <a:ahLst/>
            <a:cxnLst/>
            <a:rect l="l" t="t" r="r" b="b"/>
            <a:pathLst>
              <a:path w="1352550">
                <a:moveTo>
                  <a:pt x="0" y="0"/>
                </a:moveTo>
                <a:lnTo>
                  <a:pt x="135255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093976" y="1173099"/>
            <a:ext cx="0" cy="8351138"/>
          </a:xfrm>
          <a:custGeom>
            <a:avLst/>
            <a:gdLst/>
            <a:ahLst/>
            <a:cxnLst/>
            <a:rect l="l" t="t" r="r" b="b"/>
            <a:pathLst>
              <a:path h="8351138">
                <a:moveTo>
                  <a:pt x="0" y="0"/>
                </a:moveTo>
                <a:lnTo>
                  <a:pt x="0" y="8351138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089404" y="9538335"/>
            <a:ext cx="1564386" cy="0"/>
          </a:xfrm>
          <a:custGeom>
            <a:avLst/>
            <a:gdLst/>
            <a:ahLst/>
            <a:cxnLst/>
            <a:rect l="l" t="t" r="r" b="b"/>
            <a:pathLst>
              <a:path w="1564386">
                <a:moveTo>
                  <a:pt x="0" y="0"/>
                </a:moveTo>
                <a:lnTo>
                  <a:pt x="1564386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658362" y="1173099"/>
            <a:ext cx="0" cy="8351138"/>
          </a:xfrm>
          <a:custGeom>
            <a:avLst/>
            <a:gdLst/>
            <a:ahLst/>
            <a:cxnLst/>
            <a:rect l="l" t="t" r="r" b="b"/>
            <a:pathLst>
              <a:path h="8351138">
                <a:moveTo>
                  <a:pt x="0" y="0"/>
                </a:moveTo>
                <a:lnTo>
                  <a:pt x="0" y="8351138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653790" y="9538335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>
                <a:moveTo>
                  <a:pt x="0" y="0"/>
                </a:moveTo>
                <a:lnTo>
                  <a:pt x="80010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458462" y="1173099"/>
            <a:ext cx="0" cy="8351138"/>
          </a:xfrm>
          <a:custGeom>
            <a:avLst/>
            <a:gdLst/>
            <a:ahLst/>
            <a:cxnLst/>
            <a:rect l="l" t="t" r="r" b="b"/>
            <a:pathLst>
              <a:path h="8351138">
                <a:moveTo>
                  <a:pt x="0" y="0"/>
                </a:moveTo>
                <a:lnTo>
                  <a:pt x="0" y="8351138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453890" y="9538335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482084" y="9538335"/>
            <a:ext cx="1000506" cy="0"/>
          </a:xfrm>
          <a:custGeom>
            <a:avLst/>
            <a:gdLst/>
            <a:ahLst/>
            <a:cxnLst/>
            <a:rect l="l" t="t" r="r" b="b"/>
            <a:pathLst>
              <a:path w="1000506">
                <a:moveTo>
                  <a:pt x="0" y="0"/>
                </a:moveTo>
                <a:lnTo>
                  <a:pt x="1000506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487162" y="1173099"/>
            <a:ext cx="0" cy="8351138"/>
          </a:xfrm>
          <a:custGeom>
            <a:avLst/>
            <a:gdLst/>
            <a:ahLst/>
            <a:cxnLst/>
            <a:rect l="l" t="t" r="r" b="b"/>
            <a:pathLst>
              <a:path h="8351138">
                <a:moveTo>
                  <a:pt x="0" y="0"/>
                </a:moveTo>
                <a:lnTo>
                  <a:pt x="0" y="8351138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482590" y="9538335"/>
            <a:ext cx="1361693" cy="0"/>
          </a:xfrm>
          <a:custGeom>
            <a:avLst/>
            <a:gdLst/>
            <a:ahLst/>
            <a:cxnLst/>
            <a:rect l="l" t="t" r="r" b="b"/>
            <a:pathLst>
              <a:path w="1361693">
                <a:moveTo>
                  <a:pt x="0" y="0"/>
                </a:moveTo>
                <a:lnTo>
                  <a:pt x="1361693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858381" y="1149096"/>
            <a:ext cx="0" cy="8403336"/>
          </a:xfrm>
          <a:custGeom>
            <a:avLst/>
            <a:gdLst/>
            <a:ahLst/>
            <a:cxnLst/>
            <a:rect l="l" t="t" r="r" b="b"/>
            <a:pathLst>
              <a:path h="8403336">
                <a:moveTo>
                  <a:pt x="0" y="0"/>
                </a:moveTo>
                <a:lnTo>
                  <a:pt x="0" y="8403336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14781" y="1163192"/>
            <a:ext cx="1179195" cy="22536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2093976" y="1163192"/>
            <a:ext cx="1564386" cy="22536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3658362" y="1163192"/>
            <a:ext cx="800100" cy="22536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4458462" y="1163192"/>
            <a:ext cx="1028700" cy="22536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5487162" y="1163192"/>
            <a:ext cx="1371218" cy="22536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914781" y="3416807"/>
            <a:ext cx="1179195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2093976" y="3416807"/>
            <a:ext cx="1564386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3658362" y="3416807"/>
            <a:ext cx="80010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4458462" y="3416807"/>
            <a:ext cx="102870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5487162" y="3416807"/>
            <a:ext cx="1371218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914781" y="3951732"/>
            <a:ext cx="1179195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2093976" y="3951732"/>
            <a:ext cx="1564386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3658362" y="3951732"/>
            <a:ext cx="80010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4458462" y="3951732"/>
            <a:ext cx="102870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5487162" y="3951732"/>
            <a:ext cx="1371218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914781" y="4750308"/>
            <a:ext cx="1179195" cy="47880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2093976" y="4750308"/>
            <a:ext cx="1564386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3658362" y="4750308"/>
            <a:ext cx="80010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4458462" y="4750308"/>
            <a:ext cx="102870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5487162" y="4750308"/>
            <a:ext cx="1371218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2093976" y="5285232"/>
            <a:ext cx="1564386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3658362" y="5285232"/>
            <a:ext cx="800100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4458462" y="5285232"/>
            <a:ext cx="1028700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5487162" y="5285232"/>
            <a:ext cx="1371218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2093976" y="6214872"/>
            <a:ext cx="1564386" cy="17183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3658362" y="6214872"/>
            <a:ext cx="800100" cy="17183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4458462" y="6214872"/>
            <a:ext cx="1028700" cy="17183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5487162" y="6214872"/>
            <a:ext cx="1371218" cy="17183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2093976" y="7933182"/>
            <a:ext cx="1564386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3658362" y="7933182"/>
            <a:ext cx="800100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4458462" y="7933182"/>
            <a:ext cx="1028700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5487162" y="7933182"/>
            <a:ext cx="1371218" cy="929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093976" y="8862822"/>
            <a:ext cx="1564386" cy="675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658362" y="8862822"/>
            <a:ext cx="800100" cy="675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58462" y="8862822"/>
            <a:ext cx="1028700" cy="675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487162" y="8862822"/>
            <a:ext cx="1371218" cy="675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33069" y="624458"/>
            <a:ext cx="1188339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624458"/>
            <a:ext cx="1584960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624458"/>
            <a:ext cx="791717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624458"/>
            <a:ext cx="1008126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506212" y="624458"/>
            <a:ext cx="1368170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R="1315546" algn="r">
              <a:lnSpc>
                <a:spcPct val="95825"/>
              </a:lnSpc>
              <a:spcBef>
                <a:spcPts val="1593"/>
              </a:spcBef>
            </a:pPr>
            <a:r>
              <a:rPr sz="900" spc="0" dirty="0" smtClean="0">
                <a:latin typeface="Times New Roman"/>
                <a:cs typeface="Times New Roman"/>
              </a:rPr>
              <a:t>negative</a:t>
            </a:r>
            <a:endParaRPr sz="900">
              <a:latin typeface="Times New Roman"/>
              <a:cs typeface="Times New Roman"/>
            </a:endParaRPr>
          </a:p>
          <a:p>
            <a:pPr marL="588947" marR="606083" algn="ctr">
              <a:lnSpc>
                <a:spcPct val="95825"/>
              </a:lnSpc>
              <a:spcBef>
                <a:spcPts val="323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 </a:t>
            </a:r>
            <a:r>
              <a:rPr sz="900" b="1" spc="16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“</a:t>
            </a:r>
            <a:r>
              <a:rPr sz="900" spc="0" dirty="0" smtClean="0">
                <a:latin typeface="Times New Roman"/>
                <a:cs typeface="Times New Roman"/>
              </a:rPr>
              <a:t>Opti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izarea structu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ra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iilor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IBNA 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igurarea locur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endParaRPr sz="900">
              <a:latin typeface="Times New Roman"/>
              <a:cs typeface="Times New Roman"/>
            </a:endParaRPr>
          </a:p>
          <a:p>
            <a:pPr marL="57798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BIOLOGIE        </a:t>
            </a:r>
            <a:r>
              <a:rPr sz="900" b="1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ri   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Ferma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IBNA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muncă</a:t>
            </a:r>
            <a:endParaRPr sz="900">
              <a:latin typeface="Times New Roman"/>
              <a:cs typeface="Times New Roman"/>
            </a:endParaRPr>
          </a:p>
          <a:p>
            <a:pPr marL="590479" marR="545833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 NUT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IŢIE         </a:t>
            </a:r>
            <a:r>
              <a:rPr sz="900" b="1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combinate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specifice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rase  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FNC IBNA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Rentab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tiv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663224" marR="854349" algn="ctr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ANIMALĂ            </a:t>
            </a:r>
            <a:r>
              <a:rPr sz="900" b="1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hibr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tauri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e, suine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                        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rilo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endParaRPr sz="900">
              <a:latin typeface="Times New Roman"/>
              <a:cs typeface="Times New Roman"/>
            </a:endParaRPr>
          </a:p>
          <a:p>
            <a:pPr marL="1621951">
              <a:lnSpc>
                <a:spcPts val="1015"/>
              </a:lnSpc>
            </a:pP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stinate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endParaRPr sz="900">
              <a:latin typeface="Times New Roman"/>
              <a:cs typeface="Times New Roman"/>
            </a:endParaRPr>
          </a:p>
          <a:p>
            <a:pPr marL="1621962" marR="482015">
              <a:lnSpc>
                <a:spcPct val="95729"/>
              </a:lnSpc>
            </a:pPr>
            <a:r>
              <a:rPr sz="900" spc="0" dirty="0" smtClean="0">
                <a:latin typeface="Times New Roman"/>
                <a:cs typeface="Times New Roman"/>
              </a:rPr>
              <a:t>carn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ee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aluar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lorii                                        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vânza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NC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CPVM nutriti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tre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 şi a                                                               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respectiv carne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porc şi ceri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nut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                                     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pas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re,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lecta</a:t>
            </a:r>
            <a:r>
              <a:rPr sz="900" spc="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 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 ani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lor”                                                                                     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profitului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(Studi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endParaRPr sz="900">
              <a:latin typeface="Times New Roman"/>
              <a:cs typeface="Times New Roman"/>
            </a:endParaRPr>
          </a:p>
          <a:p>
            <a:pPr marL="5015152" marR="525962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feza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)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21,66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% pentru tine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porcin respectiv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</a:t>
            </a:r>
            <a:r>
              <a:rPr sz="900" spc="-4" dirty="0" smtClean="0">
                <a:latin typeface="Times New Roman"/>
                <a:cs typeface="Times New Roman"/>
              </a:rPr>
              <a:t>9</a:t>
            </a:r>
            <a:r>
              <a:rPr sz="900" spc="0" dirty="0" smtClean="0">
                <a:latin typeface="Times New Roman"/>
                <a:cs typeface="Times New Roman"/>
              </a:rPr>
              <a:t>,54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%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porcul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as, iar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puii broiler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12,25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% şi de</a:t>
            </a:r>
            <a:endParaRPr sz="900">
              <a:latin typeface="Times New Roman"/>
              <a:cs typeface="Times New Roman"/>
            </a:endParaRPr>
          </a:p>
          <a:p>
            <a:pPr marR="485728" algn="r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10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%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NC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CPVM</a:t>
            </a:r>
            <a:endParaRPr sz="900">
              <a:latin typeface="Times New Roman"/>
              <a:cs typeface="Times New Roman"/>
            </a:endParaRPr>
          </a:p>
          <a:p>
            <a:pPr marL="5015152" marR="538944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destina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 îngr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pu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r.</a:t>
            </a:r>
            <a:endParaRPr sz="900">
              <a:latin typeface="Times New Roman"/>
              <a:cs typeface="Times New Roman"/>
            </a:endParaRPr>
          </a:p>
          <a:p>
            <a:pPr marL="1621920" marR="617987" indent="-1109475">
              <a:lnSpc>
                <a:spcPts val="1019"/>
              </a:lnSpc>
              <a:spcBef>
                <a:spcPts val="104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S.C. DELENI S.A.      </a:t>
            </a:r>
            <a:r>
              <a:rPr sz="900" b="1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Metode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estimare a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t       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rmi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rii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Încă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 s-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gistr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 para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curbei de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ac</a:t>
            </a:r>
            <a:r>
              <a:rPr sz="900" spc="-4" dirty="0" smtClean="0">
                <a:latin typeface="Times New Roman"/>
                <a:cs typeface="Times New Roman"/>
              </a:rPr>
              <a:t>ta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cresc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torii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efe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te econo</a:t>
            </a:r>
            <a:r>
              <a:rPr sz="900" spc="-4" dirty="0" smtClean="0">
                <a:latin typeface="Times New Roman"/>
                <a:cs typeface="Times New Roman"/>
              </a:rPr>
              <a:t>mi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21920">
              <a:lnSpc>
                <a:spcPts val="1025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ine                                                           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ovi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endParaRPr sz="900">
              <a:latin typeface="Times New Roman"/>
              <a:cs typeface="Times New Roman"/>
            </a:endParaRPr>
          </a:p>
          <a:p>
            <a:pPr marL="4000948" marR="1840545" algn="ct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lapte</a:t>
            </a:r>
            <a:endParaRPr sz="900">
              <a:latin typeface="Times New Roman"/>
              <a:cs typeface="Times New Roman"/>
            </a:endParaRPr>
          </a:p>
          <a:p>
            <a:pPr marL="491919" marR="618428" indent="-3818" algn="ctr">
              <a:lnSpc>
                <a:spcPct val="95825"/>
              </a:lnSpc>
              <a:spcBef>
                <a:spcPts val="90"/>
              </a:spcBef>
              <a:tabLst>
                <a:tab pos="15367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 </a:t>
            </a:r>
            <a:r>
              <a:rPr sz="900" b="1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9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Dobrogea       </a:t>
            </a:r>
            <a:r>
              <a:rPr sz="900" spc="12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Peste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5%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(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iv) </a:t>
            </a:r>
            <a:r>
              <a:rPr sz="900" b="1" spc="0" dirty="0" smtClean="0">
                <a:latin typeface="Times New Roman"/>
                <a:cs typeface="Times New Roman"/>
              </a:rPr>
              <a:t>DE BIORESURSE     </a:t>
            </a:r>
            <a:r>
              <a:rPr sz="900" b="1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elior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tur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S.A.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Constanta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 cu </a:t>
            </a:r>
            <a:r>
              <a:rPr sz="900" b="1" spc="0" dirty="0" smtClean="0">
                <a:latin typeface="Times New Roman"/>
                <a:cs typeface="Times New Roman"/>
              </a:rPr>
              <a:t>ALIMENTARE	</a:t>
            </a:r>
            <a:r>
              <a:rPr sz="900" spc="0" dirty="0" smtClean="0">
                <a:latin typeface="Times New Roman"/>
                <a:cs typeface="Times New Roman"/>
              </a:rPr>
              <a:t>principi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„sourdough”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   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Dobrogea       </a:t>
            </a:r>
            <a:r>
              <a:rPr sz="900" spc="12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peste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5%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(es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ativ)</a:t>
            </a:r>
            <a:endParaRPr sz="900">
              <a:latin typeface="Times New Roman"/>
              <a:cs typeface="Times New Roman"/>
            </a:endParaRPr>
          </a:p>
          <a:p>
            <a:pPr marL="1621917">
              <a:lnSpc>
                <a:spcPts val="1015"/>
              </a:lnSpc>
              <a:spcBef>
                <a:spcPts val="50"/>
              </a:spcBef>
            </a:pP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pâi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S.A.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Constanta</a:t>
            </a:r>
            <a:endParaRPr sz="900">
              <a:latin typeface="Times New Roman"/>
              <a:cs typeface="Times New Roman"/>
            </a:endParaRPr>
          </a:p>
          <a:p>
            <a:pPr marL="4058079" marR="1898816" indent="0" algn="ctr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si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consumatorul final</a:t>
            </a:r>
            <a:endParaRPr sz="900">
              <a:latin typeface="Times New Roman"/>
              <a:cs typeface="Times New Roman"/>
            </a:endParaRPr>
          </a:p>
          <a:p>
            <a:pPr marL="1621920" marR="560648" indent="-1164339">
              <a:lnSpc>
                <a:spcPct val="94962"/>
              </a:lnSpc>
              <a:spcBef>
                <a:spcPts val="3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INMA BUCUR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ŞTI    </a:t>
            </a:r>
            <a:r>
              <a:rPr sz="900" b="1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ec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t           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rformanta deshidratare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fructelor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ivel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UE. legumelor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gim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trolat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SERVOPLANT</a:t>
            </a:r>
            <a:endParaRPr sz="900">
              <a:latin typeface="Times New Roman"/>
              <a:cs typeface="Times New Roman"/>
            </a:endParaRPr>
          </a:p>
          <a:p>
            <a:pPr marL="1621932">
              <a:lnSpc>
                <a:spcPct val="95825"/>
              </a:lnSpc>
              <a:spcBef>
                <a:spcPts val="5"/>
              </a:spcBef>
            </a:pP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microunde                                                           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</a:t>
            </a:r>
            <a:endParaRPr sz="900">
              <a:latin typeface="Times New Roman"/>
              <a:cs typeface="Times New Roman"/>
            </a:endParaRPr>
          </a:p>
          <a:p>
            <a:pPr marL="1621917" marR="450094">
              <a:lnSpc>
                <a:spcPct val="95729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Perfe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logiei      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roiect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aiova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aşina 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 privind administrarea                           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A      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nivel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ativ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ativ îngr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ş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mintelor chi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şi                                                             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 al u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jelor si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amendamentel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                                                                                  </a:t>
            </a:r>
            <a:r>
              <a:rPr sz="900" spc="14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</a:t>
            </a:r>
            <a:endParaRPr sz="900">
              <a:latin typeface="Times New Roman"/>
              <a:cs typeface="Times New Roman"/>
            </a:endParaRPr>
          </a:p>
          <a:p>
            <a:pPr marL="1621917" marR="3817333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integ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echipament tehnic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pentru 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câmp</a:t>
            </a:r>
            <a:endParaRPr sz="900">
              <a:latin typeface="Times New Roman"/>
              <a:cs typeface="Times New Roman"/>
            </a:endParaRPr>
          </a:p>
          <a:p>
            <a:pPr marL="1621905" marR="450041" indent="11">
              <a:lnSpc>
                <a:spcPct val="95825"/>
              </a:lnSpc>
              <a:spcBef>
                <a:spcPts val="70"/>
              </a:spcBef>
            </a:pPr>
            <a:r>
              <a:rPr sz="900" spc="0" dirty="0" smtClean="0">
                <a:latin typeface="Times New Roman"/>
                <a:cs typeface="Times New Roman"/>
              </a:rPr>
              <a:t>Tehnologie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moder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rodu</a:t>
            </a:r>
            <a:r>
              <a:rPr sz="900" spc="4" dirty="0" smtClean="0">
                <a:latin typeface="Times New Roman"/>
                <a:cs typeface="Times New Roman"/>
              </a:rPr>
              <a:t>că</a:t>
            </a:r>
            <a:r>
              <a:rPr sz="900" spc="0" dirty="0" smtClean="0">
                <a:latin typeface="Times New Roman"/>
                <a:cs typeface="Times New Roman"/>
              </a:rPr>
              <a:t>tori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specifice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procesare a 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energ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duse cu cca 10% porumb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rit ob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inute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lut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 prin unor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inite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calitate                                  </a:t>
            </a:r>
            <a:r>
              <a:rPr sz="900" spc="2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urma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diminuarea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importurilor superioar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 în conte</a:t>
            </a:r>
            <a:r>
              <a:rPr sz="900" spc="-4" dirty="0" smtClean="0">
                <a:latin typeface="Times New Roman"/>
                <a:cs typeface="Times New Roman"/>
              </a:rPr>
              <a:t>x</a:t>
            </a:r>
            <a:r>
              <a:rPr sz="900" spc="0" dirty="0" smtClean="0">
                <a:latin typeface="Times New Roman"/>
                <a:cs typeface="Times New Roman"/>
              </a:rPr>
              <a:t>tul              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transportu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 ceri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di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rsifi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                                      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cereale 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inuti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az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fun</a:t>
            </a:r>
            <a:r>
              <a:rPr sz="900" spc="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şi 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a                                                                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zon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 rura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alimentare                                                                        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aproape de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 pri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5015118" marR="609294" indent="0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preţ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cost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para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urile</a:t>
            </a:r>
            <a:endParaRPr sz="900">
              <a:latin typeface="Times New Roman"/>
              <a:cs typeface="Times New Roman"/>
            </a:endParaRPr>
          </a:p>
          <a:p>
            <a:pPr marR="749753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prac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de fir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5015118" marR="485378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are de ut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profil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te</a:t>
            </a:r>
            <a:endParaRPr sz="900">
              <a:latin typeface="Times New Roman"/>
              <a:cs typeface="Times New Roman"/>
            </a:endParaRPr>
          </a:p>
          <a:p>
            <a:pPr marL="1621917" marR="449212">
              <a:lnSpc>
                <a:spcPct val="96591"/>
              </a:lnSpc>
              <a:spcBef>
                <a:spcPts val="8"/>
              </a:spcBef>
            </a:pPr>
            <a:r>
              <a:rPr sz="900" spc="-4" dirty="0" smtClean="0">
                <a:latin typeface="Times New Roman"/>
                <a:cs typeface="Times New Roman"/>
              </a:rPr>
              <a:t>Perfecţionare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sistemulu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t            SC VITIMAS SA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mentul realizat 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-4" dirty="0" smtClean="0">
                <a:latin typeface="Times New Roman"/>
                <a:cs typeface="Times New Roman"/>
              </a:rPr>
              <a:t>ecanizar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 privin</a:t>
            </a:r>
            <a:r>
              <a:rPr sz="900" spc="0" dirty="0" smtClean="0">
                <a:latin typeface="Times New Roman"/>
                <a:cs typeface="Times New Roman"/>
              </a:rPr>
              <a:t>d</a:t>
            </a:r>
            <a:r>
              <a:rPr sz="900" spc="-4" dirty="0" smtClean="0">
                <a:latin typeface="Times New Roman"/>
                <a:cs typeface="Times New Roman"/>
              </a:rPr>
              <a:t> s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nat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                              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4" dirty="0" smtClean="0">
                <a:latin typeface="Times New Roman"/>
                <a:cs typeface="Times New Roman"/>
              </a:rPr>
              <a:t>Tec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tul unui plantelor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şito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prin                                        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integ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echipament                                                           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plante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toa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lu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ul </a:t>
            </a:r>
            <a:r>
              <a:rPr sz="900" spc="0" dirty="0" smtClean="0">
                <a:latin typeface="Times New Roman"/>
                <a:cs typeface="Times New Roman"/>
              </a:rPr>
              <a:t>tehnic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rea                                                                       </a:t>
            </a:r>
            <a:r>
              <a:rPr sz="900" spc="1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intr-o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rsitate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 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scheme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                                        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condi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lu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ru Perfe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t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ROMET SRL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aşina 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şini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ansportul                                              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</a:t>
            </a:r>
            <a:r>
              <a:rPr sz="900" spc="4" dirty="0" smtClean="0">
                <a:latin typeface="Times New Roman"/>
                <a:cs typeface="Times New Roman"/>
              </a:rPr>
              <a:t>ză</a:t>
            </a:r>
            <a:r>
              <a:rPr sz="900" spc="0" dirty="0" smtClean="0">
                <a:latin typeface="Times New Roman"/>
                <a:cs typeface="Times New Roman"/>
              </a:rPr>
              <a:t>u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nivel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ativ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ativ 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fermele                                          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 al u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jelor si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ilare 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zo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tehn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 prin                                                     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</a:t>
            </a:r>
            <a:endParaRPr sz="900">
              <a:latin typeface="Times New Roman"/>
              <a:cs typeface="Times New Roman"/>
            </a:endParaRPr>
          </a:p>
          <a:p>
            <a:pPr marL="1621917">
              <a:lnSpc>
                <a:spcPts val="1025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integ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echipament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1682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3</a:t>
            </a:r>
            <a:r>
              <a:rPr sz="1000" spc="0" dirty="0" smtClean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 126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098548" y="624458"/>
            <a:ext cx="1555241" cy="0"/>
          </a:xfrm>
          <a:custGeom>
            <a:avLst/>
            <a:gdLst/>
            <a:ahLst/>
            <a:cxnLst/>
            <a:rect l="l" t="t" r="r" b="b"/>
            <a:pathLst>
              <a:path w="1555241">
                <a:moveTo>
                  <a:pt x="0" y="0"/>
                </a:moveTo>
                <a:lnTo>
                  <a:pt x="1555241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653790" y="624458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>
                <a:moveTo>
                  <a:pt x="0" y="0"/>
                </a:moveTo>
                <a:lnTo>
                  <a:pt x="8001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453890" y="62445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482084" y="624458"/>
            <a:ext cx="1000506" cy="0"/>
          </a:xfrm>
          <a:custGeom>
            <a:avLst/>
            <a:gdLst/>
            <a:ahLst/>
            <a:cxnLst/>
            <a:rect l="l" t="t" r="r" b="b"/>
            <a:pathLst>
              <a:path w="1000506">
                <a:moveTo>
                  <a:pt x="0" y="0"/>
                </a:moveTo>
                <a:lnTo>
                  <a:pt x="100050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82590" y="624458"/>
            <a:ext cx="1361693" cy="0"/>
          </a:xfrm>
          <a:custGeom>
            <a:avLst/>
            <a:gdLst/>
            <a:ahLst/>
            <a:cxnLst/>
            <a:rect l="l" t="t" r="r" b="b"/>
            <a:pathLst>
              <a:path w="1361693">
                <a:moveTo>
                  <a:pt x="0" y="0"/>
                </a:moveTo>
                <a:lnTo>
                  <a:pt x="1361693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2093976" y="620267"/>
            <a:ext cx="0" cy="149352"/>
          </a:xfrm>
          <a:custGeom>
            <a:avLst/>
            <a:gdLst/>
            <a:ahLst/>
            <a:cxnLst/>
            <a:rect l="l" t="t" r="r" b="b"/>
            <a:pathLst>
              <a:path h="149352">
                <a:moveTo>
                  <a:pt x="0" y="0"/>
                </a:moveTo>
                <a:lnTo>
                  <a:pt x="0" y="149352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914781" y="610742"/>
            <a:ext cx="0" cy="187071"/>
          </a:xfrm>
          <a:custGeom>
            <a:avLst/>
            <a:gdLst/>
            <a:ahLst/>
            <a:cxnLst/>
            <a:rect l="l" t="t" r="r" b="b"/>
            <a:pathLst>
              <a:path h="187071">
                <a:moveTo>
                  <a:pt x="0" y="0"/>
                </a:moveTo>
                <a:lnTo>
                  <a:pt x="0" y="187071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900684" y="783717"/>
            <a:ext cx="1188719" cy="0"/>
          </a:xfrm>
          <a:custGeom>
            <a:avLst/>
            <a:gdLst/>
            <a:ahLst/>
            <a:cxnLst/>
            <a:rect l="l" t="t" r="r" b="b"/>
            <a:pathLst>
              <a:path w="1188719">
                <a:moveTo>
                  <a:pt x="0" y="0"/>
                </a:moveTo>
                <a:lnTo>
                  <a:pt x="118871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089404" y="783717"/>
            <a:ext cx="1564386" cy="0"/>
          </a:xfrm>
          <a:custGeom>
            <a:avLst/>
            <a:gdLst/>
            <a:ahLst/>
            <a:cxnLst/>
            <a:rect l="l" t="t" r="r" b="b"/>
            <a:pathLst>
              <a:path w="1564386">
                <a:moveTo>
                  <a:pt x="0" y="0"/>
                </a:moveTo>
                <a:lnTo>
                  <a:pt x="156438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658362" y="634364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25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653790" y="783717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>
                <a:moveTo>
                  <a:pt x="0" y="0"/>
                </a:moveTo>
                <a:lnTo>
                  <a:pt x="80010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458462" y="634364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25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453890" y="783717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482084" y="783717"/>
            <a:ext cx="1000506" cy="0"/>
          </a:xfrm>
          <a:custGeom>
            <a:avLst/>
            <a:gdLst/>
            <a:ahLst/>
            <a:cxnLst/>
            <a:rect l="l" t="t" r="r" b="b"/>
            <a:pathLst>
              <a:path w="1000506">
                <a:moveTo>
                  <a:pt x="0" y="0"/>
                </a:moveTo>
                <a:lnTo>
                  <a:pt x="100050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487162" y="634364"/>
            <a:ext cx="0" cy="135255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25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482590" y="783717"/>
            <a:ext cx="1361693" cy="0"/>
          </a:xfrm>
          <a:custGeom>
            <a:avLst/>
            <a:gdLst/>
            <a:ahLst/>
            <a:cxnLst/>
            <a:rect l="l" t="t" r="r" b="b"/>
            <a:pathLst>
              <a:path w="1361693">
                <a:moveTo>
                  <a:pt x="0" y="0"/>
                </a:moveTo>
                <a:lnTo>
                  <a:pt x="1361693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858381" y="610361"/>
            <a:ext cx="0" cy="187452"/>
          </a:xfrm>
          <a:custGeom>
            <a:avLst/>
            <a:gdLst/>
            <a:ahLst/>
            <a:cxnLst/>
            <a:rect l="l" t="t" r="r" b="b"/>
            <a:pathLst>
              <a:path h="187452">
                <a:moveTo>
                  <a:pt x="0" y="0"/>
                </a:moveTo>
                <a:lnTo>
                  <a:pt x="0" y="187452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18972" y="1163193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16836" y="1163193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701796" y="1163193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493514" y="1163193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521708" y="1163193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501640" y="1163193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47166" y="582091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125980" y="582091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710940" y="582091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502658" y="582091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10784" y="582091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47166" y="874090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125980" y="874090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710940" y="874090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502658" y="874090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510784" y="874090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33069" y="1149477"/>
            <a:ext cx="0" cy="8412861"/>
          </a:xfrm>
          <a:custGeom>
            <a:avLst/>
            <a:gdLst/>
            <a:ahLst/>
            <a:cxnLst/>
            <a:rect l="l" t="t" r="r" b="b"/>
            <a:pathLst>
              <a:path h="8412861">
                <a:moveTo>
                  <a:pt x="0" y="0"/>
                </a:moveTo>
                <a:lnTo>
                  <a:pt x="0" y="8412861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918972" y="9548241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125980" y="2102357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710940" y="2102357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502658" y="2102357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510784" y="2102357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125980" y="408355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710940" y="408355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502658" y="408355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510784" y="408355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125980" y="448741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710940" y="448741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502658" y="448741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510784" y="448741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125980" y="502234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710940" y="502234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502658" y="502234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510784" y="502234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125980" y="7144511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710940" y="7144511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502658" y="7144511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510784" y="7144511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125980" y="8205215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710940" y="8205215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502658" y="8205215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5510784" y="8205215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121408" y="1173099"/>
            <a:ext cx="0" cy="8361045"/>
          </a:xfrm>
          <a:custGeom>
            <a:avLst/>
            <a:gdLst/>
            <a:ahLst/>
            <a:cxnLst/>
            <a:rect l="l" t="t" r="r" b="b"/>
            <a:pathLst>
              <a:path h="8361045">
                <a:moveTo>
                  <a:pt x="0" y="0"/>
                </a:moveTo>
                <a:lnTo>
                  <a:pt x="0" y="8361045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116836" y="9548241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706368" y="1173099"/>
            <a:ext cx="0" cy="8361045"/>
          </a:xfrm>
          <a:custGeom>
            <a:avLst/>
            <a:gdLst/>
            <a:ahLst/>
            <a:cxnLst/>
            <a:rect l="l" t="t" r="r" b="b"/>
            <a:pathLst>
              <a:path h="8361045">
                <a:moveTo>
                  <a:pt x="0" y="0"/>
                </a:moveTo>
                <a:lnTo>
                  <a:pt x="0" y="836104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701796" y="9548241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498086" y="1173099"/>
            <a:ext cx="0" cy="8361045"/>
          </a:xfrm>
          <a:custGeom>
            <a:avLst/>
            <a:gdLst/>
            <a:ahLst/>
            <a:cxnLst/>
            <a:rect l="l" t="t" r="r" b="b"/>
            <a:pathLst>
              <a:path h="8361045">
                <a:moveTo>
                  <a:pt x="0" y="0"/>
                </a:moveTo>
                <a:lnTo>
                  <a:pt x="0" y="836104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493514" y="9548241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521708" y="9548241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506212" y="1173099"/>
            <a:ext cx="0" cy="8361045"/>
          </a:xfrm>
          <a:custGeom>
            <a:avLst/>
            <a:gdLst/>
            <a:ahLst/>
            <a:cxnLst/>
            <a:rect l="l" t="t" r="r" b="b"/>
            <a:pathLst>
              <a:path h="8361045">
                <a:moveTo>
                  <a:pt x="0" y="0"/>
                </a:moveTo>
                <a:lnTo>
                  <a:pt x="0" y="836104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5501640" y="9548241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837807" y="1149096"/>
            <a:ext cx="0" cy="8413242"/>
          </a:xfrm>
          <a:custGeom>
            <a:avLst/>
            <a:gdLst/>
            <a:ahLst/>
            <a:cxnLst/>
            <a:rect l="l" t="t" r="r" b="b"/>
            <a:pathLst>
              <a:path h="8413242">
                <a:moveTo>
                  <a:pt x="0" y="0"/>
                </a:moveTo>
                <a:lnTo>
                  <a:pt x="0" y="8413242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33069" y="1163192"/>
            <a:ext cx="1188339" cy="46577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2121408" y="1163192"/>
            <a:ext cx="1584960" cy="9391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3706368" y="1163192"/>
            <a:ext cx="791717" cy="9391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4498086" y="1163192"/>
            <a:ext cx="1008126" cy="9391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5506212" y="1163192"/>
            <a:ext cx="1331595" cy="9391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2121408" y="2102357"/>
            <a:ext cx="1584960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3706368" y="2102357"/>
            <a:ext cx="791717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4498086" y="2102357"/>
            <a:ext cx="1008126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5506212" y="2102357"/>
            <a:ext cx="1331595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2121408" y="4083558"/>
            <a:ext cx="1584960" cy="403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3706368" y="4083558"/>
            <a:ext cx="791717" cy="403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4498086" y="4083558"/>
            <a:ext cx="1008126" cy="403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5506212" y="4083558"/>
            <a:ext cx="1331595" cy="403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2121408" y="4487418"/>
            <a:ext cx="158496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3706368" y="4487418"/>
            <a:ext cx="791717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4498086" y="4487418"/>
            <a:ext cx="1008126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5506212" y="4487418"/>
            <a:ext cx="1331595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2121408" y="5022342"/>
            <a:ext cx="158496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3706368" y="5022342"/>
            <a:ext cx="79171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4498086" y="5022342"/>
            <a:ext cx="1008126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5506212" y="5022342"/>
            <a:ext cx="1331595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933069" y="5820918"/>
            <a:ext cx="1188339" cy="29199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2121408" y="5820918"/>
            <a:ext cx="1584960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3706368" y="5820918"/>
            <a:ext cx="791717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4498086" y="5820918"/>
            <a:ext cx="1008126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5506212" y="5820918"/>
            <a:ext cx="1331595" cy="1323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2121408" y="7144511"/>
            <a:ext cx="1584960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3706368" y="7144511"/>
            <a:ext cx="791717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4498086" y="7144511"/>
            <a:ext cx="1008126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5506212" y="7144511"/>
            <a:ext cx="1331595" cy="1060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21408" y="8205215"/>
            <a:ext cx="1584960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706368" y="8205215"/>
            <a:ext cx="791717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498086" y="8205215"/>
            <a:ext cx="1008126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506212" y="8205215"/>
            <a:ext cx="1331595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933069" y="8740902"/>
            <a:ext cx="1188339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121408" y="8740902"/>
            <a:ext cx="1584960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706368" y="8740902"/>
            <a:ext cx="791717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98086" y="8740902"/>
            <a:ext cx="1008126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506212" y="8740902"/>
            <a:ext cx="1331595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14781" y="624458"/>
            <a:ext cx="1179195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093976" y="624458"/>
            <a:ext cx="1564386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658362" y="624458"/>
            <a:ext cx="800100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58462" y="624458"/>
            <a:ext cx="1028700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487162" y="624458"/>
            <a:ext cx="1371218" cy="1592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2463928" marR="1578583" indent="-878587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1621917">
              <a:lnSpc>
                <a:spcPct val="95825"/>
              </a:lnSpc>
              <a:spcBef>
                <a:spcPts val="1593"/>
              </a:spcBef>
            </a:pPr>
            <a:r>
              <a:rPr sz="900" spc="0" dirty="0" smtClean="0">
                <a:latin typeface="Times New Roman"/>
                <a:cs typeface="Times New Roman"/>
              </a:rPr>
              <a:t>tehnic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rsal</a:t>
            </a:r>
            <a:endParaRPr sz="900">
              <a:latin typeface="Times New Roman"/>
              <a:cs typeface="Times New Roman"/>
            </a:endParaRPr>
          </a:p>
          <a:p>
            <a:pPr marL="1616583" marR="660364">
              <a:lnSpc>
                <a:spcPct val="95825"/>
              </a:lnSpc>
              <a:spcBef>
                <a:spcPts val="3213"/>
              </a:spcBef>
            </a:pPr>
            <a:r>
              <a:rPr sz="900" spc="0" dirty="0" smtClean="0">
                <a:latin typeface="Times New Roman"/>
                <a:cs typeface="Times New Roman"/>
              </a:rPr>
              <a:t>Perfe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t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at la efe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tua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entelor cu                                      </a:t>
            </a:r>
            <a:r>
              <a:rPr sz="900" spc="1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TEHNOFA</a:t>
            </a:r>
            <a:r>
              <a:rPr sz="900" spc="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ORIT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nivelul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normelor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E. insecto-fun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icide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cultu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Bontita Cluj</a:t>
            </a:r>
            <a:endParaRPr sz="900">
              <a:latin typeface="Times New Roman"/>
              <a:cs typeface="Times New Roman"/>
            </a:endParaRPr>
          </a:p>
          <a:p>
            <a:pPr marL="1616583" marR="3676758">
              <a:lnSpc>
                <a:spcPts val="1030"/>
              </a:lnSpc>
              <a:spcBef>
                <a:spcPts val="61"/>
              </a:spcBef>
            </a:pPr>
            <a:r>
              <a:rPr sz="900" spc="0" dirty="0" smtClean="0">
                <a:latin typeface="Times New Roman"/>
                <a:cs typeface="Times New Roman"/>
              </a:rPr>
              <a:t>cartof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unui 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pul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83" marR="3749771">
              <a:lnSpc>
                <a:spcPts val="1030"/>
              </a:lnSpc>
              <a:spcBef>
                <a:spcPts val="4"/>
              </a:spcBef>
            </a:pP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ultidir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lă a 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endParaRPr sz="900">
              <a:latin typeface="Times New Roman"/>
              <a:cs typeface="Times New Roman"/>
            </a:endParaRPr>
          </a:p>
          <a:p>
            <a:pPr marL="1616583" marR="628400">
              <a:lnSpc>
                <a:spcPct val="96112"/>
              </a:lnSpc>
              <a:spcBef>
                <a:spcPts val="8"/>
              </a:spcBef>
            </a:pPr>
            <a:r>
              <a:rPr sz="900" spc="0" dirty="0" smtClean="0">
                <a:latin typeface="Times New Roman"/>
                <a:cs typeface="Times New Roman"/>
              </a:rPr>
              <a:t>Perfe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Constructori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locu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ă în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ecani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 a luc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nat                    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şini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</a:t>
            </a:r>
            <a:r>
              <a:rPr sz="900" spc="-4" dirty="0" smtClean="0">
                <a:latin typeface="Times New Roman"/>
                <a:cs typeface="Times New Roman"/>
              </a:rPr>
              <a:t>ut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e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exploatare</a:t>
            </a:r>
            <a:endParaRPr sz="900">
              <a:latin typeface="Times New Roman"/>
              <a:cs typeface="Times New Roman"/>
            </a:endParaRPr>
          </a:p>
          <a:p>
            <a:pPr marL="1616583" marR="426259">
              <a:lnSpc>
                <a:spcPts val="1040"/>
              </a:lnSpc>
              <a:spcBef>
                <a:spcPts val="52"/>
              </a:spcBef>
            </a:pPr>
            <a:r>
              <a:rPr sz="900" spc="0" dirty="0" smtClean="0">
                <a:latin typeface="Times New Roman"/>
                <a:cs typeface="Times New Roman"/>
              </a:rPr>
              <a:t>culturi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legumicole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                                             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cifr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af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ceri a promovarea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                                     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-19" dirty="0" smtClean="0">
                <a:latin typeface="Times New Roman"/>
                <a:cs typeface="Times New Roman"/>
              </a:rPr>
              <a:t>o</a:t>
            </a:r>
            <a:r>
              <a:rPr sz="900" spc="-14" dirty="0" smtClean="0">
                <a:latin typeface="Times New Roman"/>
                <a:cs typeface="Times New Roman"/>
              </a:rPr>
              <a:t>ciet</a:t>
            </a:r>
            <a:r>
              <a:rPr sz="900" spc="-9" dirty="0" smtClean="0">
                <a:latin typeface="Times New Roman"/>
                <a:cs typeface="Times New Roman"/>
              </a:rPr>
              <a:t>ă</a:t>
            </a:r>
            <a:r>
              <a:rPr sz="900" spc="-1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29" dirty="0" smtClean="0">
                <a:latin typeface="Times New Roman"/>
                <a:cs typeface="Times New Roman"/>
              </a:rPr>
              <a:t> </a:t>
            </a:r>
            <a:r>
              <a:rPr sz="900" spc="-14" dirty="0" smtClean="0">
                <a:latin typeface="Times New Roman"/>
                <a:cs typeface="Times New Roman"/>
              </a:rPr>
              <a:t>agri</a:t>
            </a:r>
            <a:r>
              <a:rPr sz="900" spc="-9" dirty="0" smtClean="0">
                <a:latin typeface="Times New Roman"/>
                <a:cs typeface="Times New Roman"/>
              </a:rPr>
              <a:t>c</a:t>
            </a:r>
            <a:r>
              <a:rPr sz="900" spc="-19" dirty="0" smtClean="0">
                <a:latin typeface="Times New Roman"/>
                <a:cs typeface="Times New Roman"/>
              </a:rPr>
              <a:t>o</a:t>
            </a:r>
            <a:r>
              <a:rPr sz="900" spc="-1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agent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economic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 tehn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zat                    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-14" dirty="0" smtClean="0">
                <a:latin typeface="Times New Roman"/>
                <a:cs typeface="Times New Roman"/>
              </a:rPr>
              <a:t>cult</a:t>
            </a:r>
            <a:r>
              <a:rPr sz="900" spc="-9" dirty="0" smtClean="0">
                <a:latin typeface="Times New Roman"/>
                <a:cs typeface="Times New Roman"/>
              </a:rPr>
              <a:t>i</a:t>
            </a:r>
            <a:r>
              <a:rPr sz="900" spc="-14" dirty="0" smtClean="0">
                <a:latin typeface="Times New Roman"/>
                <a:cs typeface="Times New Roman"/>
              </a:rPr>
              <a:t>vato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-19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</a:t>
            </a:r>
            <a:r>
              <a:rPr sz="900" spc="1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endParaRPr sz="900">
              <a:latin typeface="Times New Roman"/>
              <a:cs typeface="Times New Roman"/>
            </a:endParaRPr>
          </a:p>
          <a:p>
            <a:pPr marL="1616583" marR="543097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semi</a:t>
            </a:r>
            <a:r>
              <a:rPr sz="900" spc="-4" dirty="0" smtClean="0">
                <a:latin typeface="Times New Roman"/>
                <a:cs typeface="Times New Roman"/>
              </a:rPr>
              <a:t>nţ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fo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te                           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-19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29" dirty="0" smtClean="0">
                <a:latin typeface="Times New Roman"/>
                <a:cs typeface="Times New Roman"/>
              </a:rPr>
              <a:t> </a:t>
            </a:r>
            <a:r>
              <a:rPr sz="900" spc="-14" dirty="0" smtClean="0">
                <a:latin typeface="Times New Roman"/>
                <a:cs typeface="Times New Roman"/>
              </a:rPr>
              <a:t>legu</a:t>
            </a:r>
            <a:r>
              <a:rPr sz="900" spc="-19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condi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                                                                        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-14" dirty="0" smtClean="0">
                <a:latin typeface="Times New Roman"/>
                <a:cs typeface="Times New Roman"/>
              </a:rPr>
              <a:t>A</a:t>
            </a:r>
            <a:r>
              <a:rPr sz="900" spc="-19" dirty="0" smtClean="0">
                <a:latin typeface="Times New Roman"/>
                <a:cs typeface="Times New Roman"/>
              </a:rPr>
              <a:t>s</a:t>
            </a:r>
            <a:r>
              <a:rPr sz="900" spc="-14" dirty="0" smtClean="0">
                <a:latin typeface="Times New Roman"/>
                <a:cs typeface="Times New Roman"/>
              </a:rPr>
              <a:t>oci</a:t>
            </a:r>
            <a:r>
              <a:rPr sz="900" spc="-19" dirty="0" smtClean="0">
                <a:latin typeface="Times New Roman"/>
                <a:cs typeface="Times New Roman"/>
              </a:rPr>
              <a:t>a</a:t>
            </a:r>
            <a:r>
              <a:rPr sz="900" spc="-14" dirty="0" smtClean="0">
                <a:latin typeface="Times New Roman"/>
                <a:cs typeface="Times New Roman"/>
              </a:rPr>
              <a:t>ţi</a:t>
            </a:r>
            <a:r>
              <a:rPr sz="900" spc="0" dirty="0" smtClean="0">
                <a:latin typeface="Times New Roman"/>
                <a:cs typeface="Times New Roman"/>
              </a:rPr>
              <a:t>i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muncă 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endParaRPr sz="900">
              <a:latin typeface="Times New Roman"/>
              <a:cs typeface="Times New Roman"/>
            </a:endParaRPr>
          </a:p>
          <a:p>
            <a:pPr marL="4056510" marR="495618" indent="86867">
              <a:lnSpc>
                <a:spcPts val="1030"/>
              </a:lnSpc>
              <a:spcBef>
                <a:spcPts val="4"/>
              </a:spcBef>
            </a:pPr>
            <a:r>
              <a:rPr sz="900" spc="-1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29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p</a:t>
            </a:r>
            <a:r>
              <a:rPr sz="900" spc="-19" dirty="0" smtClean="0">
                <a:latin typeface="Times New Roman"/>
                <a:cs typeface="Times New Roman"/>
              </a:rPr>
              <a:t>r</a:t>
            </a:r>
            <a:r>
              <a:rPr sz="900" spc="-9" dirty="0" smtClean="0">
                <a:latin typeface="Times New Roman"/>
                <a:cs typeface="Times New Roman"/>
              </a:rPr>
              <a:t>o</a:t>
            </a:r>
            <a:r>
              <a:rPr sz="900" spc="-14" dirty="0" smtClean="0">
                <a:latin typeface="Times New Roman"/>
                <a:cs typeface="Times New Roman"/>
              </a:rPr>
              <a:t>ducă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-19" dirty="0" smtClean="0">
                <a:latin typeface="Times New Roman"/>
                <a:cs typeface="Times New Roman"/>
              </a:rPr>
              <a:t>or</a:t>
            </a:r>
            <a:r>
              <a:rPr sz="900" spc="0" dirty="0" smtClean="0">
                <a:latin typeface="Times New Roman"/>
                <a:cs typeface="Times New Roman"/>
              </a:rPr>
              <a:t>i      </a:t>
            </a:r>
            <a:r>
              <a:rPr sz="900" spc="15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plifica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reg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j</a:t>
            </a:r>
            <a:r>
              <a:rPr sz="900" spc="0" dirty="0" smtClean="0">
                <a:latin typeface="Times New Roman"/>
                <a:cs typeface="Times New Roman"/>
              </a:rPr>
              <a:t>elor şi </a:t>
            </a:r>
            <a:r>
              <a:rPr sz="900" spc="-14" dirty="0" smtClean="0">
                <a:latin typeface="Times New Roman"/>
                <a:cs typeface="Times New Roman"/>
              </a:rPr>
              <a:t>agri</a:t>
            </a:r>
            <a:r>
              <a:rPr sz="900" spc="-9" dirty="0" smtClean="0">
                <a:latin typeface="Times New Roman"/>
                <a:cs typeface="Times New Roman"/>
              </a:rPr>
              <a:t>c</a:t>
            </a:r>
            <a:r>
              <a:rPr sz="900" spc="-19" dirty="0" smtClean="0">
                <a:latin typeface="Times New Roman"/>
                <a:cs typeface="Times New Roman"/>
              </a:rPr>
              <a:t>o</a:t>
            </a:r>
            <a:r>
              <a:rPr sz="900" spc="-1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25" dirty="0" smtClean="0">
                <a:latin typeface="Times New Roman"/>
                <a:cs typeface="Times New Roman"/>
              </a:rPr>
              <a:t> </a:t>
            </a:r>
            <a:r>
              <a:rPr sz="900" spc="-14" dirty="0" smtClean="0">
                <a:latin typeface="Times New Roman"/>
                <a:cs typeface="Times New Roman"/>
              </a:rPr>
              <a:t>par</a:t>
            </a:r>
            <a:r>
              <a:rPr sz="900" spc="-9" dirty="0" smtClean="0">
                <a:latin typeface="Times New Roman"/>
                <a:cs typeface="Times New Roman"/>
              </a:rPr>
              <a:t>t</a:t>
            </a:r>
            <a:r>
              <a:rPr sz="900" spc="-14" dirty="0" smtClean="0">
                <a:latin typeface="Times New Roman"/>
                <a:cs typeface="Times New Roman"/>
              </a:rPr>
              <a:t>icul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-19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confo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tului</a:t>
            </a:r>
            <a:endParaRPr sz="900">
              <a:latin typeface="Times New Roman"/>
              <a:cs typeface="Times New Roman"/>
            </a:endParaRPr>
          </a:p>
          <a:p>
            <a:pPr marR="1111712" algn="r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util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zat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rului</a:t>
            </a:r>
            <a:endParaRPr sz="900">
              <a:latin typeface="Times New Roman"/>
              <a:cs typeface="Times New Roman"/>
            </a:endParaRPr>
          </a:p>
          <a:p>
            <a:pPr marL="5001428" marR="425733">
              <a:lnSpc>
                <a:spcPts val="1040"/>
              </a:lnSpc>
              <a:spcBef>
                <a:spcPts val="5"/>
              </a:spcBef>
            </a:pP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consumurilor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energ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e,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rburant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ţă</a:t>
            </a:r>
            <a:endParaRPr sz="900">
              <a:latin typeface="Times New Roman"/>
              <a:cs typeface="Times New Roman"/>
            </a:endParaRPr>
          </a:p>
          <a:p>
            <a:pPr marR="495573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muncă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ch</a:t>
            </a:r>
            <a:r>
              <a:rPr sz="900" spc="-4" dirty="0" smtClean="0">
                <a:latin typeface="Times New Roman"/>
                <a:cs typeface="Times New Roman"/>
              </a:rPr>
              <a:t>el</a:t>
            </a:r>
            <a:r>
              <a:rPr sz="900" spc="0" dirty="0" smtClean="0">
                <a:latin typeface="Times New Roman"/>
                <a:cs typeface="Times New Roman"/>
              </a:rPr>
              <a:t>tui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lilor</a:t>
            </a:r>
            <a:endParaRPr sz="900">
              <a:latin typeface="Times New Roman"/>
              <a:cs typeface="Times New Roman"/>
            </a:endParaRPr>
          </a:p>
          <a:p>
            <a:pPr marL="5001417" marR="483443" indent="11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tre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repar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a acestor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je.</a:t>
            </a:r>
            <a:endParaRPr sz="900">
              <a:latin typeface="Times New Roman"/>
              <a:cs typeface="Times New Roman"/>
            </a:endParaRPr>
          </a:p>
          <a:p>
            <a:pPr marL="1616583" marR="676397" indent="0" algn="just">
              <a:lnSpc>
                <a:spcPct val="95825"/>
              </a:lnSpc>
              <a:spcBef>
                <a:spcPts val="8"/>
              </a:spcBef>
            </a:pPr>
            <a:r>
              <a:rPr sz="900" spc="0" dirty="0" smtClean="0">
                <a:latin typeface="Times New Roman"/>
                <a:cs typeface="Times New Roman"/>
              </a:rPr>
              <a:t>Instal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de stafi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ire a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Proiect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Instal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performanta strugurilor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gim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trolat                            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SERVOPLANT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ivel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UE.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microunde                                                          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Instal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bin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tă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care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Instal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performanta,</a:t>
            </a:r>
            <a:endParaRPr sz="900">
              <a:latin typeface="Times New Roman"/>
              <a:cs typeface="Times New Roman"/>
            </a:endParaRPr>
          </a:p>
          <a:p>
            <a:pPr marL="1616583" marR="539198" indent="0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erg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mp de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SERVOPLANT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ivel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UE,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 microunde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her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                           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energetic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redus medicinale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aro</a:t>
            </a:r>
            <a:r>
              <a:rPr sz="900" spc="-4" dirty="0" smtClean="0">
                <a:latin typeface="Times New Roman"/>
                <a:cs typeface="Times New Roman"/>
              </a:rPr>
              <a:t>ma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e.</a:t>
            </a:r>
            <a:endParaRPr sz="900">
              <a:latin typeface="Times New Roman"/>
              <a:cs typeface="Times New Roman"/>
            </a:endParaRPr>
          </a:p>
          <a:p>
            <a:pPr marL="1616583" marR="505714" algn="just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Cerce</a:t>
            </a:r>
            <a:r>
              <a:rPr sz="900" spc="4" dirty="0" smtClean="0">
                <a:latin typeface="Times New Roman"/>
                <a:cs typeface="Times New Roman"/>
              </a:rPr>
              <a:t>tă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.C.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bina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perfor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 cu cap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lucru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binelor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EMĂNĂTOAR</a:t>
            </a:r>
            <a:r>
              <a:rPr sz="900" spc="9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rită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col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prin                     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SA</a:t>
            </a:r>
            <a:endParaRPr sz="900">
              <a:latin typeface="Times New Roman"/>
              <a:cs typeface="Times New Roman"/>
            </a:endParaRPr>
          </a:p>
          <a:p>
            <a:pPr marL="1616583" marR="3652153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intensif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procesului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separare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boa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sistemul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scutu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endParaRPr sz="900">
              <a:latin typeface="Times New Roman"/>
              <a:cs typeface="Times New Roman"/>
            </a:endParaRPr>
          </a:p>
          <a:p>
            <a:pPr marL="518541">
              <a:lnSpc>
                <a:spcPct val="95825"/>
              </a:lnSpc>
              <a:spcBef>
                <a:spcPts val="3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INSTITUT</a:t>
            </a:r>
            <a:r>
              <a:rPr sz="900" b="1" spc="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L    </a:t>
            </a:r>
            <a:r>
              <a:rPr sz="900" b="1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Valorif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plexa a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DISTILERIA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siropului</a:t>
            </a:r>
            <a:endParaRPr sz="900">
              <a:latin typeface="Times New Roman"/>
              <a:cs typeface="Times New Roman"/>
            </a:endParaRPr>
          </a:p>
          <a:p>
            <a:pPr marL="55054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CERCETĂ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I     </a:t>
            </a:r>
            <a:r>
              <a:rPr sz="900" b="1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materiilor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amidonoase                         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ODORHEI 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A.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47739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ALIMENTARE 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A.   </a:t>
            </a:r>
            <a:r>
              <a:rPr sz="900" b="1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 complementa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extr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1616586">
              <a:lnSpc>
                <a:spcPts val="1015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tern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         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malţ</a:t>
            </a:r>
            <a:endParaRPr sz="900">
              <a:latin typeface="Times New Roman"/>
              <a:cs typeface="Times New Roman"/>
            </a:endParaRPr>
          </a:p>
          <a:p>
            <a:pPr marL="5001398" marR="549423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conce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tului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nt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tr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ceu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ic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proprie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 digestive 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natural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cereale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Cerce</a:t>
            </a:r>
            <a:r>
              <a:rPr sz="900" spc="4" dirty="0" smtClean="0">
                <a:latin typeface="Times New Roman"/>
                <a:cs typeface="Times New Roman"/>
              </a:rPr>
              <a:t>tă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troducerea       </a:t>
            </a:r>
            <a:r>
              <a:rPr sz="900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la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MEDEUS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Culturi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arter</a:t>
            </a:r>
            <a:endParaRPr sz="900">
              <a:latin typeface="Times New Roman"/>
              <a:cs typeface="Times New Roman"/>
            </a:endParaRPr>
          </a:p>
          <a:p>
            <a:pPr marL="1616583" marR="511011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turale          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nivel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ator                           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stabil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ază procesul microbiene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tarea                                                       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maturare 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proceselor tehnologice şi                                                                  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icşorea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iscurile prelungi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bili</a:t>
            </a:r>
            <a:r>
              <a:rPr sz="900" spc="4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la                                                    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cte unele pre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ara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 carne                                                                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inându-se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ast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el</a:t>
            </a:r>
            <a:endParaRPr sz="900">
              <a:latin typeface="Times New Roman"/>
              <a:cs typeface="Times New Roman"/>
            </a:endParaRPr>
          </a:p>
          <a:p>
            <a:pPr marR="867763" algn="r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avan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je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R="1102638" algn="r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economice</a:t>
            </a:r>
            <a:endParaRPr sz="900">
              <a:latin typeface="Times New Roman"/>
              <a:cs typeface="Times New Roman"/>
            </a:endParaRPr>
          </a:p>
          <a:p>
            <a:pPr marL="1616583" marR="448503">
              <a:lnSpc>
                <a:spcPct val="95729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Cerce</a:t>
            </a:r>
            <a:r>
              <a:rPr sz="900" spc="4" dirty="0" smtClean="0">
                <a:latin typeface="Times New Roman"/>
                <a:cs typeface="Times New Roman"/>
              </a:rPr>
              <a:t>tă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ind elabo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  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 GAMA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tode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ivel metodelor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 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SERV`95 SRL    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laborator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testarea falsif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 la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                                                    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rapida a falsi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l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ptelui la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79" marR="679357" indent="-1007360">
              <a:lnSpc>
                <a:spcPts val="1019"/>
              </a:lnSpc>
              <a:spcBef>
                <a:spcPts val="166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INCER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RA</a:t>
            </a:r>
            <a:r>
              <a:rPr sz="900" b="1" spc="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S       </a:t>
            </a:r>
            <a:r>
              <a:rPr sz="900" b="1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Abordarea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sociolo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necesi-   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AGRICOLA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Profitul esti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res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str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en-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(Raport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INTERNATIONAL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3-5%</a:t>
            </a:r>
            <a:endParaRPr sz="900">
              <a:latin typeface="Times New Roman"/>
              <a:cs typeface="Times New Roman"/>
            </a:endParaRPr>
          </a:p>
          <a:p>
            <a:pPr marL="1616590">
              <a:lnSpc>
                <a:spcPts val="1025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isabile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carne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e)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 BACĂU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Rentab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ea cres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3%</a:t>
            </a:r>
            <a:endParaRPr sz="900">
              <a:latin typeface="Times New Roman"/>
              <a:cs typeface="Times New Roman"/>
            </a:endParaRPr>
          </a:p>
          <a:p>
            <a:pPr marL="1616602" marR="3623184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optimiza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ac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transport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 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entelor frigo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de la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1655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3</a:t>
            </a:r>
            <a:r>
              <a:rPr sz="1000" spc="0" dirty="0" smtClean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object 126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947166" y="614933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933069" y="610742"/>
            <a:ext cx="0" cy="449961"/>
          </a:xfrm>
          <a:custGeom>
            <a:avLst/>
            <a:gdLst/>
            <a:ahLst/>
            <a:cxnLst/>
            <a:rect l="l" t="t" r="r" b="b"/>
            <a:pathLst>
              <a:path h="449961">
                <a:moveTo>
                  <a:pt x="0" y="0"/>
                </a:moveTo>
                <a:lnTo>
                  <a:pt x="0" y="449961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918972" y="1046606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125980" y="62445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701796" y="624458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493514" y="62445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521708" y="624458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501640" y="624458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121408" y="610361"/>
            <a:ext cx="0" cy="422148"/>
          </a:xfrm>
          <a:custGeom>
            <a:avLst/>
            <a:gdLst/>
            <a:ahLst/>
            <a:cxnLst/>
            <a:rect l="l" t="t" r="r" b="b"/>
            <a:pathLst>
              <a:path h="422148">
                <a:moveTo>
                  <a:pt x="0" y="0"/>
                </a:moveTo>
                <a:lnTo>
                  <a:pt x="0" y="422148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116836" y="1046606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706368" y="634364"/>
            <a:ext cx="0" cy="398145"/>
          </a:xfrm>
          <a:custGeom>
            <a:avLst/>
            <a:gdLst/>
            <a:ahLst/>
            <a:cxnLst/>
            <a:rect l="l" t="t" r="r" b="b"/>
            <a:pathLst>
              <a:path h="398145">
                <a:moveTo>
                  <a:pt x="0" y="0"/>
                </a:moveTo>
                <a:lnTo>
                  <a:pt x="0" y="39814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701796" y="1046606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498086" y="634364"/>
            <a:ext cx="0" cy="398145"/>
          </a:xfrm>
          <a:custGeom>
            <a:avLst/>
            <a:gdLst/>
            <a:ahLst/>
            <a:cxnLst/>
            <a:rect l="l" t="t" r="r" b="b"/>
            <a:pathLst>
              <a:path h="398145">
                <a:moveTo>
                  <a:pt x="0" y="0"/>
                </a:moveTo>
                <a:lnTo>
                  <a:pt x="0" y="39814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493514" y="1046606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521708" y="1046606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506212" y="634364"/>
            <a:ext cx="0" cy="398145"/>
          </a:xfrm>
          <a:custGeom>
            <a:avLst/>
            <a:gdLst/>
            <a:ahLst/>
            <a:cxnLst/>
            <a:rect l="l" t="t" r="r" b="b"/>
            <a:pathLst>
              <a:path h="398145">
                <a:moveTo>
                  <a:pt x="0" y="0"/>
                </a:moveTo>
                <a:lnTo>
                  <a:pt x="0" y="39814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501640" y="1046606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837807" y="610361"/>
            <a:ext cx="0" cy="450342"/>
          </a:xfrm>
          <a:custGeom>
            <a:avLst/>
            <a:gdLst/>
            <a:ahLst/>
            <a:cxnLst/>
            <a:rect l="l" t="t" r="r" b="b"/>
            <a:pathLst>
              <a:path h="450342">
                <a:moveTo>
                  <a:pt x="0" y="0"/>
                </a:moveTo>
                <a:lnTo>
                  <a:pt x="0" y="450342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18972" y="1250823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16836" y="1250823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701796" y="1250823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493514" y="1250823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521708" y="1250823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501640" y="1250823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47166" y="205816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2125980" y="205816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710940" y="205816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502658" y="205816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510784" y="205816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47166" y="298780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125980" y="298780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710940" y="298780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502658" y="298780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510784" y="298780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47166" y="496900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125980" y="496900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710940" y="496900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502658" y="496900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510784" y="496900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47166" y="603046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125980" y="603046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710940" y="603046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502658" y="603046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510784" y="603046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47166" y="701725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125980" y="701725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10940" y="701725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502658" y="701725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510784" y="701725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947166" y="8612886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125980" y="861288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710940" y="861288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502658" y="861288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510784" y="8612886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933069" y="1237106"/>
            <a:ext cx="0" cy="8300085"/>
          </a:xfrm>
          <a:custGeom>
            <a:avLst/>
            <a:gdLst/>
            <a:ahLst/>
            <a:cxnLst/>
            <a:rect l="l" t="t" r="r" b="b"/>
            <a:pathLst>
              <a:path h="8300085">
                <a:moveTo>
                  <a:pt x="0" y="0"/>
                </a:moveTo>
                <a:lnTo>
                  <a:pt x="0" y="8300085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125980" y="781507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710940" y="781507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502658" y="781507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5510784" y="781507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121408" y="1260728"/>
            <a:ext cx="0" cy="8276463"/>
          </a:xfrm>
          <a:custGeom>
            <a:avLst/>
            <a:gdLst/>
            <a:ahLst/>
            <a:cxnLst/>
            <a:rect l="l" t="t" r="r" b="b"/>
            <a:pathLst>
              <a:path h="8276463">
                <a:moveTo>
                  <a:pt x="0" y="0"/>
                </a:moveTo>
                <a:lnTo>
                  <a:pt x="0" y="8276463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116836" y="9551289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706368" y="1260728"/>
            <a:ext cx="0" cy="8276463"/>
          </a:xfrm>
          <a:custGeom>
            <a:avLst/>
            <a:gdLst/>
            <a:ahLst/>
            <a:cxnLst/>
            <a:rect l="l" t="t" r="r" b="b"/>
            <a:pathLst>
              <a:path h="8276463">
                <a:moveTo>
                  <a:pt x="0" y="0"/>
                </a:moveTo>
                <a:lnTo>
                  <a:pt x="0" y="827646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701796" y="9551289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498086" y="1260728"/>
            <a:ext cx="0" cy="8276463"/>
          </a:xfrm>
          <a:custGeom>
            <a:avLst/>
            <a:gdLst/>
            <a:ahLst/>
            <a:cxnLst/>
            <a:rect l="l" t="t" r="r" b="b"/>
            <a:pathLst>
              <a:path h="8276463">
                <a:moveTo>
                  <a:pt x="0" y="0"/>
                </a:moveTo>
                <a:lnTo>
                  <a:pt x="0" y="827646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493514" y="955128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521708" y="9551289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506212" y="1260728"/>
            <a:ext cx="0" cy="8276463"/>
          </a:xfrm>
          <a:custGeom>
            <a:avLst/>
            <a:gdLst/>
            <a:ahLst/>
            <a:cxnLst/>
            <a:rect l="l" t="t" r="r" b="b"/>
            <a:pathLst>
              <a:path h="8276463">
                <a:moveTo>
                  <a:pt x="0" y="0"/>
                </a:moveTo>
                <a:lnTo>
                  <a:pt x="0" y="8276463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501640" y="9551289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837807" y="1236726"/>
            <a:ext cx="0" cy="8328660"/>
          </a:xfrm>
          <a:custGeom>
            <a:avLst/>
            <a:gdLst/>
            <a:ahLst/>
            <a:cxnLst/>
            <a:rect l="l" t="t" r="r" b="b"/>
            <a:pathLst>
              <a:path h="8328660">
                <a:moveTo>
                  <a:pt x="0" y="0"/>
                </a:moveTo>
                <a:lnTo>
                  <a:pt x="0" y="832866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33069" y="1250823"/>
            <a:ext cx="1188339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2121408" y="1250823"/>
            <a:ext cx="1584960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3706368" y="1250823"/>
            <a:ext cx="791717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4498086" y="1250823"/>
            <a:ext cx="1008126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5506212" y="1250823"/>
            <a:ext cx="1331595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933069" y="2058161"/>
            <a:ext cx="1188339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2121408" y="2058161"/>
            <a:ext cx="1584960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3706368" y="2058161"/>
            <a:ext cx="791717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4498086" y="2058161"/>
            <a:ext cx="1008126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5506212" y="2058161"/>
            <a:ext cx="1331595" cy="92964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933069" y="2987802"/>
            <a:ext cx="1188339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2121408" y="2987802"/>
            <a:ext cx="1584960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3706368" y="2987802"/>
            <a:ext cx="791717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4498086" y="2987802"/>
            <a:ext cx="1008126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5506212" y="2987802"/>
            <a:ext cx="1331595" cy="1981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933069" y="4969002"/>
            <a:ext cx="1188339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2121408" y="4969002"/>
            <a:ext cx="1584960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3706368" y="4969002"/>
            <a:ext cx="791717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4498086" y="4969002"/>
            <a:ext cx="1008126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5506212" y="4969002"/>
            <a:ext cx="1331595" cy="10614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933069" y="6030468"/>
            <a:ext cx="1188339" cy="986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2121408" y="6030468"/>
            <a:ext cx="1584960" cy="986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3706368" y="6030468"/>
            <a:ext cx="791717" cy="986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4498086" y="6030468"/>
            <a:ext cx="1008126" cy="986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5506212" y="6030468"/>
            <a:ext cx="1331595" cy="986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933069" y="7017258"/>
            <a:ext cx="1188339" cy="15956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2121408" y="7017258"/>
            <a:ext cx="1584960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3706368" y="7017258"/>
            <a:ext cx="791717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4498086" y="7017258"/>
            <a:ext cx="1008126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5506212" y="7017258"/>
            <a:ext cx="1331595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21408" y="7815072"/>
            <a:ext cx="1584960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706368" y="7815072"/>
            <a:ext cx="791717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498086" y="7815072"/>
            <a:ext cx="1008126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506212" y="7815072"/>
            <a:ext cx="1331595" cy="7978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933069" y="8612886"/>
            <a:ext cx="1188339" cy="92430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121408" y="8612886"/>
            <a:ext cx="1584960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706368" y="8612886"/>
            <a:ext cx="791717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98086" y="8612886"/>
            <a:ext cx="1008126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506212" y="8612886"/>
            <a:ext cx="1331595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33069" y="624458"/>
            <a:ext cx="1188339" cy="422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624458"/>
            <a:ext cx="1584960" cy="422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624458"/>
            <a:ext cx="791717" cy="422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624458"/>
            <a:ext cx="1008126" cy="422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506212" y="624458"/>
            <a:ext cx="1331595" cy="422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1616583" marR="3718407">
              <a:lnSpc>
                <a:spcPct val="95825"/>
              </a:lnSpc>
              <a:spcBef>
                <a:spcPts val="1593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consumator în scopul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asigu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secu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ii </a:t>
            </a:r>
            <a:r>
              <a:rPr sz="900" spc="0" dirty="0" smtClean="0">
                <a:latin typeface="Times New Roman"/>
                <a:cs typeface="Times New Roman"/>
              </a:rPr>
              <a:t>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nutri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uma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4032115" marR="476170" indent="-3203440">
              <a:lnSpc>
                <a:spcPct val="94962"/>
              </a:lnSpc>
              <a:spcBef>
                <a:spcPts val="1858"/>
              </a:spcBef>
              <a:tabLst>
                <a:tab pos="16129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UTCB	</a:t>
            </a:r>
            <a:r>
              <a:rPr sz="900" spc="0" dirty="0" smtClean="0">
                <a:latin typeface="Times New Roman"/>
                <a:cs typeface="Times New Roman"/>
              </a:rPr>
              <a:t>Sistem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frigorific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timizat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LUC-SAM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Îmbu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iei COMP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NY SRL,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frigorifice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urmare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Colec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 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ezu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tat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endParaRPr sz="900">
              <a:latin typeface="Times New Roman"/>
              <a:cs typeface="Times New Roman"/>
            </a:endParaRPr>
          </a:p>
          <a:p>
            <a:pPr marL="4279769">
              <a:lnSpc>
                <a:spcPts val="1035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studen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5001413" marR="772656" indent="-11">
              <a:lnSpc>
                <a:spcPts val="1040"/>
              </a:lnSpc>
              <a:spcBef>
                <a:spcPts val="5"/>
              </a:spcBef>
            </a:pP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sigu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ei </a:t>
            </a:r>
            <a:r>
              <a:rPr sz="900" spc="0" dirty="0" smtClean="0">
                <a:latin typeface="Times New Roman"/>
                <a:cs typeface="Times New Roman"/>
              </a:rPr>
              <a:t>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endParaRPr sz="900">
              <a:latin typeface="Times New Roman"/>
              <a:cs typeface="Times New Roman"/>
            </a:endParaRPr>
          </a:p>
          <a:p>
            <a:pPr marL="862505" marR="959854" algn="ctr">
              <a:lnSpc>
                <a:spcPct val="95825"/>
              </a:lnSpc>
              <a:spcBef>
                <a:spcPts val="2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C.           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în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INCDFM-CEFIN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377463" marR="738927" algn="ctr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OPTOELECTRONICA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fabric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                          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holografice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indi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ne</a:t>
            </a:r>
            <a:endParaRPr sz="900">
              <a:latin typeface="Times New Roman"/>
              <a:cs typeface="Times New Roman"/>
            </a:endParaRPr>
          </a:p>
          <a:p>
            <a:pPr marR="541582" algn="r">
              <a:lnSpc>
                <a:spcPct val="95825"/>
              </a:lnSpc>
            </a:pPr>
            <a:r>
              <a:rPr sz="900" b="1" spc="-4" dirty="0" smtClean="0">
                <a:latin typeface="Times New Roman"/>
                <a:cs typeface="Times New Roman"/>
              </a:rPr>
              <a:t>S</a:t>
            </a:r>
            <a:r>
              <a:rPr sz="900" b="1" spc="0" dirty="0" smtClean="0">
                <a:latin typeface="Times New Roman"/>
                <a:cs typeface="Times New Roman"/>
              </a:rPr>
              <a:t>A            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ilor holog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afice                                                         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conform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standar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elor UE</a:t>
            </a:r>
            <a:endParaRPr sz="900">
              <a:latin typeface="Times New Roman"/>
              <a:cs typeface="Times New Roman"/>
            </a:endParaRPr>
          </a:p>
          <a:p>
            <a:pPr marL="1616613">
              <a:lnSpc>
                <a:spcPts val="1015"/>
              </a:lnSpc>
              <a:spcBef>
                <a:spcPts val="50"/>
              </a:spcBef>
            </a:pPr>
            <a:r>
              <a:rPr sz="900" spc="0" dirty="0" smtClean="0">
                <a:latin typeface="Times New Roman"/>
                <a:cs typeface="Times New Roman"/>
              </a:rPr>
              <a:t>folosite la pro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cţ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împotriva</a:t>
            </a:r>
            <a:endParaRPr sz="900">
              <a:latin typeface="Times New Roman"/>
              <a:cs typeface="Times New Roman"/>
            </a:endParaRPr>
          </a:p>
          <a:p>
            <a:pPr marL="1616613" marR="3623268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falsif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bunurilor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larg consum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mare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(PROT-HOL)</a:t>
            </a:r>
            <a:endParaRPr sz="900">
              <a:latin typeface="Times New Roman"/>
              <a:cs typeface="Times New Roman"/>
            </a:endParaRPr>
          </a:p>
          <a:p>
            <a:pPr marL="654176" marR="454044" indent="29718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ICDIMPH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–          </a:t>
            </a:r>
            <a:r>
              <a:rPr sz="900" b="1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Diversifi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-4" dirty="0" smtClean="0">
                <a:latin typeface="Times New Roman"/>
                <a:cs typeface="Times New Roman"/>
              </a:rPr>
              <a:t> m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b="1" spc="0" dirty="0" smtClean="0">
                <a:latin typeface="Times New Roman"/>
                <a:cs typeface="Times New Roman"/>
              </a:rPr>
              <a:t>HORTING           </a:t>
            </a:r>
            <a:r>
              <a:rPr sz="900" b="1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fr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cte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ruc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valoroase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legume </a:t>
            </a:r>
            <a:r>
              <a:rPr sz="900" b="1" spc="0" dirty="0" smtClean="0">
                <a:latin typeface="Times New Roman"/>
                <a:cs typeface="Times New Roman"/>
              </a:rPr>
              <a:t>BUCUR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ŞTI         </a:t>
            </a:r>
            <a:r>
              <a:rPr sz="900" b="1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procesul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lori-                       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fructe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ts val="1015"/>
              </a:lnSpc>
              <a:spcBef>
                <a:spcPts val="50"/>
              </a:spcBef>
            </a:pPr>
            <a:r>
              <a:rPr sz="900" spc="0" dirty="0" smtClean="0">
                <a:latin typeface="Times New Roman"/>
                <a:cs typeface="Times New Roman"/>
              </a:rPr>
              <a:t>fica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si/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au                      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legume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ructe,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Posibilitatea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troducerii în</a:t>
            </a:r>
            <a:endParaRPr sz="900">
              <a:latin typeface="Times New Roman"/>
              <a:cs typeface="Times New Roman"/>
            </a:endParaRPr>
          </a:p>
          <a:p>
            <a:pPr marL="4121284" marR="484919" indent="-2504701">
              <a:lnSpc>
                <a:spcPts val="1030"/>
              </a:lnSpc>
              <a:spcBef>
                <a:spcPts val="20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preluc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                                  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procesul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lori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stare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sp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endParaRPr sz="900">
              <a:latin typeface="Times New Roman"/>
              <a:cs typeface="Times New Roman"/>
            </a:endParaRPr>
          </a:p>
          <a:p>
            <a:pPr marR="507707" algn="r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legume şi fructe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preluc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soiuri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endParaRPr sz="900">
              <a:latin typeface="Times New Roman"/>
              <a:cs typeface="Times New Roman"/>
            </a:endParaRPr>
          </a:p>
          <a:p>
            <a:pPr marL="4193682">
              <a:lnSpc>
                <a:spcPts val="1030"/>
              </a:lnSpc>
              <a:spcBef>
                <a:spcPts val="0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tori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legume şi fruc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endParaRPr sz="900">
              <a:latin typeface="Times New Roman"/>
              <a:cs typeface="Times New Roman"/>
            </a:endParaRPr>
          </a:p>
          <a:p>
            <a:pPr marL="4189110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rist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 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R="534013" algn="r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fructe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superioare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celor existente</a:t>
            </a:r>
            <a:endParaRPr sz="900">
              <a:latin typeface="Times New Roman"/>
              <a:cs typeface="Times New Roman"/>
            </a:endParaRPr>
          </a:p>
          <a:p>
            <a:pPr marL="5001417" marR="521269" indent="0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Diversificarea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gamei sortimentale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 procesa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fru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f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ră adaos de conser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colora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591692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CENTRUL  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şi in</a:t>
            </a:r>
            <a:r>
              <a:rPr sz="900" spc="-4" dirty="0" smtClean="0">
                <a:latin typeface="Times New Roman"/>
                <a:cs typeface="Times New Roman"/>
              </a:rPr>
              <a:t>st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 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MD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pro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ect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53454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industrial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                                       </a:t>
            </a:r>
            <a:r>
              <a:rPr sz="900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AGRICOLA 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L.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extin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eniul de</a:t>
            </a:r>
            <a:endParaRPr sz="900">
              <a:latin typeface="Times New Roman"/>
              <a:cs typeface="Times New Roman"/>
            </a:endParaRPr>
          </a:p>
          <a:p>
            <a:pPr marR="483619" algn="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extr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conce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                                   </a:t>
            </a:r>
            <a:r>
              <a:rPr sz="900" spc="1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CARMEN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aplicabilitate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MATERIALE                                                                                                </a:t>
            </a:r>
            <a:r>
              <a:rPr sz="900" b="1" spc="14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SILVA 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L.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mbr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endParaRPr sz="900">
              <a:latin typeface="Times New Roman"/>
              <a:cs typeface="Times New Roman"/>
            </a:endParaRPr>
          </a:p>
          <a:p>
            <a:pPr marL="571118" marR="571244" indent="174501" algn="just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MACRO-                                                                                                                                   </a:t>
            </a:r>
            <a:r>
              <a:rPr sz="900" b="1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Circa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250-300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locuri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b="1" spc="0" dirty="0" smtClean="0">
                <a:latin typeface="Times New Roman"/>
                <a:cs typeface="Times New Roman"/>
              </a:rPr>
              <a:t>MOLECULARE                                                                                                                            </a:t>
            </a:r>
            <a:r>
              <a:rPr sz="900" b="1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munc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, la cu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de </a:t>
            </a:r>
            <a:r>
              <a:rPr sz="900" b="1" spc="0" dirty="0" smtClean="0">
                <a:latin typeface="Times New Roman"/>
                <a:cs typeface="Times New Roman"/>
              </a:rPr>
              <a:t>şi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MEMBRANE                                                                                                                             </a:t>
            </a:r>
            <a:r>
              <a:rPr sz="900" b="1" spc="1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hamei</a:t>
            </a:r>
            <a:endParaRPr sz="900">
              <a:latin typeface="Times New Roman"/>
              <a:cs typeface="Times New Roman"/>
            </a:endParaRPr>
          </a:p>
          <a:p>
            <a:pPr marL="58788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(CCMMM)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-4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A.</a:t>
            </a:r>
            <a:endParaRPr sz="900">
              <a:latin typeface="Times New Roman"/>
              <a:cs typeface="Times New Roman"/>
            </a:endParaRPr>
          </a:p>
          <a:p>
            <a:pPr marL="1616583" marR="463885">
              <a:lnSpc>
                <a:spcPts val="1030"/>
              </a:lnSpc>
              <a:spcBef>
                <a:spcPts val="70"/>
              </a:spcBef>
            </a:pPr>
            <a:r>
              <a:rPr sz="900" spc="0" dirty="0" smtClean="0">
                <a:latin typeface="Times New Roman"/>
                <a:cs typeface="Times New Roman"/>
              </a:rPr>
              <a:t>Microfil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rar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inurilor în 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MD          </a:t>
            </a:r>
            <a:r>
              <a:rPr sz="900" spc="1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Extind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rea do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eniul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scopul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clari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9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eri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roiect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AGRICOLA 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L.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aplicabilitate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endParaRPr sz="900">
              <a:latin typeface="Times New Roman"/>
              <a:cs typeface="Times New Roman"/>
            </a:endParaRPr>
          </a:p>
          <a:p>
            <a:pPr marL="5001406" marR="508035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mbr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asigura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endParaRPr sz="900">
              <a:latin typeface="Times New Roman"/>
              <a:cs typeface="Times New Roman"/>
            </a:endParaRPr>
          </a:p>
          <a:p>
            <a:pPr marL="5001406" marR="641745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tehnologii ecolo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filt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area vinu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151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iagnostic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Plev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S.A.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Importanta înoc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502841" marR="679915" algn="ctr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DE BIORESURSE    </a:t>
            </a:r>
            <a:r>
              <a:rPr sz="900" b="1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investigare a înocui</a:t>
            </a:r>
            <a:r>
              <a:rPr sz="900" spc="-4" dirty="0" smtClean="0">
                <a:latin typeface="Times New Roman"/>
                <a:cs typeface="Times New Roman"/>
              </a:rPr>
              <a:t>tă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şi                                                         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alimentare</a:t>
            </a:r>
            <a:endParaRPr sz="900">
              <a:latin typeface="Times New Roman"/>
              <a:cs typeface="Times New Roman"/>
            </a:endParaRPr>
          </a:p>
          <a:p>
            <a:pPr marL="1616586" marR="533340" indent="-1022607">
              <a:lnSpc>
                <a:spcPts val="1010"/>
              </a:lnSpc>
              <a:spcBef>
                <a:spcPts val="34"/>
              </a:spcBef>
              <a:tabLst>
                <a:tab pos="16129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ALIMENTARE	</a:t>
            </a:r>
            <a:r>
              <a:rPr sz="900" spc="0" dirty="0" smtClean="0">
                <a:latin typeface="Times New Roman"/>
                <a:cs typeface="Times New Roman"/>
              </a:rPr>
              <a:t>valorii nut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                                                      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plic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ilor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                                                                                            </a:t>
            </a:r>
            <a:r>
              <a:rPr sz="900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ili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valo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5001387" marR="698059">
              <a:lnSpc>
                <a:spcPts val="1030"/>
              </a:lnSpc>
              <a:spcBef>
                <a:spcPts val="10"/>
              </a:spcBef>
            </a:pPr>
            <a:r>
              <a:rPr sz="900" spc="0" dirty="0" smtClean="0">
                <a:latin typeface="Times New Roman"/>
                <a:cs typeface="Times New Roman"/>
              </a:rPr>
              <a:t>nutriti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  <a:spcBef>
                <a:spcPts val="8"/>
              </a:spcBef>
            </a:pPr>
            <a:r>
              <a:rPr sz="900" spc="0" dirty="0" smtClean="0">
                <a:latin typeface="Times New Roman"/>
                <a:cs typeface="Times New Roman"/>
              </a:rPr>
              <a:t>Tehnologie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9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Dobrogea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S.A.   Peste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5%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(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sti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iv)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elior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tur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inci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iul                                      </a:t>
            </a:r>
            <a:r>
              <a:rPr sz="900" spc="1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Constanta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rilor cu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ts val="1030"/>
              </a:lnSpc>
              <a:spcBef>
                <a:spcPts val="51"/>
              </a:spcBef>
            </a:pPr>
            <a:r>
              <a:rPr sz="900" spc="0" dirty="0" smtClean="0">
                <a:latin typeface="Times New Roman"/>
                <a:cs typeface="Times New Roman"/>
              </a:rPr>
              <a:t>„sourdough”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                                                 </a:t>
            </a:r>
            <a:r>
              <a:rPr sz="900" spc="2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Dobrogea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S.A. </a:t>
            </a:r>
            <a:r>
              <a:rPr sz="900" spc="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peste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5%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(es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ativ)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îmbun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pâi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Constanta</a:t>
            </a:r>
            <a:endParaRPr sz="900">
              <a:latin typeface="Times New Roman"/>
              <a:cs typeface="Times New Roman"/>
            </a:endParaRPr>
          </a:p>
          <a:p>
            <a:pPr marL="4355988" marR="1859991" indent="-259083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si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consumatorul final</a:t>
            </a:r>
            <a:endParaRPr sz="900">
              <a:latin typeface="Times New Roman"/>
              <a:cs typeface="Times New Roman"/>
            </a:endParaRPr>
          </a:p>
          <a:p>
            <a:pPr marL="514827" marR="499622" indent="100584" algn="r">
              <a:lnSpc>
                <a:spcPct val="95729"/>
              </a:lnSpc>
              <a:spcBef>
                <a:spcPts val="2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Impactul adopt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PAC asupra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</a:t>
            </a:r>
            <a:r>
              <a:rPr sz="900" spc="1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Eval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rea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ii </a:t>
            </a: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                    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deci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politici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</a:t>
            </a: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neş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                                                         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este 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portan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tex- </a:t>
            </a: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stimula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                                             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goc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ril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a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66332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ECONOMIE 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petiti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                                                            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 şi 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lua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unor</a:t>
            </a:r>
            <a:endParaRPr sz="900">
              <a:latin typeface="Times New Roman"/>
              <a:cs typeface="Times New Roman"/>
            </a:endParaRPr>
          </a:p>
          <a:p>
            <a:pPr marL="1616598" marR="473051" indent="-880121">
              <a:lnSpc>
                <a:spcPts val="1019"/>
              </a:lnSpc>
              <a:spcBef>
                <a:spcPts val="71"/>
              </a:spcBef>
              <a:tabLst>
                <a:tab pos="16129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AGRARA	</a:t>
            </a:r>
            <a:r>
              <a:rPr sz="900" spc="0" dirty="0" smtClean="0">
                <a:latin typeface="Times New Roman"/>
                <a:cs typeface="Times New Roman"/>
              </a:rPr>
              <a:t>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rad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ma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zii de pol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tica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cola preluc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                                                                                 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ioada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preade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1565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3</a:t>
            </a:r>
            <a:r>
              <a:rPr sz="1000" spc="0" dirty="0" smtClean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object 142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125980" y="62445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701796" y="624458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493514" y="62445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521708" y="624458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501640" y="624458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121408" y="620267"/>
            <a:ext cx="0" cy="544068"/>
          </a:xfrm>
          <a:custGeom>
            <a:avLst/>
            <a:gdLst/>
            <a:ahLst/>
            <a:cxnLst/>
            <a:rect l="l" t="t" r="r" b="b"/>
            <a:pathLst>
              <a:path h="544068">
                <a:moveTo>
                  <a:pt x="0" y="0"/>
                </a:moveTo>
                <a:lnTo>
                  <a:pt x="0" y="544068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933069" y="610742"/>
            <a:ext cx="0" cy="581787"/>
          </a:xfrm>
          <a:custGeom>
            <a:avLst/>
            <a:gdLst/>
            <a:ahLst/>
            <a:cxnLst/>
            <a:rect l="l" t="t" r="r" b="b"/>
            <a:pathLst>
              <a:path h="581787">
                <a:moveTo>
                  <a:pt x="0" y="0"/>
                </a:moveTo>
                <a:lnTo>
                  <a:pt x="0" y="581787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918972" y="1178432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2116836" y="1178432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706368" y="634364"/>
            <a:ext cx="0" cy="529971"/>
          </a:xfrm>
          <a:custGeom>
            <a:avLst/>
            <a:gdLst/>
            <a:ahLst/>
            <a:cxnLst/>
            <a:rect l="l" t="t" r="r" b="b"/>
            <a:pathLst>
              <a:path h="529971">
                <a:moveTo>
                  <a:pt x="0" y="0"/>
                </a:moveTo>
                <a:lnTo>
                  <a:pt x="0" y="52997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701796" y="1178432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498086" y="634364"/>
            <a:ext cx="0" cy="529971"/>
          </a:xfrm>
          <a:custGeom>
            <a:avLst/>
            <a:gdLst/>
            <a:ahLst/>
            <a:cxnLst/>
            <a:rect l="l" t="t" r="r" b="b"/>
            <a:pathLst>
              <a:path h="529971">
                <a:moveTo>
                  <a:pt x="0" y="0"/>
                </a:moveTo>
                <a:lnTo>
                  <a:pt x="0" y="52997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493514" y="117843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521708" y="1178432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506212" y="634364"/>
            <a:ext cx="0" cy="529971"/>
          </a:xfrm>
          <a:custGeom>
            <a:avLst/>
            <a:gdLst/>
            <a:ahLst/>
            <a:cxnLst/>
            <a:rect l="l" t="t" r="r" b="b"/>
            <a:pathLst>
              <a:path h="529971">
                <a:moveTo>
                  <a:pt x="0" y="0"/>
                </a:moveTo>
                <a:lnTo>
                  <a:pt x="0" y="52997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501640" y="1178432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6837807" y="610361"/>
            <a:ext cx="0" cy="582168"/>
          </a:xfrm>
          <a:custGeom>
            <a:avLst/>
            <a:gdLst/>
            <a:ahLst/>
            <a:cxnLst/>
            <a:rect l="l" t="t" r="r" b="b"/>
            <a:pathLst>
              <a:path h="582168">
                <a:moveTo>
                  <a:pt x="0" y="0"/>
                </a:moveTo>
                <a:lnTo>
                  <a:pt x="0" y="582168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18972" y="1382649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116836" y="1382649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701796" y="1382649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493514" y="138264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521708" y="1382649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501640" y="1382649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947166" y="259384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125980" y="259384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10940" y="259384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502658" y="259384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510784" y="259384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947166" y="2997707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2125980" y="2997707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710940" y="2997707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502658" y="2997707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510784" y="2997707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47166" y="419023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125980" y="419023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710940" y="419023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502658" y="419023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510784" y="419023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47166" y="656539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125980" y="656539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710940" y="656539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502658" y="656539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510784" y="656539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947166" y="7908036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125980" y="790803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710940" y="790803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502658" y="790803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510784" y="7908036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947166" y="8574786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125980" y="857478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710940" y="857478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502658" y="857478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510784" y="8574786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933069" y="1368932"/>
            <a:ext cx="0" cy="8158353"/>
          </a:xfrm>
          <a:custGeom>
            <a:avLst/>
            <a:gdLst/>
            <a:ahLst/>
            <a:cxnLst/>
            <a:rect l="l" t="t" r="r" b="b"/>
            <a:pathLst>
              <a:path h="8158353">
                <a:moveTo>
                  <a:pt x="0" y="0"/>
                </a:moveTo>
                <a:lnTo>
                  <a:pt x="0" y="8158353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918972" y="9513189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125980" y="205816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710940" y="205816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502658" y="205816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510784" y="205816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2125980" y="696925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710940" y="696925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502658" y="696925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510784" y="696925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2125980" y="7504176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710940" y="7504176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502658" y="7504176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510784" y="7504176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121408" y="1392554"/>
            <a:ext cx="0" cy="8106537"/>
          </a:xfrm>
          <a:custGeom>
            <a:avLst/>
            <a:gdLst/>
            <a:ahLst/>
            <a:cxnLst/>
            <a:rect l="l" t="t" r="r" b="b"/>
            <a:pathLst>
              <a:path h="8106537">
                <a:moveTo>
                  <a:pt x="0" y="0"/>
                </a:moveTo>
                <a:lnTo>
                  <a:pt x="0" y="8106537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116836" y="9513189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06368" y="1392554"/>
            <a:ext cx="0" cy="8106537"/>
          </a:xfrm>
          <a:custGeom>
            <a:avLst/>
            <a:gdLst/>
            <a:ahLst/>
            <a:cxnLst/>
            <a:rect l="l" t="t" r="r" b="b"/>
            <a:pathLst>
              <a:path h="8106537">
                <a:moveTo>
                  <a:pt x="0" y="0"/>
                </a:moveTo>
                <a:lnTo>
                  <a:pt x="0" y="8106537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701796" y="9513189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498086" y="1392554"/>
            <a:ext cx="0" cy="8106537"/>
          </a:xfrm>
          <a:custGeom>
            <a:avLst/>
            <a:gdLst/>
            <a:ahLst/>
            <a:cxnLst/>
            <a:rect l="l" t="t" r="r" b="b"/>
            <a:pathLst>
              <a:path h="8106537">
                <a:moveTo>
                  <a:pt x="0" y="0"/>
                </a:moveTo>
                <a:lnTo>
                  <a:pt x="0" y="8106537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493514" y="951318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521708" y="9513189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506212" y="1392554"/>
            <a:ext cx="0" cy="8106537"/>
          </a:xfrm>
          <a:custGeom>
            <a:avLst/>
            <a:gdLst/>
            <a:ahLst/>
            <a:cxnLst/>
            <a:rect l="l" t="t" r="r" b="b"/>
            <a:pathLst>
              <a:path h="8106537">
                <a:moveTo>
                  <a:pt x="0" y="0"/>
                </a:moveTo>
                <a:lnTo>
                  <a:pt x="0" y="8106537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501640" y="9513189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837807" y="1368552"/>
            <a:ext cx="0" cy="8158734"/>
          </a:xfrm>
          <a:custGeom>
            <a:avLst/>
            <a:gdLst/>
            <a:ahLst/>
            <a:cxnLst/>
            <a:rect l="l" t="t" r="r" b="b"/>
            <a:pathLst>
              <a:path h="8158734">
                <a:moveTo>
                  <a:pt x="0" y="0"/>
                </a:moveTo>
                <a:lnTo>
                  <a:pt x="0" y="8158734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33069" y="1382648"/>
            <a:ext cx="1188339" cy="1211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2121408" y="1382648"/>
            <a:ext cx="1584960" cy="675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3706368" y="1382648"/>
            <a:ext cx="791717" cy="675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4498086" y="1382648"/>
            <a:ext cx="1008126" cy="675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5506212" y="1382648"/>
            <a:ext cx="1331595" cy="675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2121408" y="2058161"/>
            <a:ext cx="1584960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3706368" y="2058161"/>
            <a:ext cx="791717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4498086" y="2058161"/>
            <a:ext cx="1008126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5506212" y="2058161"/>
            <a:ext cx="1331595" cy="5356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933069" y="2593848"/>
            <a:ext cx="1188339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2121408" y="2593848"/>
            <a:ext cx="1584960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3706368" y="2593848"/>
            <a:ext cx="791717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4498086" y="2593848"/>
            <a:ext cx="1008126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5506212" y="2593848"/>
            <a:ext cx="1331595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933069" y="2997707"/>
            <a:ext cx="1188339" cy="1192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2121408" y="2997707"/>
            <a:ext cx="1584960" cy="1192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3706368" y="2997707"/>
            <a:ext cx="791717" cy="1192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4498086" y="2997707"/>
            <a:ext cx="1008126" cy="1192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5506212" y="2997707"/>
            <a:ext cx="1331595" cy="11925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933069" y="4190238"/>
            <a:ext cx="1188339" cy="2375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2121408" y="4190238"/>
            <a:ext cx="1584960" cy="2375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3706368" y="4190238"/>
            <a:ext cx="791717" cy="2375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4498086" y="4190238"/>
            <a:ext cx="1008126" cy="2375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5506212" y="4190238"/>
            <a:ext cx="1331595" cy="2375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933069" y="6565392"/>
            <a:ext cx="1188339" cy="13426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2121408" y="6565392"/>
            <a:ext cx="1584960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3706368" y="6565392"/>
            <a:ext cx="791717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4498086" y="6565392"/>
            <a:ext cx="1008126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5506212" y="6565392"/>
            <a:ext cx="1331595" cy="403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2121408" y="6969252"/>
            <a:ext cx="1584960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3706368" y="6969252"/>
            <a:ext cx="791717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4498086" y="6969252"/>
            <a:ext cx="1008126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5506212" y="6969252"/>
            <a:ext cx="1331595" cy="5349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2121408" y="7504176"/>
            <a:ext cx="1584960" cy="403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3706368" y="7504176"/>
            <a:ext cx="791717" cy="403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4498086" y="7504176"/>
            <a:ext cx="1008126" cy="403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5506212" y="7504176"/>
            <a:ext cx="1331595" cy="4038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933069" y="7908036"/>
            <a:ext cx="1188339" cy="666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21408" y="7908036"/>
            <a:ext cx="1584960" cy="666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706368" y="7908036"/>
            <a:ext cx="791717" cy="666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498086" y="7908036"/>
            <a:ext cx="1008126" cy="666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506212" y="7908036"/>
            <a:ext cx="1331595" cy="6667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933069" y="8574786"/>
            <a:ext cx="1188339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121408" y="8574786"/>
            <a:ext cx="1584960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706368" y="8574786"/>
            <a:ext cx="791717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98086" y="8574786"/>
            <a:ext cx="1008126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506212" y="8574786"/>
            <a:ext cx="1331595" cy="93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33069" y="624458"/>
            <a:ext cx="1188339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624458"/>
            <a:ext cx="1584960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624458"/>
            <a:ext cx="791717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624458"/>
            <a:ext cx="1008126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506212" y="624458"/>
            <a:ext cx="1331595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1616583">
              <a:lnSpc>
                <a:spcPct val="95825"/>
              </a:lnSpc>
              <a:spcBef>
                <a:spcPts val="1593"/>
              </a:spcBef>
            </a:pP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roiec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area şi 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Organiza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pie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83" marR="434736">
              <a:lnSpc>
                <a:spcPts val="1030"/>
              </a:lnSpc>
              <a:spcBef>
                <a:spcPts val="71"/>
              </a:spcBef>
            </a:pPr>
            <a:r>
              <a:rPr sz="900" spc="0" dirty="0" smtClean="0">
                <a:latin typeface="Times New Roman"/>
                <a:cs typeface="Times New Roman"/>
              </a:rPr>
              <a:t>unei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line pe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  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on-line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 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rada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ile a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ând la ba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</a:t>
            </a:r>
            <a:r>
              <a:rPr sz="900" spc="2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deci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politici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gradab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endParaRPr sz="900">
              <a:latin typeface="Times New Roman"/>
              <a:cs typeface="Times New Roman"/>
            </a:endParaRPr>
          </a:p>
          <a:p>
            <a:pPr marL="1616583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solu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e-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mm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179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Moderniza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     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Studii     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torii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nta</a:t>
            </a:r>
            <a:r>
              <a:rPr sz="900" spc="-4" dirty="0" smtClean="0">
                <a:latin typeface="Times New Roman"/>
                <a:cs typeface="Times New Roman"/>
              </a:rPr>
              <a:t>b</a:t>
            </a:r>
            <a:r>
              <a:rPr sz="900" spc="0" dirty="0" smtClean="0">
                <a:latin typeface="Times New Roman"/>
                <a:cs typeface="Times New Roman"/>
              </a:rPr>
              <a:t>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515489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E-    </a:t>
            </a:r>
            <a:r>
              <a:rPr sz="900" b="1" spc="1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clo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al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Document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           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carto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culti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endParaRPr sz="900">
              <a:latin typeface="Times New Roman"/>
              <a:cs typeface="Times New Roman"/>
            </a:endParaRPr>
          </a:p>
          <a:p>
            <a:pPr marL="58712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rebază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 cartof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endParaRPr sz="900">
              <a:latin typeface="Times New Roman"/>
              <a:cs typeface="Times New Roman"/>
            </a:endParaRPr>
          </a:p>
          <a:p>
            <a:pPr marL="496446">
              <a:lnSpc>
                <a:spcPts val="1030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CARTOF   </a:t>
            </a:r>
            <a:r>
              <a:rPr sz="900" b="1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nţă</a:t>
            </a:r>
            <a:endParaRPr sz="900">
              <a:latin typeface="Times New Roman"/>
              <a:cs typeface="Times New Roman"/>
            </a:endParaRPr>
          </a:p>
          <a:p>
            <a:pPr marL="69380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ŞI SFECLĂ</a:t>
            </a:r>
            <a:endParaRPr sz="900">
              <a:latin typeface="Times New Roman"/>
              <a:cs typeface="Times New Roman"/>
            </a:endParaRPr>
          </a:p>
          <a:p>
            <a:pPr marL="686950">
              <a:lnSpc>
                <a:spcPts val="1088"/>
              </a:lnSpc>
              <a:spcBef>
                <a:spcPts val="5"/>
              </a:spcBef>
            </a:pPr>
            <a:r>
              <a:rPr sz="1350" b="1" spc="0" baseline="3220" dirty="0" smtClean="0">
                <a:latin typeface="Times New Roman"/>
                <a:cs typeface="Times New Roman"/>
              </a:rPr>
              <a:t>DE</a:t>
            </a:r>
            <a:r>
              <a:rPr sz="1350" b="1" spc="9" baseline="3220" dirty="0" smtClean="0">
                <a:latin typeface="Times New Roman"/>
                <a:cs typeface="Times New Roman"/>
              </a:rPr>
              <a:t> </a:t>
            </a:r>
            <a:r>
              <a:rPr sz="1350" b="1" spc="-9" baseline="3220" dirty="0" smtClean="0">
                <a:latin typeface="Times New Roman"/>
                <a:cs typeface="Times New Roman"/>
              </a:rPr>
              <a:t>Z</a:t>
            </a:r>
            <a:r>
              <a:rPr sz="1350" b="1" spc="0" baseline="3220" dirty="0" smtClean="0">
                <a:latin typeface="Times New Roman"/>
                <a:cs typeface="Times New Roman"/>
              </a:rPr>
              <a:t>AH</a:t>
            </a:r>
            <a:r>
              <a:rPr sz="1350" b="1" spc="4" baseline="3220" dirty="0" smtClean="0">
                <a:latin typeface="Times New Roman"/>
                <a:cs typeface="Times New Roman"/>
              </a:rPr>
              <a:t>Ă</a:t>
            </a:r>
            <a:r>
              <a:rPr sz="1350" b="1" spc="0" baseline="3220" dirty="0" smtClean="0">
                <a:latin typeface="Times New Roman"/>
                <a:cs typeface="Times New Roman"/>
              </a:rPr>
              <a:t>R          </a:t>
            </a:r>
            <a:r>
              <a:rPr sz="1350" b="1" spc="120" baseline="3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rformante,        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Tehnologie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ROCLIP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para</a:t>
            </a:r>
            <a:r>
              <a:rPr sz="900" spc="-4" dirty="0" smtClean="0">
                <a:latin typeface="Times New Roman"/>
                <a:cs typeface="Times New Roman"/>
              </a:rPr>
              <a:t>me</a:t>
            </a:r>
            <a:r>
              <a:rPr sz="900" spc="0" dirty="0" smtClean="0">
                <a:latin typeface="Times New Roman"/>
                <a:cs typeface="Times New Roman"/>
              </a:rPr>
              <a:t>trilor de</a:t>
            </a:r>
            <a:endParaRPr sz="900">
              <a:latin typeface="Times New Roman"/>
              <a:cs typeface="Times New Roman"/>
            </a:endParaRPr>
          </a:p>
          <a:p>
            <a:pPr marL="1616609" marR="562882" indent="-867171">
              <a:lnSpc>
                <a:spcPts val="1040"/>
              </a:lnSpc>
              <a:spcBef>
                <a:spcPts val="57"/>
              </a:spcBef>
            </a:pPr>
            <a:r>
              <a:rPr sz="1350" b="1" spc="0" baseline="3220" dirty="0" smtClean="0">
                <a:latin typeface="Times New Roman"/>
                <a:cs typeface="Times New Roman"/>
              </a:rPr>
              <a:t>BRAŞOV            </a:t>
            </a:r>
            <a:r>
              <a:rPr sz="1350" b="1" spc="155" baseline="32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nepolua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eşte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str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                       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te ai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rtofi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or la duratei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dep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zitare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 cartoful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ivel                            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nivelul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rdelor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UE.</a:t>
            </a:r>
            <a:endParaRPr sz="900">
              <a:latin typeface="Times New Roman"/>
              <a:cs typeface="Times New Roman"/>
            </a:endParaRPr>
          </a:p>
          <a:p>
            <a:pPr marL="3333451" marR="2915497" algn="ct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laborator</a:t>
            </a:r>
            <a:endParaRPr sz="900">
              <a:latin typeface="Times New Roman"/>
              <a:cs typeface="Times New Roman"/>
            </a:endParaRPr>
          </a:p>
          <a:p>
            <a:pPr marL="576452">
              <a:lnSpc>
                <a:spcPct val="95825"/>
              </a:lnSpc>
              <a:spcBef>
                <a:spcPts val="3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SC AGROSERV      </a:t>
            </a:r>
            <a:r>
              <a:rPr sz="900" b="1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forma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ev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lua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15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Standar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Angajato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SC AGROSERV</a:t>
            </a:r>
            <a:endParaRPr sz="900">
              <a:latin typeface="Times New Roman"/>
              <a:cs typeface="Times New Roman"/>
            </a:endParaRPr>
          </a:p>
          <a:p>
            <a:pPr marL="555113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MANAGEMENT     </a:t>
            </a:r>
            <a:r>
              <a:rPr sz="900" b="1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ba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ă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ocup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ionale                          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icultura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GEMENT SRL</a:t>
            </a:r>
            <a:endParaRPr sz="900">
              <a:latin typeface="Times New Roman"/>
              <a:cs typeface="Times New Roman"/>
            </a:endParaRPr>
          </a:p>
          <a:p>
            <a:pPr marL="875918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SRL                 </a:t>
            </a:r>
            <a:r>
              <a:rPr sz="900" b="1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icu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tură</a:t>
            </a:r>
            <a:endParaRPr sz="900">
              <a:latin typeface="Times New Roman"/>
              <a:cs typeface="Times New Roman"/>
            </a:endParaRPr>
          </a:p>
          <a:p>
            <a:pPr marL="456819">
              <a:lnSpc>
                <a:spcPct val="95825"/>
              </a:lnSpc>
              <a:spcBef>
                <a:spcPts val="2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ROD</a:t>
            </a:r>
            <a:r>
              <a:rPr sz="900" b="1" spc="-9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X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IMPEX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ezvolta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unei       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abrici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cap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1616586" marR="483182" indent="-740663">
              <a:lnSpc>
                <a:spcPct val="95441"/>
              </a:lnSpc>
              <a:spcBef>
                <a:spcPts val="5"/>
              </a:spcBef>
              <a:tabLst>
                <a:tab pos="1612900" algn="l"/>
              </a:tabLst>
            </a:pPr>
            <a:r>
              <a:rPr sz="900" b="1" spc="0" dirty="0" smtClean="0">
                <a:latin typeface="Times New Roman"/>
                <a:cs typeface="Times New Roman"/>
              </a:rPr>
              <a:t>SRL	</a:t>
            </a:r>
            <a:r>
              <a:rPr sz="900" spc="0" dirty="0" smtClean="0">
                <a:latin typeface="Times New Roman"/>
                <a:cs typeface="Times New Roman"/>
              </a:rPr>
              <a:t>fa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ilii de apa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ate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b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lat în                             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consumatorilor folie 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ast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ca tip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stre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h,                                             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Abatoare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Atingerea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standardelor destina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rc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Marile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ntre      </a:t>
            </a:r>
            <a:r>
              <a:rPr sz="900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europene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calitate 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alimentare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</a:t>
            </a:r>
            <a:r>
              <a:rPr sz="900" spc="17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rci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ctorul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 panifica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                                                               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dist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ibu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 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pia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terna</a:t>
            </a:r>
            <a:endParaRPr sz="900">
              <a:latin typeface="Times New Roman"/>
              <a:cs typeface="Times New Roman"/>
            </a:endParaRPr>
          </a:p>
          <a:p>
            <a:pPr marL="4250824" marR="505260" indent="-42668">
              <a:lnSpc>
                <a:spcPts val="1040"/>
              </a:lnSpc>
              <a:spcBef>
                <a:spcPts val="57"/>
              </a:spcBef>
            </a:pP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produselor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rna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ionala 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</a:t>
            </a:r>
            <a:r>
              <a:rPr sz="900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cifr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af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ceri</a:t>
            </a:r>
            <a:endParaRPr sz="900">
              <a:latin typeface="Times New Roman"/>
              <a:cs typeface="Times New Roman"/>
            </a:endParaRPr>
          </a:p>
          <a:p>
            <a:pPr marR="1057488" algn="r">
              <a:lnSpc>
                <a:spcPts val="1019"/>
              </a:lnSpc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itul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i.</a:t>
            </a:r>
            <a:endParaRPr sz="900">
              <a:latin typeface="Times New Roman"/>
              <a:cs typeface="Times New Roman"/>
            </a:endParaRPr>
          </a:p>
          <a:p>
            <a:pPr marL="590165" marR="481972" indent="-74672">
              <a:lnSpc>
                <a:spcPct val="95825"/>
              </a:lnSpc>
              <a:spcBef>
                <a:spcPts val="39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SERICAROM    </a:t>
            </a:r>
            <a:r>
              <a:rPr sz="900" b="1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adului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               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          </a:t>
            </a:r>
            <a:r>
              <a:rPr sz="900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V.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Cluj-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ch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ltu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A.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–</a:t>
            </a:r>
            <a:r>
              <a:rPr sz="900" b="1" spc="-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FILIALA       </a:t>
            </a:r>
            <a:r>
              <a:rPr sz="900" b="1" spc="3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ecani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 şi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ctivi</a:t>
            </a:r>
            <a:r>
              <a:rPr sz="900" spc="4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Napoca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studen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/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kg gogoşi 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 </a:t>
            </a:r>
            <a:r>
              <a:rPr sz="900" b="1" spc="0" dirty="0" smtClean="0">
                <a:latin typeface="Times New Roman"/>
                <a:cs typeface="Times New Roman"/>
              </a:rPr>
              <a:t>CERCET</a:t>
            </a:r>
            <a:r>
              <a:rPr sz="900" b="1" spc="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RE        </a:t>
            </a:r>
            <a:r>
              <a:rPr sz="900" b="1" spc="10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uncii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cic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ltura prin                                        </a:t>
            </a:r>
            <a:r>
              <a:rPr sz="900" spc="1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Fac.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 Zootehnie   </a:t>
            </a:r>
            <a:r>
              <a:rPr sz="900" spc="11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20%</a:t>
            </a:r>
            <a:endParaRPr sz="900">
              <a:latin typeface="Times New Roman"/>
              <a:cs typeface="Times New Roman"/>
            </a:endParaRPr>
          </a:p>
          <a:p>
            <a:pPr marL="1616590" marR="549706" indent="-902227">
              <a:lnSpc>
                <a:spcPts val="1010"/>
              </a:lnSpc>
              <a:spcBef>
                <a:spcPts val="8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BĂNEA</a:t>
            </a:r>
            <a:r>
              <a:rPr sz="900" b="1" spc="4" dirty="0" smtClean="0">
                <a:latin typeface="Times New Roman"/>
                <a:cs typeface="Times New Roman"/>
              </a:rPr>
              <a:t>S</a:t>
            </a:r>
            <a:r>
              <a:rPr sz="900" b="1" spc="0" dirty="0" smtClean="0">
                <a:latin typeface="Times New Roman"/>
                <a:cs typeface="Times New Roman"/>
              </a:rPr>
              <a:t>A           </a:t>
            </a:r>
            <a:r>
              <a:rPr sz="900" b="1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aşinii de cu</a:t>
            </a:r>
            <a:r>
              <a:rPr sz="900" spc="-9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                         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Grup Şcolar Agricol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ularea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tă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de scama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gog</a:t>
            </a:r>
            <a:r>
              <a:rPr sz="900" spc="-9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şile de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tase                                     </a:t>
            </a:r>
            <a:r>
              <a:rPr sz="900" spc="19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„V.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H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aj”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producere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gog</a:t>
            </a:r>
            <a:r>
              <a:rPr sz="900" spc="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şilor de</a:t>
            </a:r>
            <a:endParaRPr sz="900">
              <a:latin typeface="Times New Roman"/>
              <a:cs typeface="Times New Roman"/>
            </a:endParaRPr>
          </a:p>
          <a:p>
            <a:pPr marL="4115943" marR="548629" indent="-58670">
              <a:lnSpc>
                <a:spcPts val="1030"/>
              </a:lnSpc>
              <a:spcBef>
                <a:spcPts val="10"/>
              </a:spcBef>
            </a:pPr>
            <a:r>
              <a:rPr sz="900" spc="0" dirty="0" smtClean="0">
                <a:latin typeface="Times New Roman"/>
                <a:cs typeface="Times New Roman"/>
              </a:rPr>
              <a:t>Bucur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şti – ele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ii   </a:t>
            </a:r>
            <a:r>
              <a:rPr sz="900" spc="17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tase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urmare a grupului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lar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reduce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ch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ltui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lor/kg</a:t>
            </a:r>
            <a:endParaRPr sz="900">
              <a:latin typeface="Times New Roman"/>
              <a:cs typeface="Times New Roman"/>
            </a:endParaRPr>
          </a:p>
          <a:p>
            <a:pPr marL="3994042" marR="896063" indent="215638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Cresc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gogoşi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se </a:t>
            </a:r>
            <a:r>
              <a:rPr sz="900" spc="0" dirty="0" smtClean="0">
                <a:latin typeface="Times New Roman"/>
                <a:cs typeface="Times New Roman"/>
              </a:rPr>
              <a:t>particula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viermi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Sursa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nitu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4068714" marR="491769" indent="77723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tase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      </a:t>
            </a:r>
            <a:r>
              <a:rPr sz="900" spc="19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suplimentare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 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unele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rea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popul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medi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endParaRPr sz="900">
              <a:latin typeface="Times New Roman"/>
              <a:cs typeface="Times New Roman"/>
            </a:endParaRPr>
          </a:p>
          <a:p>
            <a:pPr marL="4171595" marR="625823" indent="-83827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Val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Roş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    </a:t>
            </a:r>
            <a:r>
              <a:rPr sz="900" spc="1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ine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popul</a:t>
            </a:r>
            <a:r>
              <a:rPr sz="900" spc="-9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jud.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şi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rur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lul </a:t>
            </a:r>
            <a:r>
              <a:rPr sz="900" spc="-4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endParaRPr sz="900">
              <a:latin typeface="Times New Roman"/>
              <a:cs typeface="Times New Roman"/>
            </a:endParaRPr>
          </a:p>
          <a:p>
            <a:pPr marL="4118326" marR="1900254" indent="-579" algn="ctr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icoi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 jud.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Praho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a SERICAROM</a:t>
            </a:r>
            <a:endParaRPr sz="900">
              <a:latin typeface="Times New Roman"/>
              <a:cs typeface="Times New Roman"/>
            </a:endParaRPr>
          </a:p>
          <a:p>
            <a:pPr marL="3985738" marR="1769898" indent="0" algn="ctr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Romexim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Prodcom- PLUS</a:t>
            </a:r>
            <a:endParaRPr sz="900">
              <a:latin typeface="Times New Roman"/>
              <a:cs typeface="Times New Roman"/>
            </a:endParaRPr>
          </a:p>
          <a:p>
            <a:pPr marL="1616579" marR="511347" indent="-1043936">
              <a:lnSpc>
                <a:spcPct val="94962"/>
              </a:lnSpc>
              <a:spcBef>
                <a:spcPts val="3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ROMATEST SA      </a:t>
            </a:r>
            <a:r>
              <a:rPr sz="900" b="1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Toc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toare 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ipurt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tă pentru 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Prototip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AZOMA SA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pţ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noua preg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irea hra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ş</a:t>
            </a:r>
            <a:r>
              <a:rPr sz="900" spc="0" dirty="0" smtClean="0">
                <a:latin typeface="Times New Roman"/>
                <a:cs typeface="Times New Roman"/>
              </a:rPr>
              <a:t>i a                                                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Arad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corespun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 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şternut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în zooteh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ie                                           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tive UE</a:t>
            </a:r>
            <a:endParaRPr sz="900">
              <a:latin typeface="Times New Roman"/>
              <a:cs typeface="Times New Roman"/>
            </a:endParaRPr>
          </a:p>
          <a:p>
            <a:pPr marL="1616583" marR="457400">
              <a:lnSpc>
                <a:spcPct val="96112"/>
              </a:lnSpc>
              <a:spcBef>
                <a:spcPts val="75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Proiect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tehn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logic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ind                   </a:t>
            </a:r>
            <a:r>
              <a:rPr sz="900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Proiect      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AGRO-       </a:t>
            </a:r>
            <a:r>
              <a:rPr sz="900" spc="14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Reintrod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în circ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itul tehnologia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econ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                                 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UNIVERSAL SA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economic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ieselor</a:t>
            </a:r>
            <a:endParaRPr sz="900">
              <a:latin typeface="Times New Roman"/>
              <a:cs typeface="Times New Roman"/>
            </a:endParaRPr>
          </a:p>
          <a:p>
            <a:pPr marL="1616583" marR="1156028">
              <a:lnSpc>
                <a:spcPts val="1040"/>
              </a:lnSpc>
              <a:spcBef>
                <a:spcPts val="52"/>
              </a:spcBef>
            </a:pP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pelor                                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MĂN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STIREA    </a:t>
            </a:r>
            <a:r>
              <a:rPr sz="900" spc="1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precizie.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je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-4" dirty="0" smtClean="0">
                <a:latin typeface="Times New Roman"/>
                <a:cs typeface="Times New Roman"/>
              </a:rPr>
              <a:t> 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endParaRPr sz="900">
              <a:latin typeface="Times New Roman"/>
              <a:cs typeface="Times New Roman"/>
            </a:endParaRPr>
          </a:p>
          <a:p>
            <a:pPr marL="1616583" marR="511343" indent="0">
              <a:lnSpc>
                <a:spcPct val="95825"/>
              </a:lnSpc>
              <a:spcBef>
                <a:spcPts val="7"/>
              </a:spcBef>
            </a:pPr>
            <a:r>
              <a:rPr sz="900" spc="0" dirty="0" smtClean="0">
                <a:latin typeface="Times New Roman"/>
                <a:cs typeface="Times New Roman"/>
              </a:rPr>
              <a:t>Toc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toare se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ipurt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tă pentru 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Prototip         </a:t>
            </a:r>
            <a:r>
              <a:rPr sz="900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AZOMA SA   </a:t>
            </a:r>
            <a:r>
              <a:rPr sz="900" spc="1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-4" dirty="0" smtClean="0">
                <a:latin typeface="Times New Roman"/>
                <a:cs typeface="Times New Roman"/>
              </a:rPr>
              <a:t>pţ</a:t>
            </a:r>
            <a:r>
              <a:rPr sz="900" spc="0" dirty="0" smtClean="0">
                <a:latin typeface="Times New Roman"/>
                <a:cs typeface="Times New Roman"/>
              </a:rPr>
              <a:t>ie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noua preg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irea hra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ş</a:t>
            </a:r>
            <a:r>
              <a:rPr sz="900" spc="0" dirty="0" smtClean="0">
                <a:latin typeface="Times New Roman"/>
                <a:cs typeface="Times New Roman"/>
              </a:rPr>
              <a:t>i a                                                         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Arad             </a:t>
            </a:r>
            <a:r>
              <a:rPr sz="900" spc="2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corespun</a:t>
            </a:r>
            <a:r>
              <a:rPr sz="900" spc="4" dirty="0" smtClean="0">
                <a:latin typeface="Times New Roman"/>
                <a:cs typeface="Times New Roman"/>
              </a:rPr>
              <a:t>z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tor ce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elor 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şternut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lui în zooteh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ie                                           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tive UE.</a:t>
            </a:r>
            <a:endParaRPr sz="900">
              <a:latin typeface="Times New Roman"/>
              <a:cs typeface="Times New Roman"/>
            </a:endParaRPr>
          </a:p>
          <a:p>
            <a:pPr marL="644267" marR="533027" indent="-49526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C.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ICPE – CA       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ventila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Proiect          </a:t>
            </a:r>
            <a:r>
              <a:rPr sz="900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BERIMPEX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 </a:t>
            </a:r>
            <a:r>
              <a:rPr sz="900" b="1" spc="0" dirty="0" smtClean="0">
                <a:latin typeface="Times New Roman"/>
                <a:cs typeface="Times New Roman"/>
              </a:rPr>
              <a:t>CERCET</a:t>
            </a:r>
            <a:r>
              <a:rPr sz="900" b="1" spc="4" dirty="0" smtClean="0">
                <a:latin typeface="Times New Roman"/>
                <a:cs typeface="Times New Roman"/>
              </a:rPr>
              <a:t>Ă</a:t>
            </a:r>
            <a:r>
              <a:rPr sz="900" b="1" spc="0" dirty="0" smtClean="0">
                <a:latin typeface="Times New Roman"/>
                <a:cs typeface="Times New Roman"/>
              </a:rPr>
              <a:t>RI         </a:t>
            </a:r>
            <a:r>
              <a:rPr sz="900" b="1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exploata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zooteh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                                                    </a:t>
            </a:r>
            <a:r>
              <a:rPr sz="900" spc="1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              </a:t>
            </a:r>
            <a:r>
              <a:rPr sz="900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modern,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mondial </a:t>
            </a:r>
            <a:r>
              <a:rPr sz="900" b="1" spc="0" dirty="0" smtClean="0">
                <a:latin typeface="Times New Roman"/>
                <a:cs typeface="Times New Roman"/>
              </a:rPr>
              <a:t>AVA</a:t>
            </a:r>
            <a:r>
              <a:rPr sz="900" b="1" spc="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SATE          </a:t>
            </a:r>
            <a:r>
              <a:rPr sz="900" b="1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sistemele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depozitare,</a:t>
            </a:r>
            <a:endParaRPr sz="900">
              <a:latin typeface="Times New Roman"/>
              <a:cs typeface="Times New Roman"/>
            </a:endParaRPr>
          </a:p>
          <a:p>
            <a:pPr marL="1616571">
              <a:lnSpc>
                <a:spcPts val="1015"/>
              </a:lnSpc>
              <a:spcBef>
                <a:spcPts val="50"/>
              </a:spcBef>
            </a:pPr>
            <a:r>
              <a:rPr sz="900" spc="0" dirty="0" smtClean="0">
                <a:latin typeface="Times New Roman"/>
                <a:cs typeface="Times New Roman"/>
              </a:rPr>
              <a:t>procesare şi conserva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a</a:t>
            </a:r>
            <a:endParaRPr sz="900">
              <a:latin typeface="Times New Roman"/>
              <a:cs typeface="Times New Roman"/>
            </a:endParaRPr>
          </a:p>
          <a:p>
            <a:pPr marL="1616582">
              <a:lnSpc>
                <a:spcPct val="95825"/>
              </a:lnSpc>
            </a:pPr>
            <a:r>
              <a:rPr sz="900" spc="0" dirty="0" smtClean="0">
                <a:latin typeface="Times New Roman"/>
                <a:cs typeface="Times New Roman"/>
              </a:rPr>
              <a:t>produselor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alimenta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 complex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               </a:t>
            </a:r>
            <a:r>
              <a:rPr sz="900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Model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PRSCARUL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 complex</a:t>
            </a:r>
            <a:endParaRPr sz="900">
              <a:latin typeface="Times New Roman"/>
              <a:cs typeface="Times New Roman"/>
            </a:endParaRPr>
          </a:p>
          <a:p>
            <a:pPr marL="67932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NAŢIONAL          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controlul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ambalajelo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destinat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experimental      </a:t>
            </a:r>
            <a:r>
              <a:rPr sz="900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XIFIAS G</a:t>
            </a:r>
            <a:r>
              <a:rPr sz="900" spc="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OUP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trol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nedistr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cti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endParaRPr sz="900">
              <a:latin typeface="Times New Roman"/>
              <a:cs typeface="Times New Roman"/>
            </a:endParaRPr>
          </a:p>
          <a:p>
            <a:pPr marL="53455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perfe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</a:t>
            </a:r>
            <a:r>
              <a:rPr sz="900" spc="-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proces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rii                                       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SA Bu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ureşti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ivel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UE</a:t>
            </a:r>
            <a:endParaRPr sz="900">
              <a:latin typeface="Times New Roman"/>
              <a:cs typeface="Times New Roman"/>
            </a:endParaRPr>
          </a:p>
          <a:p>
            <a:pPr marL="587132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ali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eri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z</a:t>
            </a:r>
            <a:r>
              <a:rPr sz="900" spc="0" dirty="0" smtClean="0">
                <a:latin typeface="Times New Roman"/>
                <a:cs typeface="Times New Roman"/>
              </a:rPr>
              <a:t>are</a:t>
            </a:r>
            <a:endParaRPr sz="900">
              <a:latin typeface="Times New Roman"/>
              <a:cs typeface="Times New Roman"/>
            </a:endParaRPr>
          </a:p>
          <a:p>
            <a:pPr marL="729932" marR="4036235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în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industria alimentară</a:t>
            </a:r>
            <a:endParaRPr sz="900">
              <a:latin typeface="Times New Roman"/>
              <a:cs typeface="Times New Roman"/>
            </a:endParaRPr>
          </a:p>
          <a:p>
            <a:pPr marL="447697" marR="5157794" indent="22094">
              <a:lnSpc>
                <a:spcPts val="1040"/>
              </a:lnSpc>
              <a:spcBef>
                <a:spcPts val="57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MECANI</a:t>
            </a:r>
            <a:r>
              <a:rPr sz="900" b="1" spc="4" dirty="0" smtClean="0">
                <a:latin typeface="Times New Roman"/>
                <a:cs typeface="Times New Roman"/>
              </a:rPr>
              <a:t>C</a:t>
            </a:r>
            <a:r>
              <a:rPr sz="900" b="1" spc="0" dirty="0" smtClean="0">
                <a:latin typeface="Times New Roman"/>
                <a:cs typeface="Times New Roman"/>
              </a:rPr>
              <a:t>Ă FI</a:t>
            </a:r>
            <a:r>
              <a:rPr sz="900" b="1" spc="-4" dirty="0" smtClean="0">
                <a:latin typeface="Times New Roman"/>
                <a:cs typeface="Times New Roman"/>
              </a:rPr>
              <a:t>N</a:t>
            </a:r>
            <a:r>
              <a:rPr sz="900" b="1" spc="0" dirty="0" smtClean="0">
                <a:latin typeface="Times New Roman"/>
                <a:cs typeface="Times New Roman"/>
              </a:rPr>
              <a:t>Ă – CEFIN 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BUCURE</a:t>
            </a:r>
            <a:r>
              <a:rPr sz="900" b="1" spc="4" dirty="0" smtClean="0">
                <a:latin typeface="Times New Roman"/>
                <a:cs typeface="Times New Roman"/>
              </a:rPr>
              <a:t>Ş</a:t>
            </a:r>
            <a:r>
              <a:rPr sz="900" b="1" spc="0" dirty="0" smtClean="0">
                <a:latin typeface="Times New Roman"/>
                <a:cs typeface="Times New Roman"/>
              </a:rPr>
              <a:t>TI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1842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3</a:t>
            </a:r>
            <a:r>
              <a:rPr sz="1000" spc="0" dirty="0" smtClean="0"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97"/>
          <p:cNvSpPr/>
          <p:nvPr/>
        </p:nvSpPr>
        <p:spPr>
          <a:xfrm>
            <a:off x="896112" y="454532"/>
            <a:ext cx="5978651" cy="0"/>
          </a:xfrm>
          <a:custGeom>
            <a:avLst/>
            <a:gdLst/>
            <a:ahLst/>
            <a:cxnLst/>
            <a:rect l="l" t="t" r="r" b="b"/>
            <a:pathLst>
              <a:path w="5978651">
                <a:moveTo>
                  <a:pt x="0" y="0"/>
                </a:moveTo>
                <a:lnTo>
                  <a:pt x="5978651" y="0"/>
                </a:lnTo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18972" y="624458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2116836" y="624458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701796" y="624458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493514" y="624458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521708" y="624458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501640" y="624458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933069" y="610742"/>
            <a:ext cx="0" cy="581787"/>
          </a:xfrm>
          <a:custGeom>
            <a:avLst/>
            <a:gdLst/>
            <a:ahLst/>
            <a:cxnLst/>
            <a:rect l="l" t="t" r="r" b="b"/>
            <a:pathLst>
              <a:path h="581787">
                <a:moveTo>
                  <a:pt x="0" y="0"/>
                </a:moveTo>
                <a:lnTo>
                  <a:pt x="0" y="581787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918972" y="1178432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121408" y="634364"/>
            <a:ext cx="0" cy="529971"/>
          </a:xfrm>
          <a:custGeom>
            <a:avLst/>
            <a:gdLst/>
            <a:ahLst/>
            <a:cxnLst/>
            <a:rect l="l" t="t" r="r" b="b"/>
            <a:pathLst>
              <a:path h="529971">
                <a:moveTo>
                  <a:pt x="0" y="0"/>
                </a:moveTo>
                <a:lnTo>
                  <a:pt x="0" y="529971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116836" y="1178432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706368" y="634364"/>
            <a:ext cx="0" cy="529971"/>
          </a:xfrm>
          <a:custGeom>
            <a:avLst/>
            <a:gdLst/>
            <a:ahLst/>
            <a:cxnLst/>
            <a:rect l="l" t="t" r="r" b="b"/>
            <a:pathLst>
              <a:path h="529971">
                <a:moveTo>
                  <a:pt x="0" y="0"/>
                </a:moveTo>
                <a:lnTo>
                  <a:pt x="0" y="52997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701796" y="1178432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498086" y="634364"/>
            <a:ext cx="0" cy="529971"/>
          </a:xfrm>
          <a:custGeom>
            <a:avLst/>
            <a:gdLst/>
            <a:ahLst/>
            <a:cxnLst/>
            <a:rect l="l" t="t" r="r" b="b"/>
            <a:pathLst>
              <a:path h="529971">
                <a:moveTo>
                  <a:pt x="0" y="0"/>
                </a:moveTo>
                <a:lnTo>
                  <a:pt x="0" y="52997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493514" y="117843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521708" y="1178432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506212" y="634364"/>
            <a:ext cx="0" cy="529971"/>
          </a:xfrm>
          <a:custGeom>
            <a:avLst/>
            <a:gdLst/>
            <a:ahLst/>
            <a:cxnLst/>
            <a:rect l="l" t="t" r="r" b="b"/>
            <a:pathLst>
              <a:path h="529971">
                <a:moveTo>
                  <a:pt x="0" y="0"/>
                </a:moveTo>
                <a:lnTo>
                  <a:pt x="0" y="529971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501640" y="1178432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837807" y="610361"/>
            <a:ext cx="0" cy="582168"/>
          </a:xfrm>
          <a:custGeom>
            <a:avLst/>
            <a:gdLst/>
            <a:ahLst/>
            <a:cxnLst/>
            <a:rect l="l" t="t" r="r" b="b"/>
            <a:pathLst>
              <a:path h="582168">
                <a:moveTo>
                  <a:pt x="0" y="0"/>
                </a:moveTo>
                <a:lnTo>
                  <a:pt x="0" y="582168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18972" y="1382649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16836" y="1382649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01796" y="1382649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93514" y="138264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521708" y="1382649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01640" y="1382649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47166" y="325069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125980" y="325069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710940" y="325069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502658" y="325069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510784" y="325069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47166" y="4443222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125980" y="444322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10940" y="444322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502658" y="444322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510784" y="444322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47166" y="5241798"/>
            <a:ext cx="1169670" cy="0"/>
          </a:xfrm>
          <a:custGeom>
            <a:avLst/>
            <a:gdLst/>
            <a:ahLst/>
            <a:cxnLst/>
            <a:rect l="l" t="t" r="r" b="b"/>
            <a:pathLst>
              <a:path w="1169670">
                <a:moveTo>
                  <a:pt x="0" y="0"/>
                </a:moveTo>
                <a:lnTo>
                  <a:pt x="1169670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125980" y="5241798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710940" y="5241798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502658" y="5241798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510784" y="5241798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33069" y="1368932"/>
            <a:ext cx="0" cy="4694301"/>
          </a:xfrm>
          <a:custGeom>
            <a:avLst/>
            <a:gdLst/>
            <a:ahLst/>
            <a:cxnLst/>
            <a:rect l="l" t="t" r="r" b="b"/>
            <a:pathLst>
              <a:path h="4694301">
                <a:moveTo>
                  <a:pt x="0" y="0"/>
                </a:moveTo>
                <a:lnTo>
                  <a:pt x="0" y="4694301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918972" y="6049137"/>
            <a:ext cx="1197864" cy="0"/>
          </a:xfrm>
          <a:custGeom>
            <a:avLst/>
            <a:gdLst/>
            <a:ahLst/>
            <a:cxnLst/>
            <a:rect l="l" t="t" r="r" b="b"/>
            <a:pathLst>
              <a:path w="1197864">
                <a:moveTo>
                  <a:pt x="0" y="0"/>
                </a:moveTo>
                <a:lnTo>
                  <a:pt x="119786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125980" y="2583942"/>
            <a:ext cx="1575816" cy="0"/>
          </a:xfrm>
          <a:custGeom>
            <a:avLst/>
            <a:gdLst/>
            <a:ahLst/>
            <a:cxnLst/>
            <a:rect l="l" t="t" r="r" b="b"/>
            <a:pathLst>
              <a:path w="1575816">
                <a:moveTo>
                  <a:pt x="0" y="0"/>
                </a:moveTo>
                <a:lnTo>
                  <a:pt x="1575816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710940" y="2583942"/>
            <a:ext cx="782574" cy="0"/>
          </a:xfrm>
          <a:custGeom>
            <a:avLst/>
            <a:gdLst/>
            <a:ahLst/>
            <a:cxnLst/>
            <a:rect l="l" t="t" r="r" b="b"/>
            <a:pathLst>
              <a:path w="782574">
                <a:moveTo>
                  <a:pt x="0" y="0"/>
                </a:moveTo>
                <a:lnTo>
                  <a:pt x="782574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502658" y="2583942"/>
            <a:ext cx="998982" cy="0"/>
          </a:xfrm>
          <a:custGeom>
            <a:avLst/>
            <a:gdLst/>
            <a:ahLst/>
            <a:cxnLst/>
            <a:rect l="l" t="t" r="r" b="b"/>
            <a:pathLst>
              <a:path w="998982">
                <a:moveTo>
                  <a:pt x="0" y="0"/>
                </a:moveTo>
                <a:lnTo>
                  <a:pt x="998982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510784" y="2583942"/>
            <a:ext cx="1312925" cy="0"/>
          </a:xfrm>
          <a:custGeom>
            <a:avLst/>
            <a:gdLst/>
            <a:ahLst/>
            <a:cxnLst/>
            <a:rect l="l" t="t" r="r" b="b"/>
            <a:pathLst>
              <a:path w="1312925">
                <a:moveTo>
                  <a:pt x="0" y="0"/>
                </a:moveTo>
                <a:lnTo>
                  <a:pt x="1312925" y="0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121408" y="1392554"/>
            <a:ext cx="0" cy="4642485"/>
          </a:xfrm>
          <a:custGeom>
            <a:avLst/>
            <a:gdLst/>
            <a:ahLst/>
            <a:cxnLst/>
            <a:rect l="l" t="t" r="r" b="b"/>
            <a:pathLst>
              <a:path h="4642485">
                <a:moveTo>
                  <a:pt x="0" y="0"/>
                </a:moveTo>
                <a:lnTo>
                  <a:pt x="0" y="4642485"/>
                </a:lnTo>
              </a:path>
            </a:pathLst>
          </a:custGeom>
          <a:ln w="1041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116836" y="6049137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706368" y="1392554"/>
            <a:ext cx="0" cy="4642485"/>
          </a:xfrm>
          <a:custGeom>
            <a:avLst/>
            <a:gdLst/>
            <a:ahLst/>
            <a:cxnLst/>
            <a:rect l="l" t="t" r="r" b="b"/>
            <a:pathLst>
              <a:path h="4642485">
                <a:moveTo>
                  <a:pt x="0" y="0"/>
                </a:moveTo>
                <a:lnTo>
                  <a:pt x="0" y="464248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701796" y="6049137"/>
            <a:ext cx="791718" cy="0"/>
          </a:xfrm>
          <a:custGeom>
            <a:avLst/>
            <a:gdLst/>
            <a:ahLst/>
            <a:cxnLst/>
            <a:rect l="l" t="t" r="r" b="b"/>
            <a:pathLst>
              <a:path w="791718">
                <a:moveTo>
                  <a:pt x="0" y="0"/>
                </a:moveTo>
                <a:lnTo>
                  <a:pt x="791718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498086" y="1392554"/>
            <a:ext cx="0" cy="4642485"/>
          </a:xfrm>
          <a:custGeom>
            <a:avLst/>
            <a:gdLst/>
            <a:ahLst/>
            <a:cxnLst/>
            <a:rect l="l" t="t" r="r" b="b"/>
            <a:pathLst>
              <a:path h="4642485">
                <a:moveTo>
                  <a:pt x="0" y="0"/>
                </a:moveTo>
                <a:lnTo>
                  <a:pt x="0" y="464248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493514" y="6049137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521708" y="6049137"/>
            <a:ext cx="979932" cy="0"/>
          </a:xfrm>
          <a:custGeom>
            <a:avLst/>
            <a:gdLst/>
            <a:ahLst/>
            <a:cxnLst/>
            <a:rect l="l" t="t" r="r" b="b"/>
            <a:pathLst>
              <a:path w="979932">
                <a:moveTo>
                  <a:pt x="0" y="0"/>
                </a:moveTo>
                <a:lnTo>
                  <a:pt x="979932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506212" y="1392554"/>
            <a:ext cx="0" cy="4642485"/>
          </a:xfrm>
          <a:custGeom>
            <a:avLst/>
            <a:gdLst/>
            <a:ahLst/>
            <a:cxnLst/>
            <a:rect l="l" t="t" r="r" b="b"/>
            <a:pathLst>
              <a:path h="4642485">
                <a:moveTo>
                  <a:pt x="0" y="0"/>
                </a:moveTo>
                <a:lnTo>
                  <a:pt x="0" y="4642485"/>
                </a:lnTo>
              </a:path>
            </a:pathLst>
          </a:custGeom>
          <a:ln w="1041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501640" y="6049137"/>
            <a:ext cx="1322069" cy="0"/>
          </a:xfrm>
          <a:custGeom>
            <a:avLst/>
            <a:gdLst/>
            <a:ahLst/>
            <a:cxnLst/>
            <a:rect l="l" t="t" r="r" b="b"/>
            <a:pathLst>
              <a:path w="1322069">
                <a:moveTo>
                  <a:pt x="0" y="0"/>
                </a:moveTo>
                <a:lnTo>
                  <a:pt x="132206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837807" y="1368552"/>
            <a:ext cx="0" cy="4694682"/>
          </a:xfrm>
          <a:custGeom>
            <a:avLst/>
            <a:gdLst/>
            <a:ahLst/>
            <a:cxnLst/>
            <a:rect l="l" t="t" r="r" b="b"/>
            <a:pathLst>
              <a:path h="4694682">
                <a:moveTo>
                  <a:pt x="0" y="0"/>
                </a:moveTo>
                <a:lnTo>
                  <a:pt x="0" y="4694682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6542" y="30099"/>
            <a:ext cx="6718554" cy="0"/>
          </a:xfrm>
          <a:custGeom>
            <a:avLst/>
            <a:gdLst/>
            <a:ahLst/>
            <a:cxnLst/>
            <a:rect l="l" t="t" r="r" b="b"/>
            <a:pathLst>
              <a:path w="6718554">
                <a:moveTo>
                  <a:pt x="0" y="0"/>
                </a:moveTo>
                <a:lnTo>
                  <a:pt x="671855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16902" y="30099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0639" y="16001"/>
            <a:ext cx="0" cy="10027158"/>
          </a:xfrm>
          <a:custGeom>
            <a:avLst/>
            <a:gdLst/>
            <a:ahLst/>
            <a:cxnLst/>
            <a:rect l="l" t="t" r="r" b="b"/>
            <a:pathLst>
              <a:path h="10027158">
                <a:moveTo>
                  <a:pt x="0" y="0"/>
                </a:moveTo>
                <a:lnTo>
                  <a:pt x="0" y="10027158"/>
                </a:lnTo>
              </a:path>
            </a:pathLst>
          </a:custGeom>
          <a:ln w="2946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245096" y="44196"/>
            <a:ext cx="0" cy="9970770"/>
          </a:xfrm>
          <a:custGeom>
            <a:avLst/>
            <a:gdLst/>
            <a:ahLst/>
            <a:cxnLst/>
            <a:rect l="l" t="t" r="r" b="b"/>
            <a:pathLst>
              <a:path h="9970770">
                <a:moveTo>
                  <a:pt x="0" y="0"/>
                </a:moveTo>
                <a:lnTo>
                  <a:pt x="0" y="9970770"/>
                </a:lnTo>
              </a:path>
            </a:pathLst>
          </a:custGeom>
          <a:ln w="5765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6542" y="10029063"/>
            <a:ext cx="6690359" cy="0"/>
          </a:xfrm>
          <a:custGeom>
            <a:avLst/>
            <a:gdLst/>
            <a:ahLst/>
            <a:cxnLst/>
            <a:rect l="l" t="t" r="r" b="b"/>
            <a:pathLst>
              <a:path w="6690359">
                <a:moveTo>
                  <a:pt x="0" y="0"/>
                </a:moveTo>
                <a:lnTo>
                  <a:pt x="6690359" y="0"/>
                </a:lnTo>
              </a:path>
            </a:pathLst>
          </a:custGeom>
          <a:ln w="2946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54736" y="10050589"/>
            <a:ext cx="6662166" cy="0"/>
          </a:xfrm>
          <a:custGeom>
            <a:avLst/>
            <a:gdLst/>
            <a:ahLst/>
            <a:cxnLst/>
            <a:rect l="l" t="t" r="r" b="b"/>
            <a:pathLst>
              <a:path w="6662166">
                <a:moveTo>
                  <a:pt x="0" y="0"/>
                </a:moveTo>
                <a:lnTo>
                  <a:pt x="6662166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45096" y="10036492"/>
            <a:ext cx="28194" cy="0"/>
          </a:xfrm>
          <a:custGeom>
            <a:avLst/>
            <a:gdLst/>
            <a:ahLst/>
            <a:cxnLst/>
            <a:rect l="l" t="t" r="r" b="b"/>
            <a:pathLst>
              <a:path w="28194">
                <a:moveTo>
                  <a:pt x="0" y="0"/>
                </a:moveTo>
                <a:lnTo>
                  <a:pt x="28194" y="0"/>
                </a:lnTo>
              </a:path>
            </a:pathLst>
          </a:custGeom>
          <a:ln w="443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216902" y="10050589"/>
            <a:ext cx="56388" cy="0"/>
          </a:xfrm>
          <a:custGeom>
            <a:avLst/>
            <a:gdLst/>
            <a:ahLst/>
            <a:cxnLst/>
            <a:rect l="l" t="t" r="r" b="b"/>
            <a:pathLst>
              <a:path w="56388">
                <a:moveTo>
                  <a:pt x="0" y="0"/>
                </a:moveTo>
                <a:lnTo>
                  <a:pt x="56388" y="0"/>
                </a:lnTo>
              </a:path>
            </a:pathLst>
          </a:custGeom>
          <a:ln w="1612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16902" y="10014331"/>
            <a:ext cx="28194" cy="29464"/>
          </a:xfrm>
          <a:custGeom>
            <a:avLst/>
            <a:gdLst/>
            <a:ahLst/>
            <a:cxnLst/>
            <a:rect l="l" t="t" r="r" b="b"/>
            <a:pathLst>
              <a:path w="28194" h="29464">
                <a:moveTo>
                  <a:pt x="0" y="29464"/>
                </a:moveTo>
                <a:lnTo>
                  <a:pt x="28194" y="29464"/>
                </a:lnTo>
                <a:lnTo>
                  <a:pt x="28194" y="0"/>
                </a:lnTo>
                <a:lnTo>
                  <a:pt x="0" y="0"/>
                </a:lnTo>
                <a:lnTo>
                  <a:pt x="0" y="29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33069" y="1382648"/>
            <a:ext cx="1188339" cy="18680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2121408" y="1382648"/>
            <a:ext cx="1584960" cy="12012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3706368" y="1382648"/>
            <a:ext cx="791717" cy="12012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4498086" y="1382648"/>
            <a:ext cx="1008126" cy="12012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5506212" y="1382648"/>
            <a:ext cx="1331595" cy="12012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2121408" y="2583942"/>
            <a:ext cx="1584960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3706368" y="2583942"/>
            <a:ext cx="791717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4498086" y="2583942"/>
            <a:ext cx="1008126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5506212" y="2583942"/>
            <a:ext cx="1331595" cy="666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933069" y="3250692"/>
            <a:ext cx="1188339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2121408" y="3250692"/>
            <a:ext cx="1584960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3706368" y="3250692"/>
            <a:ext cx="791717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4498086" y="3250692"/>
            <a:ext cx="1008126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5506212" y="3250692"/>
            <a:ext cx="1331595" cy="1192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933069" y="4443222"/>
            <a:ext cx="1188339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6" name="object 16"/>
          <p:cNvSpPr txBox="1"/>
          <p:nvPr/>
        </p:nvSpPr>
        <p:spPr>
          <a:xfrm>
            <a:off x="2121408" y="4443222"/>
            <a:ext cx="1584960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3706368" y="4443222"/>
            <a:ext cx="791717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4498086" y="4443222"/>
            <a:ext cx="1008126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5506212" y="4443222"/>
            <a:ext cx="1331595" cy="7985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933069" y="5241798"/>
            <a:ext cx="1188339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121408" y="5241798"/>
            <a:ext cx="1584960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3706368" y="5241798"/>
            <a:ext cx="791717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4498086" y="5241798"/>
            <a:ext cx="1008126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5506212" y="5241798"/>
            <a:ext cx="1331595" cy="807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933069" y="624458"/>
            <a:ext cx="1188339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121408" y="624458"/>
            <a:ext cx="1584960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706368" y="624458"/>
            <a:ext cx="791717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498086" y="624458"/>
            <a:ext cx="1008126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5506212" y="624458"/>
            <a:ext cx="1331595" cy="553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0639" y="30098"/>
            <a:ext cx="6704457" cy="100062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0"/>
              </a:lnSpc>
              <a:spcBef>
                <a:spcPts val="13"/>
              </a:spcBef>
            </a:pPr>
            <a:endParaRPr sz="850"/>
          </a:p>
          <a:p>
            <a:pPr marL="1574388" marR="1589536" indent="0" algn="ctr">
              <a:lnSpc>
                <a:spcPct val="96495"/>
              </a:lnSpc>
            </a:pPr>
            <a:r>
              <a:rPr sz="1000" b="1" spc="0" dirty="0" smtClean="0">
                <a:latin typeface="Times New Roman"/>
                <a:cs typeface="Times New Roman"/>
              </a:rPr>
              <a:t>MI</a:t>
            </a:r>
            <a:r>
              <a:rPr sz="1000" b="1" spc="-4" dirty="0" smtClean="0">
                <a:latin typeface="Times New Roman"/>
                <a:cs typeface="Times New Roman"/>
              </a:rPr>
              <a:t>NISTER</a:t>
            </a:r>
            <a:r>
              <a:rPr sz="1000" b="1" spc="0" dirty="0" smtClean="0">
                <a:latin typeface="Times New Roman"/>
                <a:cs typeface="Times New Roman"/>
              </a:rPr>
              <a:t>UL </a:t>
            </a:r>
            <a:r>
              <a:rPr sz="1000" b="1" spc="-4" dirty="0" smtClean="0">
                <a:latin typeface="Times New Roman"/>
                <a:cs typeface="Times New Roman"/>
              </a:rPr>
              <a:t>E</a:t>
            </a:r>
            <a:r>
              <a:rPr sz="1000" b="1" spc="0" dirty="0" smtClean="0">
                <a:latin typeface="Times New Roman"/>
                <a:cs typeface="Times New Roman"/>
              </a:rPr>
              <a:t>D</a:t>
            </a:r>
            <a:r>
              <a:rPr sz="1000" b="1" spc="-4" dirty="0" smtClean="0">
                <a:latin typeface="Times New Roman"/>
                <a:cs typeface="Times New Roman"/>
              </a:rPr>
              <a:t>U</a:t>
            </a:r>
            <a:r>
              <a:rPr sz="1000" b="1" spc="0" dirty="0" smtClean="0">
                <a:latin typeface="Times New Roman"/>
                <a:cs typeface="Times New Roman"/>
              </a:rPr>
              <a:t>C</a:t>
            </a:r>
            <a:r>
              <a:rPr sz="1000" b="1" spc="9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ŢIE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,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CERCET</a:t>
            </a:r>
            <a:r>
              <a:rPr sz="1000" b="1" spc="4" dirty="0" smtClean="0">
                <a:latin typeface="Times New Roman"/>
                <a:cs typeface="Times New Roman"/>
              </a:rPr>
              <a:t>Ă</a:t>
            </a:r>
            <a:r>
              <a:rPr sz="1000" b="1" spc="0" dirty="0" smtClean="0">
                <a:latin typeface="Times New Roman"/>
                <a:cs typeface="Times New Roman"/>
              </a:rPr>
              <a:t>RII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ŞI T</a:t>
            </a:r>
            <a:r>
              <a:rPr sz="1000" b="1" spc="-4" dirty="0" smtClean="0">
                <a:latin typeface="Times New Roman"/>
                <a:cs typeface="Times New Roman"/>
              </a:rPr>
              <a:t>I</a:t>
            </a:r>
            <a:r>
              <a:rPr sz="1000" b="1" spc="0" dirty="0" smtClean="0">
                <a:latin typeface="Times New Roman"/>
                <a:cs typeface="Times New Roman"/>
              </a:rPr>
              <a:t>NERE</a:t>
            </a:r>
            <a:r>
              <a:rPr sz="1000" b="1" spc="-9" dirty="0" smtClean="0">
                <a:latin typeface="Times New Roman"/>
                <a:cs typeface="Times New Roman"/>
              </a:rPr>
              <a:t>T</a:t>
            </a:r>
            <a:r>
              <a:rPr sz="1000" b="1" spc="0" dirty="0" smtClean="0">
                <a:latin typeface="Times New Roman"/>
                <a:cs typeface="Times New Roman"/>
              </a:rPr>
              <a:t>ULUI R</a:t>
            </a:r>
            <a:r>
              <a:rPr sz="1000" b="1" spc="-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p</a:t>
            </a:r>
            <a:r>
              <a:rPr sz="1000" b="1" spc="4" dirty="0" smtClean="0">
                <a:latin typeface="Times New Roman"/>
                <a:cs typeface="Times New Roman"/>
              </a:rPr>
              <a:t>o</a:t>
            </a:r>
            <a:r>
              <a:rPr sz="1000" b="1" spc="0" dirty="0" smtClean="0">
                <a:latin typeface="Times New Roman"/>
                <a:cs typeface="Times New Roman"/>
              </a:rPr>
              <a:t>rt</a:t>
            </a:r>
            <a:r>
              <a:rPr sz="1000" b="1" spc="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de e</a:t>
            </a:r>
            <a:r>
              <a:rPr sz="1000" b="1" spc="4" dirty="0" smtClean="0">
                <a:latin typeface="Times New Roman"/>
                <a:cs typeface="Times New Roman"/>
              </a:rPr>
              <a:t>va</a:t>
            </a:r>
            <a:r>
              <a:rPr sz="1000" b="1" spc="0" dirty="0" smtClean="0">
                <a:latin typeface="Times New Roman"/>
                <a:cs typeface="Times New Roman"/>
              </a:rPr>
              <a:t>lu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re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0" dirty="0" smtClean="0">
                <a:latin typeface="Times New Roman"/>
                <a:cs typeface="Times New Roman"/>
              </a:rPr>
              <a:t>pe</a:t>
            </a:r>
            <a:r>
              <a:rPr sz="1000" b="1" spc="-4" dirty="0" smtClean="0">
                <a:latin typeface="Times New Roman"/>
                <a:cs typeface="Times New Roman"/>
              </a:rPr>
              <a:t> </a:t>
            </a:r>
            <a:r>
              <a:rPr sz="1000" b="1" spc="4" dirty="0" smtClean="0">
                <a:latin typeface="Times New Roman"/>
                <a:cs typeface="Times New Roman"/>
              </a:rPr>
              <a:t>a</a:t>
            </a:r>
            <a:r>
              <a:rPr sz="1000" b="1" spc="0" dirty="0" smtClean="0">
                <a:latin typeface="Times New Roman"/>
                <a:cs typeface="Times New Roman"/>
              </a:rPr>
              <a:t>nul 2002</a:t>
            </a:r>
            <a:endParaRPr sz="1000">
              <a:latin typeface="Times New Roman"/>
              <a:cs typeface="Times New Roman"/>
            </a:endParaRPr>
          </a:p>
          <a:p>
            <a:pPr marL="523113">
              <a:lnSpc>
                <a:spcPct val="95825"/>
              </a:lnSpc>
              <a:spcBef>
                <a:spcPts val="161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C CERITEX</a:t>
            </a:r>
            <a:r>
              <a:rPr sz="900" b="1" spc="9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S</a:t>
            </a:r>
            <a:r>
              <a:rPr sz="900" b="1" spc="4" dirty="0" smtClean="0">
                <a:latin typeface="Times New Roman"/>
                <a:cs typeface="Times New Roman"/>
              </a:rPr>
              <a:t>.</a:t>
            </a:r>
            <a:r>
              <a:rPr sz="900" b="1" spc="0" dirty="0" smtClean="0">
                <a:latin typeface="Times New Roman"/>
                <a:cs typeface="Times New Roman"/>
              </a:rPr>
              <a:t>A    </a:t>
            </a:r>
            <a:r>
              <a:rPr sz="900" b="1" spc="1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Real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de inst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 de iri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at  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5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produse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Unit</a:t>
            </a:r>
            <a:r>
              <a:rPr sz="900" spc="4" dirty="0" smtClean="0">
                <a:latin typeface="Times New Roman"/>
                <a:cs typeface="Times New Roman"/>
              </a:rPr>
              <a:t>ăţ</a:t>
            </a:r>
            <a:r>
              <a:rPr sz="900" spc="0" dirty="0" smtClean="0">
                <a:latin typeface="Times New Roman"/>
                <a:cs typeface="Times New Roman"/>
              </a:rPr>
              <a:t>i ag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ico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e     </a:t>
            </a:r>
            <a:r>
              <a:rPr sz="900" spc="8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4032134" marR="502384" indent="-3282707">
              <a:lnSpc>
                <a:spcPts val="1010"/>
              </a:lnSpc>
              <a:spcBef>
                <a:spcPts val="85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BRAŞOV         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tambur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furtu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.                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dota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cu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siste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    </a:t>
            </a:r>
            <a:r>
              <a:rPr sz="900" spc="2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le cu c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a. 30</a:t>
            </a:r>
            <a:r>
              <a:rPr sz="900" spc="-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..40</a:t>
            </a:r>
            <a:r>
              <a:rPr sz="900" spc="-4" dirty="0" smtClean="0">
                <a:latin typeface="Times New Roman"/>
                <a:cs typeface="Times New Roman"/>
              </a:rPr>
              <a:t>%</a:t>
            </a:r>
            <a:r>
              <a:rPr sz="900" spc="0" dirty="0" smtClean="0">
                <a:latin typeface="Times New Roman"/>
                <a:cs typeface="Times New Roman"/>
              </a:rPr>
              <a:t>. 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pompare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endParaRPr sz="900">
              <a:latin typeface="Times New Roman"/>
              <a:cs typeface="Times New Roman"/>
            </a:endParaRPr>
          </a:p>
          <a:p>
            <a:pPr marL="4286702" marR="2069644" algn="ctr">
              <a:lnSpc>
                <a:spcPts val="1030"/>
              </a:lnSpc>
              <a:spcBef>
                <a:spcPts val="1"/>
              </a:spcBef>
            </a:pPr>
            <a:r>
              <a:rPr sz="900" spc="0" dirty="0" smtClean="0">
                <a:latin typeface="Times New Roman"/>
                <a:cs typeface="Times New Roman"/>
              </a:rPr>
              <a:t>iriga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ii</a:t>
            </a:r>
            <a:endParaRPr sz="900">
              <a:latin typeface="Times New Roman"/>
              <a:cs typeface="Times New Roman"/>
            </a:endParaRPr>
          </a:p>
          <a:p>
            <a:pPr marL="708279">
              <a:lnSpc>
                <a:spcPct val="95825"/>
              </a:lnSpc>
              <a:spcBef>
                <a:spcPts val="1793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CENTRUL           </a:t>
            </a:r>
            <a:r>
              <a:rPr sz="900" b="1" spc="5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 aera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 -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obil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zare           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t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GRIG IMPEX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modernizat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</a:t>
            </a:r>
            <a:endParaRPr sz="900">
              <a:latin typeface="Times New Roman"/>
              <a:cs typeface="Times New Roman"/>
            </a:endParaRPr>
          </a:p>
          <a:p>
            <a:pPr marL="520061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E,    </a:t>
            </a:r>
            <a:r>
              <a:rPr sz="900" b="1" spc="16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sedimente                                                                    </a:t>
            </a:r>
            <a:r>
              <a:rPr sz="900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94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GAL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nivelul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normelor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606163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PROIECTARE                                                                                                 </a:t>
            </a:r>
            <a:r>
              <a:rPr sz="900" b="1" spc="1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TARA</a:t>
            </a:r>
            <a:endParaRPr sz="900">
              <a:latin typeface="Times New Roman"/>
              <a:cs typeface="Times New Roman"/>
            </a:endParaRPr>
          </a:p>
          <a:p>
            <a:pPr marL="752467">
              <a:lnSpc>
                <a:spcPts val="1030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                                                                                       </a:t>
            </a:r>
            <a:r>
              <a:rPr sz="900" b="1" spc="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TRADING SRL</a:t>
            </a:r>
            <a:endParaRPr sz="900">
              <a:latin typeface="Times New Roman"/>
              <a:cs typeface="Times New Roman"/>
            </a:endParaRPr>
          </a:p>
          <a:p>
            <a:pPr marL="537583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PISCICULTURA,                                                                                                </a:t>
            </a:r>
            <a:r>
              <a:rPr sz="900" b="1" spc="21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GALA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I.</a:t>
            </a:r>
            <a:endParaRPr sz="900">
              <a:latin typeface="Times New Roman"/>
              <a:cs typeface="Times New Roman"/>
            </a:endParaRPr>
          </a:p>
          <a:p>
            <a:pPr marL="686939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PESCUIT şi</a:t>
            </a:r>
            <a:endParaRPr sz="900">
              <a:latin typeface="Times New Roman"/>
              <a:cs typeface="Times New Roman"/>
            </a:endParaRPr>
          </a:p>
          <a:p>
            <a:pPr marL="418763" marR="5187215" algn="ctr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IND</a:t>
            </a:r>
            <a:r>
              <a:rPr sz="900" b="1" spc="4" dirty="0" smtClean="0">
                <a:latin typeface="Times New Roman"/>
                <a:cs typeface="Times New Roman"/>
              </a:rPr>
              <a:t>U</a:t>
            </a:r>
            <a:r>
              <a:rPr sz="900" b="1" spc="0" dirty="0" smtClean="0">
                <a:latin typeface="Times New Roman"/>
                <a:cs typeface="Times New Roman"/>
              </a:rPr>
              <a:t>STR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ALIZ</a:t>
            </a:r>
            <a:r>
              <a:rPr sz="900" b="1" spc="4" dirty="0" smtClean="0">
                <a:latin typeface="Times New Roman"/>
                <a:cs typeface="Times New Roman"/>
              </a:rPr>
              <a:t>A</a:t>
            </a:r>
            <a:r>
              <a:rPr sz="900" b="1" spc="0" dirty="0" smtClean="0">
                <a:latin typeface="Times New Roman"/>
                <a:cs typeface="Times New Roman"/>
              </a:rPr>
              <a:t>RE 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PEŞTELUI GALAŢI</a:t>
            </a:r>
            <a:endParaRPr sz="900">
              <a:latin typeface="Times New Roman"/>
              <a:cs typeface="Times New Roman"/>
            </a:endParaRPr>
          </a:p>
          <a:p>
            <a:pPr marL="1616583" marR="483176">
              <a:lnSpc>
                <a:spcPts val="1030"/>
              </a:lnSpc>
              <a:spcBef>
                <a:spcPts val="121"/>
              </a:spcBef>
            </a:pP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ntru contr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lul               </a:t>
            </a:r>
            <a:r>
              <a:rPr sz="900" spc="13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Proi</a:t>
            </a:r>
            <a:r>
              <a:rPr sz="900" spc="4" dirty="0" smtClean="0">
                <a:latin typeface="Times New Roman"/>
                <a:cs typeface="Times New Roman"/>
              </a:rPr>
              <a:t>ec</a:t>
            </a:r>
            <a:r>
              <a:rPr sz="900" spc="0" dirty="0" smtClean="0">
                <a:latin typeface="Times New Roman"/>
                <a:cs typeface="Times New Roman"/>
              </a:rPr>
              <a:t>t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</a:t>
            </a:r>
            <a:r>
              <a:rPr sz="900" spc="4" dirty="0" smtClean="0">
                <a:latin typeface="Times New Roman"/>
                <a:cs typeface="Times New Roman"/>
              </a:rPr>
              <a:t>.</a:t>
            </a:r>
            <a:r>
              <a:rPr sz="900" spc="0" dirty="0" smtClean="0">
                <a:latin typeface="Times New Roman"/>
                <a:cs typeface="Times New Roman"/>
              </a:rPr>
              <a:t>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GRIG IMPEX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Echi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ment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modernizat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la dezvolt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get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i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</a:t>
            </a:r>
            <a:r>
              <a:rPr sz="900" spc="13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94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SRL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GAL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nivelul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normelor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9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endParaRPr sz="900">
              <a:latin typeface="Times New Roman"/>
              <a:cs typeface="Times New Roman"/>
            </a:endParaRPr>
          </a:p>
          <a:p>
            <a:pPr marL="4074839" marR="1858461" indent="1118" algn="ctr">
              <a:lnSpc>
                <a:spcPts val="1030"/>
              </a:lnSpc>
              <a:spcBef>
                <a:spcPts val="4"/>
              </a:spcBef>
            </a:pPr>
            <a:r>
              <a:rPr sz="900" spc="0" dirty="0" smtClean="0">
                <a:latin typeface="Times New Roman"/>
                <a:cs typeface="Times New Roman"/>
              </a:rPr>
              <a:t>S.C.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TARA TRADING SRL</a:t>
            </a:r>
            <a:endParaRPr sz="900">
              <a:latin typeface="Times New Roman"/>
              <a:cs typeface="Times New Roman"/>
            </a:endParaRPr>
          </a:p>
          <a:p>
            <a:pPr marL="4227250" marR="2009509" algn="ctr">
              <a:lnSpc>
                <a:spcPts val="1025"/>
              </a:lnSpc>
            </a:pPr>
            <a:r>
              <a:rPr sz="900" spc="0" dirty="0" smtClean="0">
                <a:latin typeface="Times New Roman"/>
                <a:cs typeface="Times New Roman"/>
              </a:rPr>
              <a:t>GALA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3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Crear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ei ofer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e agroturis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         </a:t>
            </a:r>
            <a:r>
              <a:rPr sz="900" spc="3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       </a:t>
            </a:r>
            <a:r>
              <a:rPr sz="900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Ministrul          </a:t>
            </a:r>
            <a:r>
              <a:rPr sz="900" spc="10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Bază pen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rea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</a:t>
            </a:r>
            <a:endParaRPr sz="900">
              <a:latin typeface="Times New Roman"/>
              <a:cs typeface="Times New Roman"/>
            </a:endParaRPr>
          </a:p>
          <a:p>
            <a:pPr marL="679326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NAŢIONAL          </a:t>
            </a:r>
            <a:r>
              <a:rPr sz="900" b="1" spc="6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româneşti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ti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a                                        </a:t>
            </a:r>
            <a:r>
              <a:rPr sz="900" spc="9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Turismului      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strate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iei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</a:t>
            </a:r>
            <a:endParaRPr sz="900">
              <a:latin typeface="Times New Roman"/>
              <a:cs typeface="Times New Roman"/>
            </a:endParaRPr>
          </a:p>
          <a:p>
            <a:pPr marL="491874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–   </a:t>
            </a:r>
            <a:r>
              <a:rPr sz="900" b="1" spc="15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inter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in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rn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iona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in                                                                        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ismului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rural</a:t>
            </a:r>
            <a:endParaRPr sz="900">
              <a:latin typeface="Times New Roman"/>
              <a:cs typeface="Times New Roman"/>
            </a:endParaRPr>
          </a:p>
          <a:p>
            <a:pPr marL="58712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</a:t>
            </a:r>
            <a:r>
              <a:rPr sz="900" spc="-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tar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iilor turis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                                                                  </a:t>
            </a:r>
            <a:r>
              <a:rPr sz="900" spc="20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agrotu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is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ului</a:t>
            </a:r>
            <a:endParaRPr sz="900">
              <a:latin typeface="Times New Roman"/>
              <a:cs typeface="Times New Roman"/>
            </a:endParaRPr>
          </a:p>
          <a:p>
            <a:pPr marL="1616586" marR="3610567" indent="-935739">
              <a:lnSpc>
                <a:spcPct val="95441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ÎN TUR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SM          </a:t>
            </a:r>
            <a:r>
              <a:rPr sz="900" b="1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 agre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nt spe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ifi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e condi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ilor natur</a:t>
            </a:r>
            <a:r>
              <a:rPr sz="900" spc="-4" dirty="0" smtClean="0">
                <a:latin typeface="Times New Roman"/>
                <a:cs typeface="Times New Roman"/>
              </a:rPr>
              <a:t>al</a:t>
            </a:r>
            <a:r>
              <a:rPr sz="900" spc="0" dirty="0" smtClean="0">
                <a:latin typeface="Times New Roman"/>
                <a:cs typeface="Times New Roman"/>
              </a:rPr>
              <a:t>e ale spa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iului rural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(munte, d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al, c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mpi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, litor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l, d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)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 zonel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r etnogra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ice</a:t>
            </a:r>
            <a:endParaRPr sz="900">
              <a:latin typeface="Times New Roman"/>
              <a:cs typeface="Times New Roman"/>
            </a:endParaRPr>
          </a:p>
          <a:p>
            <a:pPr marL="510920">
              <a:lnSpc>
                <a:spcPct val="95825"/>
              </a:lnSpc>
              <a:spcBef>
                <a:spcPts val="90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UNIV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RS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TATEA    </a:t>
            </a:r>
            <a:r>
              <a:rPr sz="900" b="1" spc="8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Identi</a:t>
            </a:r>
            <a:r>
              <a:rPr sz="900" spc="-4" dirty="0" smtClean="0">
                <a:latin typeface="Times New Roman"/>
                <a:cs typeface="Times New Roman"/>
              </a:rPr>
              <a:t>f</a:t>
            </a:r>
            <a:r>
              <a:rPr sz="900" spc="0" dirty="0" smtClean="0">
                <a:latin typeface="Times New Roman"/>
                <a:cs typeface="Times New Roman"/>
              </a:rPr>
              <a:t>ica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,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ova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ea şi       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          </a:t>
            </a:r>
            <a:r>
              <a:rPr sz="900" spc="79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P</a:t>
            </a:r>
            <a:r>
              <a:rPr sz="900" spc="0" dirty="0" smtClean="0">
                <a:latin typeface="Times New Roman"/>
                <a:cs typeface="Times New Roman"/>
              </a:rPr>
              <a:t>opul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din</a:t>
            </a:r>
            <a:r>
              <a:rPr sz="900" spc="-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zo</a:t>
            </a:r>
            <a:r>
              <a:rPr sz="900" spc="-9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ă   </a:t>
            </a:r>
            <a:r>
              <a:rPr sz="900" spc="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şterea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nu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rul</a:t>
            </a:r>
            <a:r>
              <a:rPr sz="900" spc="-4" dirty="0" smtClean="0">
                <a:latin typeface="Times New Roman"/>
                <a:cs typeface="Times New Roman"/>
              </a:rPr>
              <a:t>u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  <a:p>
            <a:pPr marL="51092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LUCIAN BLAGA</a:t>
            </a:r>
            <a:r>
              <a:rPr sz="900" b="1" spc="4" dirty="0" smtClean="0">
                <a:latin typeface="Times New Roman"/>
                <a:cs typeface="Times New Roman"/>
              </a:rPr>
              <a:t> </a:t>
            </a:r>
            <a:r>
              <a:rPr sz="900" b="1" spc="0" dirty="0" smtClean="0">
                <a:latin typeface="Times New Roman"/>
                <a:cs typeface="Times New Roman"/>
              </a:rPr>
              <a:t>-    </a:t>
            </a:r>
            <a:r>
              <a:rPr sz="900" b="1" spc="7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dezvoltarea agrotu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ismului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                                             </a:t>
            </a:r>
            <a:r>
              <a:rPr sz="900" spc="10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turişt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         </a:t>
            </a:r>
            <a:r>
              <a:rPr sz="900" spc="19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unit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ilor agroturi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–</a:t>
            </a:r>
            <a:endParaRPr sz="900">
              <a:latin typeface="Times New Roman"/>
              <a:cs typeface="Times New Roman"/>
            </a:endParaRPr>
          </a:p>
          <a:p>
            <a:pPr marL="1616613" marR="565664" indent="-784886">
              <a:lnSpc>
                <a:spcPts val="1010"/>
              </a:lnSpc>
              <a:spcBef>
                <a:spcPts val="34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SIB</a:t>
            </a:r>
            <a:r>
              <a:rPr sz="900" b="1" spc="4" dirty="0" smtClean="0">
                <a:latin typeface="Times New Roman"/>
                <a:cs typeface="Times New Roman"/>
              </a:rPr>
              <a:t>I</a:t>
            </a:r>
            <a:r>
              <a:rPr sz="900" b="1" spc="0" dirty="0" smtClean="0">
                <a:latin typeface="Times New Roman"/>
                <a:cs typeface="Times New Roman"/>
              </a:rPr>
              <a:t>U               </a:t>
            </a:r>
            <a:r>
              <a:rPr sz="900" b="1" spc="13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componentă 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ezv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ii                                             </a:t>
            </a:r>
            <a:r>
              <a:rPr sz="900" spc="10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prin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</a:t>
            </a:r>
            <a:r>
              <a:rPr sz="900" spc="6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factor economic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e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 sp</a:t>
            </a:r>
            <a:r>
              <a:rPr sz="900" spc="4" dirty="0" smtClean="0">
                <a:latin typeface="Times New Roman"/>
                <a:cs typeface="Times New Roman"/>
              </a:rPr>
              <a:t>aţ</a:t>
            </a:r>
            <a:r>
              <a:rPr sz="900" spc="0" dirty="0" smtClean="0">
                <a:latin typeface="Times New Roman"/>
                <a:cs typeface="Times New Roman"/>
              </a:rPr>
              <a:t>iului rur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â</a:t>
            </a:r>
            <a:r>
              <a:rPr sz="900" spc="0" dirty="0" smtClean="0">
                <a:latin typeface="Times New Roman"/>
                <a:cs typeface="Times New Roman"/>
              </a:rPr>
              <a:t>ne</a:t>
            </a:r>
            <a:r>
              <a:rPr sz="900" spc="-9" dirty="0" smtClean="0">
                <a:latin typeface="Times New Roman"/>
                <a:cs typeface="Times New Roman"/>
              </a:rPr>
              <a:t>s</a:t>
            </a:r>
            <a:r>
              <a:rPr sz="900" spc="0" dirty="0" smtClean="0">
                <a:latin typeface="Times New Roman"/>
                <a:cs typeface="Times New Roman"/>
              </a:rPr>
              <a:t>c                                                   </a:t>
            </a:r>
            <a:r>
              <a:rPr sz="900" spc="4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co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0" dirty="0" smtClean="0">
                <a:latin typeface="Times New Roman"/>
                <a:cs typeface="Times New Roman"/>
              </a:rPr>
              <a:t>ului         </a:t>
            </a:r>
            <a:r>
              <a:rPr sz="900" spc="5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pentru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giunile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rurale</a:t>
            </a:r>
            <a:endParaRPr sz="900">
              <a:latin typeface="Times New Roman"/>
              <a:cs typeface="Times New Roman"/>
            </a:endParaRPr>
          </a:p>
          <a:p>
            <a:pPr marL="4324003" marR="688611" indent="-186697">
              <a:lnSpc>
                <a:spcPts val="1030"/>
              </a:lnSpc>
              <a:spcBef>
                <a:spcPts val="10"/>
              </a:spcBef>
            </a:pP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ser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0" dirty="0" smtClean="0">
                <a:latin typeface="Times New Roman"/>
                <a:cs typeface="Times New Roman"/>
              </a:rPr>
              <a:t>iilor      </a:t>
            </a:r>
            <a:r>
              <a:rPr sz="900" spc="12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o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lt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rna</a:t>
            </a:r>
            <a:r>
              <a:rPr sz="900" spc="-4" dirty="0" smtClean="0">
                <a:latin typeface="Times New Roman"/>
                <a:cs typeface="Times New Roman"/>
              </a:rPr>
              <a:t>t</a:t>
            </a:r>
            <a:r>
              <a:rPr sz="900" spc="0" dirty="0" smtClean="0">
                <a:latin typeface="Times New Roman"/>
                <a:cs typeface="Times New Roman"/>
              </a:rPr>
              <a:t>ivă pentru loc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le             </a:t>
            </a:r>
            <a:r>
              <a:rPr sz="900" spc="29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produc</a:t>
            </a:r>
            <a:r>
              <a:rPr sz="900" spc="4" dirty="0" smtClean="0">
                <a:latin typeface="Times New Roman"/>
                <a:cs typeface="Times New Roman"/>
              </a:rPr>
              <a:t>ţ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-4" dirty="0" smtClean="0">
                <a:latin typeface="Times New Roman"/>
                <a:cs typeface="Times New Roman"/>
              </a:rPr>
              <a:t>g</a:t>
            </a:r>
            <a:r>
              <a:rPr sz="900" spc="0" dirty="0" smtClean="0">
                <a:latin typeface="Times New Roman"/>
                <a:cs typeface="Times New Roman"/>
              </a:rPr>
              <a:t>ric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lă</a:t>
            </a:r>
            <a:endParaRPr sz="900">
              <a:latin typeface="Times New Roman"/>
              <a:cs typeface="Times New Roman"/>
            </a:endParaRPr>
          </a:p>
          <a:p>
            <a:pPr marL="635126">
              <a:lnSpc>
                <a:spcPct val="95825"/>
              </a:lnSpc>
              <a:spcBef>
                <a:spcPts val="28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INS</a:t>
            </a:r>
            <a:r>
              <a:rPr sz="900" b="1" spc="4" dirty="0" smtClean="0">
                <a:latin typeface="Times New Roman"/>
                <a:cs typeface="Times New Roman"/>
              </a:rPr>
              <a:t>T</a:t>
            </a:r>
            <a:r>
              <a:rPr sz="900" b="1" spc="0" dirty="0" smtClean="0">
                <a:latin typeface="Times New Roman"/>
                <a:cs typeface="Times New Roman"/>
              </a:rPr>
              <a:t>ITUTUL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Cerce</a:t>
            </a:r>
            <a:r>
              <a:rPr sz="900" spc="4" dirty="0" smtClean="0">
                <a:latin typeface="Times New Roman"/>
                <a:cs typeface="Times New Roman"/>
              </a:rPr>
              <a:t>tă</a:t>
            </a:r>
            <a:r>
              <a:rPr sz="900" spc="0" dirty="0" smtClean="0">
                <a:latin typeface="Times New Roman"/>
                <a:cs typeface="Times New Roman"/>
              </a:rPr>
              <a:t>ri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pri</a:t>
            </a:r>
            <a:r>
              <a:rPr sz="900" spc="-4" dirty="0" smtClean="0">
                <a:latin typeface="Times New Roman"/>
                <a:cs typeface="Times New Roman"/>
              </a:rPr>
              <a:t>v</a:t>
            </a:r>
            <a:r>
              <a:rPr sz="900" spc="0" dirty="0" smtClean="0">
                <a:latin typeface="Times New Roman"/>
                <a:cs typeface="Times New Roman"/>
              </a:rPr>
              <a:t>ind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fun</a:t>
            </a:r>
            <a:r>
              <a:rPr sz="900" spc="-4" dirty="0" smtClean="0">
                <a:latin typeface="Times New Roman"/>
                <a:cs typeface="Times New Roman"/>
              </a:rPr>
              <a:t>d</a:t>
            </a:r>
            <a:r>
              <a:rPr sz="900" spc="0" dirty="0" smtClean="0">
                <a:latin typeface="Times New Roman"/>
                <a:cs typeface="Times New Roman"/>
              </a:rPr>
              <a:t>amenta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a         </a:t>
            </a:r>
            <a:r>
              <a:rPr sz="900" spc="185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Studiu</a:t>
            </a:r>
            <a:endParaRPr sz="900">
              <a:latin typeface="Times New Roman"/>
              <a:cs typeface="Times New Roman"/>
            </a:endParaRPr>
          </a:p>
          <a:p>
            <a:pPr marL="534542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DE CERCETA</a:t>
            </a:r>
            <a:r>
              <a:rPr sz="900" b="1" spc="4" dirty="0" smtClean="0">
                <a:latin typeface="Times New Roman"/>
                <a:cs typeface="Times New Roman"/>
              </a:rPr>
              <a:t>R</a:t>
            </a:r>
            <a:r>
              <a:rPr sz="900" b="1" spc="0" dirty="0" smtClean="0">
                <a:latin typeface="Times New Roman"/>
                <a:cs typeface="Times New Roman"/>
              </a:rPr>
              <a:t>E     </a:t>
            </a:r>
            <a:r>
              <a:rPr sz="900" b="1" spc="5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polit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cilor de agr</a:t>
            </a:r>
            <a:r>
              <a:rPr sz="900" spc="-4" dirty="0" smtClean="0">
                <a:latin typeface="Times New Roman"/>
                <a:cs typeface="Times New Roman"/>
              </a:rPr>
              <a:t>o</a:t>
            </a:r>
            <a:r>
              <a:rPr sz="900" spc="0" dirty="0" smtClean="0">
                <a:latin typeface="Times New Roman"/>
                <a:cs typeface="Times New Roman"/>
              </a:rPr>
              <a:t>turism în</a:t>
            </a:r>
            <a:endParaRPr sz="900">
              <a:latin typeface="Times New Roman"/>
              <a:cs typeface="Times New Roman"/>
            </a:endParaRPr>
          </a:p>
          <a:p>
            <a:pPr marL="587120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D</a:t>
            </a:r>
            <a:r>
              <a:rPr sz="900" b="1" spc="4" dirty="0" smtClean="0">
                <a:latin typeface="Times New Roman"/>
                <a:cs typeface="Times New Roman"/>
              </a:rPr>
              <a:t>E</a:t>
            </a:r>
            <a:r>
              <a:rPr sz="900" b="1" spc="0" dirty="0" smtClean="0">
                <a:latin typeface="Times New Roman"/>
                <a:cs typeface="Times New Roman"/>
              </a:rPr>
              <a:t>ZVOLTARE       </a:t>
            </a:r>
            <a:r>
              <a:rPr sz="900" b="1" spc="1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românia şi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formarea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manage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ia</a:t>
            </a:r>
            <a:r>
              <a:rPr sz="900" spc="4" dirty="0" smtClean="0">
                <a:latin typeface="Times New Roman"/>
                <a:cs typeface="Times New Roman"/>
              </a:rPr>
              <a:t>l</a:t>
            </a:r>
            <a:r>
              <a:rPr sz="900" spc="0" dirty="0" smtClean="0">
                <a:latin typeface="Times New Roman"/>
                <a:cs typeface="Times New Roman"/>
              </a:rPr>
              <a:t>ă</a:t>
            </a:r>
            <a:endParaRPr sz="900">
              <a:latin typeface="Times New Roman"/>
              <a:cs typeface="Times New Roman"/>
            </a:endParaRPr>
          </a:p>
          <a:p>
            <a:pPr marL="752478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PENTRU            </a:t>
            </a:r>
            <a:r>
              <a:rPr sz="900" b="1" spc="18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c</a:t>
            </a:r>
            <a:r>
              <a:rPr sz="900" spc="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dr</a:t>
            </a:r>
            <a:r>
              <a:rPr sz="900" spc="-4" dirty="0" smtClean="0">
                <a:latin typeface="Times New Roman"/>
                <a:cs typeface="Times New Roman"/>
              </a:rPr>
              <a:t>e</a:t>
            </a:r>
            <a:r>
              <a:rPr sz="900" spc="0" dirty="0" smtClean="0">
                <a:latin typeface="Times New Roman"/>
                <a:cs typeface="Times New Roman"/>
              </a:rPr>
              <a:t>lor</a:t>
            </a:r>
            <a:r>
              <a:rPr sz="900" spc="4" dirty="0" smtClean="0">
                <a:latin typeface="Times New Roman"/>
                <a:cs typeface="Times New Roman"/>
              </a:rPr>
              <a:t> </a:t>
            </a:r>
            <a:r>
              <a:rPr sz="900" spc="-4" dirty="0" smtClean="0">
                <a:latin typeface="Times New Roman"/>
                <a:cs typeface="Times New Roman"/>
              </a:rPr>
              <a:t>n</a:t>
            </a:r>
            <a:r>
              <a:rPr sz="900" spc="0" dirty="0" smtClean="0">
                <a:latin typeface="Times New Roman"/>
                <a:cs typeface="Times New Roman"/>
              </a:rPr>
              <a:t>eces</a:t>
            </a:r>
            <a:r>
              <a:rPr sz="900" spc="-4" dirty="0" smtClean="0">
                <a:latin typeface="Times New Roman"/>
                <a:cs typeface="Times New Roman"/>
              </a:rPr>
              <a:t>a</a:t>
            </a:r>
            <a:r>
              <a:rPr sz="900" spc="0" dirty="0" smtClean="0">
                <a:latin typeface="Times New Roman"/>
                <a:cs typeface="Times New Roman"/>
              </a:rPr>
              <a:t>re</a:t>
            </a:r>
            <a:endParaRPr sz="900">
              <a:latin typeface="Times New Roman"/>
              <a:cs typeface="Times New Roman"/>
            </a:endParaRPr>
          </a:p>
          <a:p>
            <a:pPr marL="663324">
              <a:lnSpc>
                <a:spcPts val="1030"/>
              </a:lnSpc>
              <a:spcBef>
                <a:spcPts val="51"/>
              </a:spcBef>
            </a:pPr>
            <a:r>
              <a:rPr sz="900" b="1" spc="0" dirty="0" smtClean="0">
                <a:latin typeface="Times New Roman"/>
                <a:cs typeface="Times New Roman"/>
              </a:rPr>
              <a:t>ECONOMIE         </a:t>
            </a:r>
            <a:r>
              <a:rPr sz="900" b="1" spc="160" dirty="0" smtClean="0">
                <a:latin typeface="Times New Roman"/>
                <a:cs typeface="Times New Roman"/>
              </a:rPr>
              <a:t> </a:t>
            </a:r>
            <a:r>
              <a:rPr sz="900" spc="0" dirty="0" smtClean="0">
                <a:latin typeface="Times New Roman"/>
                <a:cs typeface="Times New Roman"/>
              </a:rPr>
              <a:t>i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ple</a:t>
            </a:r>
            <a:r>
              <a:rPr sz="900" spc="-4" dirty="0" smtClean="0">
                <a:latin typeface="Times New Roman"/>
                <a:cs typeface="Times New Roman"/>
              </a:rPr>
              <a:t>m</a:t>
            </a:r>
            <a:r>
              <a:rPr sz="900" spc="0" dirty="0" smtClean="0">
                <a:latin typeface="Times New Roman"/>
                <a:cs typeface="Times New Roman"/>
              </a:rPr>
              <a:t>ent</a:t>
            </a:r>
            <a:r>
              <a:rPr sz="900" spc="4" dirty="0" smtClean="0">
                <a:latin typeface="Times New Roman"/>
                <a:cs typeface="Times New Roman"/>
              </a:rPr>
              <a:t>ă</a:t>
            </a:r>
            <a:r>
              <a:rPr sz="900" spc="0" dirty="0" smtClean="0">
                <a:latin typeface="Times New Roman"/>
                <a:cs typeface="Times New Roman"/>
              </a:rPr>
              <a:t>r</a:t>
            </a:r>
            <a:r>
              <a:rPr sz="900" spc="-4" dirty="0" smtClean="0">
                <a:latin typeface="Times New Roman"/>
                <a:cs typeface="Times New Roman"/>
              </a:rPr>
              <a:t>i</a:t>
            </a:r>
            <a:r>
              <a:rPr sz="900" spc="0" dirty="0" smtClean="0">
                <a:latin typeface="Times New Roman"/>
                <a:cs typeface="Times New Roman"/>
              </a:rPr>
              <a:t>i acesto</a:t>
            </a:r>
            <a:r>
              <a:rPr sz="900" spc="-4" dirty="0" smtClean="0">
                <a:latin typeface="Times New Roman"/>
                <a:cs typeface="Times New Roman"/>
              </a:rPr>
              <a:t>r</a:t>
            </a:r>
            <a:r>
              <a:rPr sz="900" spc="0" dirty="0" smtClean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  <a:p>
            <a:pPr marL="736476">
              <a:lnSpc>
                <a:spcPct val="95825"/>
              </a:lnSpc>
            </a:pPr>
            <a:r>
              <a:rPr sz="900" b="1" spc="0" dirty="0" smtClean="0">
                <a:latin typeface="Times New Roman"/>
                <a:cs typeface="Times New Roman"/>
              </a:rPr>
              <a:t>AGRARA</a:t>
            </a:r>
            <a:endParaRPr sz="900">
              <a:latin typeface="Times New Roman"/>
              <a:cs typeface="Times New Roman"/>
            </a:endParaRPr>
          </a:p>
          <a:p>
            <a:pPr marR="389002" algn="r">
              <a:lnSpc>
                <a:spcPct val="95825"/>
              </a:lnSpc>
              <a:spcBef>
                <a:spcPts val="29189"/>
              </a:spcBef>
            </a:pPr>
            <a:r>
              <a:rPr sz="1000" spc="4" dirty="0" smtClean="0">
                <a:latin typeface="Times New Roman"/>
                <a:cs typeface="Times New Roman"/>
              </a:rPr>
              <a:t>1</a:t>
            </a:r>
            <a:r>
              <a:rPr sz="1000" spc="-4" dirty="0" smtClean="0">
                <a:latin typeface="Times New Roman"/>
                <a:cs typeface="Times New Roman"/>
              </a:rPr>
              <a:t>3</a:t>
            </a:r>
            <a:r>
              <a:rPr sz="1000" spc="0" dirty="0" smtClean="0"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4096</Words>
  <Application>Microsoft Office PowerPoint</Application>
  <PresentationFormat>Custom</PresentationFormat>
  <Paragraphs>835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</cp:revision>
  <dcterms:modified xsi:type="dcterms:W3CDTF">2017-01-24T15:08:24Z</dcterms:modified>
</cp:coreProperties>
</file>